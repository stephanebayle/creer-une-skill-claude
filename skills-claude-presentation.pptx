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avec les cartons de couleur posés devant vous,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le quiz : gardez vos cartons à portée de main.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durable de la skill.
TIMING — 1:15
Imaginez un classeur de fiches méthode posé à côté de Claude. Sur chaque fiche : un titre, une phrase qui dit quand s'en servir, puis la marche à suivre. Au début de chaque conversation, Claude ne lit que les titres et ces petites phrases. Ça ne lui coûte presque rien, donc vous pouvez avoir beaucoup de fiches. Quand vous demandez « fais-moi le compte rendu de cette réunion », il reconnaît la fiche qui correspond, la sort du classeur et suit la méthode. Les autres fiches restent fermées. C'est ce qui rend les skills efficaces : elles ne surchargent pas Claude, elles arrivent au bon moment. Et vous n'avez pas à y penser : c'est Claude qui va chercher la fiche.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propose de l'enregistrer. Cowork, c'est le mode où Claude travaille dans vos dossiers et produit de vrais fichiers. Petite actualité : Anthropic est en train de fusionner Chat et Cowork en un seul Claude. Selon votre offre, vous verrez encore deux onglets ou un seul (le déploiement a commencé pour Pro et Max, Team et Free suivront, et les administrateurs Enterprise sont prévenus à l'avance). Rien ne se perd : vos skills, projets et connecteurs suivent.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un bouton enregistre la skill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et la disponibilité dépend de votre offre (fusion en cours avec Chat).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Claude Code demande la permission avant de modifier un fichier ou de lancer une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Trois façons d'entrer en mode plan : les touches Maj + Tab, qui font défiler les modes ; commencer son message par /plan ; ou, dans l'application de bureau,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Voyons à quoi ça ressemble pour créer une vraie skill.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parcours complet dans Claude Code, du dossier à la skill testée, en mode plan.
TIMING — 3:00
En direct si possible, dans l'onglet Code de l'application de bureau ; sinon, commentez la maquette. Étape 1 : ouvrir un dossier. Ici, « charte » contient la charte graphique en PDF, le logo et un exemple de présentation réussie. Travaillez sur une copie. Étape 2 : passer en mode plan (sélecteur de mode ou Maj + Tab) et écrire : « Crée une skill charte-graphique à partir des fichiers de ce dossier, pour appliquer notre charte à toute présentation ou tout document. » Étape 3 : Claude lit les fichiers et affiche son plan : lire la charte et l'exemple, créer .claude/skills/charte-graphique/SKILL.md, ajouter un fichier de couleurs et de typographie, tester sur une diapo. Lisez-le à voix haute avec la salle et corrigez une chose, pour montrer qu'on garde la main. Étape 4 : approuver en validant chaque modification, pour que la salle voie chaque fichier apparaître. Puis tester : tapez /charte-graphique, ou demandez « fais-moi une diapo de bienvenue ». La skill est rangée dans le dossier .claude/skills du projet : quiconque ouvre ce dossier avec Claude Code en profite. Pour l'avoir aussi dans Claude sur le web, demandez à Claude Code de la compresser en .zip, puis importez-la dans Personnaliser › Skills.
QUESTION À LA SALLE — Pendant que Claude planifie : « Qu'est-ce que vous voudriez corriger dans ce plan ? »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 il va vous poser des questions, répondez-y franchement. Quatre : tester, dans une nouvelle conversation, avec une demande naturelle, sans nommer la skill. Est-ce qu'elle se déclenche ? Est-ce que le résultat est bon ?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s'appuie sur sa skill intégrée de création de skills (« skill-creator ») et pose des questions : qui lit ces comptes rendus ? quelle longueur ? avez-vous un exemple ? Répondez, collez un ancien compte rendu réussi. Claude rédige le SKILL.md et vous le montre : faites lire la description à voix haute à la salle. Puis il propose d'enregistrer la skill : un clic, et elle apparaît dans Personnaliser › Skills. Enfin, testez : ouvrez une nouvelle conversation, collez des notes en vrac et dites simplement « tu peux m'en faire un compte rendu ? ». La skill doit se déclencher seule.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Mettez les mots que vous emploieriez vraiment. Deuxième secret : un exemple réussi vaut dix consignes. Claude imite très bien : donnez-lui un vrai compte rendu que vous aimez. Troisième secret : une skill, une tâche. Mieux vaut trois petites skills claires qu'une grosse skill « tout-en-un » que Claude ne saura pas quand déclencher. Et restez court : si vos instructions dépassent deux pages, c'est souvent qu'il y a deux skills.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la skill et vous l'enregistrez.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dans Personnaliser › Skills, vous pouvez télécharger votre skill en .zip et l'envoyer.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Sortez vos cartons : c'est l'heure du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et vérifier que chacun a ses cartons.
TIMING — 0:30
Huit questions. Pour chacune, je lis la question et les quatre réponses, je compte jusqu'à trois et tout le monde lève son carton en même temps. Pas de honte à se tromper : c'est justement ce qui nous intéresse. On regarde la répartition des couleurs dans la salle, puis je révèle la bonne réponse. Si vous n'avez pas de cartons, levez 1 à 4 doigts : un doigt pour A, deux pour B, trois pour C, quatre pour D.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la description de chaque skill activée, et elle seule, pour décider s'il ouvre la skill.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Compter « 1, 2, 3, cartons ! » Observer la salle et commenter la répartition (« beaucoup de bleu… quelques verts…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les cartons du quiz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5-2.png"/><Relationship Id="rId3" Type="http://schemas.openxmlformats.org/officeDocument/2006/relationships/image" Target="../media/image-13-3.png"/><Relationship Id="rId4" Type="http://schemas.openxmlformats.org/officeDocument/2006/relationships/image" Target="../media/image-5-2.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2.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2.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2.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2.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16-2.png"/><Relationship Id="rId3" Type="http://schemas.openxmlformats.org/officeDocument/2006/relationships/image" Target="../media/image-5-2.png"/><Relationship Id="rId4" Type="http://schemas.openxmlformats.org/officeDocument/2006/relationships/image" Target="../media/image-16-3.png"/><Relationship Id="rId5" Type="http://schemas.openxmlformats.org/officeDocument/2006/relationships/image" Target="../media/image-5-2.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9-2.png"/><Relationship Id="rId2" Type="http://schemas.openxmlformats.org/officeDocument/2006/relationships/image" Target="../media/image-19-1.png"/><Relationship Id="rId3" Type="http://schemas.openxmlformats.org/officeDocument/2006/relationships/image" Target="../media/image-3-5.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0-6.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5-2.png"/><Relationship Id="rId2" Type="http://schemas.openxmlformats.org/officeDocument/2006/relationships/image" Target="../media/image-5-1.png"/><Relationship Id="rId3" Type="http://schemas.openxmlformats.org/officeDocument/2006/relationships/image" Target="../media/image-26-3.png"/><Relationship Id="rId4" Type="http://schemas.openxmlformats.org/officeDocument/2006/relationships/image" Target="../media/image-26-3.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2.png"/><Relationship Id="rId3" Type="http://schemas.openxmlformats.org/officeDocument/2006/relationships/image" Target="../media/image-16-3.png"/><Relationship Id="rId4" Type="http://schemas.openxmlformats.org/officeDocument/2006/relationships/image" Target="../media/image-5-2.png"/><Relationship Id="rId5" Type="http://schemas.openxmlformats.org/officeDocument/2006/relationships/image" Target="../media/image-16-4.png"/><Relationship Id="rId6" Type="http://schemas.openxmlformats.org/officeDocument/2006/relationships/image" Target="../media/image-5-2.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1.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13-1.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png"/><Relationship Id="rId7" Type="http://schemas.openxmlformats.org/officeDocument/2006/relationships/image" Target="../media/image-48-7.png"/><Relationship Id="rId8" Type="http://schemas.openxmlformats.org/officeDocument/2006/relationships/slideLayout" Target="../slideLayouts/slideLayout1.xml"/><Relationship Id="rId9"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Post LinkedIn</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3703320" y="3172968"/>
            <a:ext cx="2103120" cy="457200"/>
          </a:xfrm>
          <a:prstGeom prst="roundRect">
            <a:avLst>
              <a:gd name="adj" fmla="val 20000"/>
            </a:avLst>
          </a:prstGeom>
          <a:solidFill>
            <a:srgbClr val="E1E5EB"/>
          </a:solidFill>
          <a:ln w="12700">
            <a:solidFill>
              <a:srgbClr val="FFFFFF"/>
            </a:solidFill>
            <a:prstDash val="solid"/>
          </a:ln>
        </p:spPr>
      </p:sp>
      <p:sp>
        <p:nvSpPr>
          <p:cNvPr id="13" name="Text 11"/>
          <p:cNvSpPr txBox="1"/>
          <p:nvPr/>
        </p:nvSpPr>
        <p:spPr>
          <a:xfrm>
            <a:off x="3813048" y="31729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4" name="Shape 12"/>
          <p:cNvSpPr/>
          <p:nvPr/>
        </p:nvSpPr>
        <p:spPr>
          <a:xfrm>
            <a:off x="1417320" y="3520440"/>
            <a:ext cx="4206240" cy="1920240"/>
          </a:xfrm>
          <a:prstGeom prst="roundRect">
            <a:avLst>
              <a:gd name="adj" fmla="val 5714"/>
            </a:avLst>
          </a:prstGeom>
          <a:solidFill>
            <a:srgbClr val="F1F3F6"/>
          </a:solidFill>
          <a:ln w="12700">
            <a:solidFill>
              <a:srgbClr val="D5D9E0"/>
            </a:solidFill>
            <a:prstDash val="solid"/>
          </a:ln>
        </p:spPr>
      </p:sp>
      <p:sp>
        <p:nvSpPr>
          <p:cNvPr id="15" name="Shape 13"/>
          <p:cNvSpPr/>
          <p:nvPr/>
        </p:nvSpPr>
        <p:spPr>
          <a:xfrm>
            <a:off x="6492240" y="1801368"/>
            <a:ext cx="2377440" cy="457200"/>
          </a:xfrm>
          <a:prstGeom prst="roundRect">
            <a:avLst>
              <a:gd name="adj" fmla="val 20000"/>
            </a:avLst>
          </a:prstGeom>
          <a:solidFill>
            <a:srgbClr val="B8235A"/>
          </a:solidFill>
          <a:ln/>
        </p:spPr>
      </p:sp>
      <p:sp>
        <p:nvSpPr>
          <p:cNvPr id="16" name="Text 14"/>
          <p:cNvSpPr txBox="1"/>
          <p:nvPr/>
        </p:nvSpPr>
        <p:spPr>
          <a:xfrm>
            <a:off x="660196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Compte rendu</a:t>
            </a:r>
            <a:endParaRPr lang="fr-FR" sz="1600" dirty="0"/>
          </a:p>
        </p:txBody>
      </p:sp>
      <p:sp>
        <p:nvSpPr>
          <p:cNvPr id="17" name="Shape 15"/>
          <p:cNvSpPr/>
          <p:nvPr/>
        </p:nvSpPr>
        <p:spPr>
          <a:xfrm>
            <a:off x="6217920" y="2148840"/>
            <a:ext cx="4937760" cy="3017520"/>
          </a:xfrm>
          <a:prstGeom prst="roundRect">
            <a:avLst>
              <a:gd name="adj" fmla="val 3636"/>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37960" y="2468880"/>
            <a:ext cx="548640" cy="548640"/>
          </a:xfrm>
          <a:prstGeom prst="rect">
            <a:avLst/>
          </a:prstGeom>
        </p:spPr>
      </p:pic>
      <p:sp>
        <p:nvSpPr>
          <p:cNvPr id="19" name="Text 16"/>
          <p:cNvSpPr txBox="1"/>
          <p:nvPr/>
        </p:nvSpPr>
        <p:spPr>
          <a:xfrm>
            <a:off x="7269480" y="2468880"/>
            <a:ext cx="3657600" cy="54864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Compte rendu</a:t>
            </a:r>
            <a:endParaRPr lang="fr-FR" sz="2600" dirty="0"/>
          </a:p>
        </p:txBody>
      </p:sp>
      <p:sp>
        <p:nvSpPr>
          <p:cNvPr id="20" name="Shape 17"/>
          <p:cNvSpPr/>
          <p:nvPr/>
        </p:nvSpPr>
        <p:spPr>
          <a:xfrm>
            <a:off x="6583680" y="3383280"/>
            <a:ext cx="3566160" cy="146304"/>
          </a:xfrm>
          <a:prstGeom prst="roundRect">
            <a:avLst>
              <a:gd name="adj" fmla="val 50000"/>
            </a:avLst>
          </a:prstGeom>
          <a:solidFill>
            <a:srgbClr val="E1E5EB"/>
          </a:solidFill>
          <a:ln/>
        </p:spPr>
      </p:sp>
      <p:sp>
        <p:nvSpPr>
          <p:cNvPr id="21" name="Shape 18"/>
          <p:cNvSpPr/>
          <p:nvPr/>
        </p:nvSpPr>
        <p:spPr>
          <a:xfrm>
            <a:off x="6583680" y="3767328"/>
            <a:ext cx="2926080" cy="146304"/>
          </a:xfrm>
          <a:prstGeom prst="roundRect">
            <a:avLst>
              <a:gd name="adj" fmla="val 50000"/>
            </a:avLst>
          </a:prstGeom>
          <a:solidFill>
            <a:srgbClr val="E1E5EB"/>
          </a:solidFill>
          <a:ln/>
        </p:spPr>
      </p:sp>
      <p:sp>
        <p:nvSpPr>
          <p:cNvPr id="22" name="Shape 19"/>
          <p:cNvSpPr/>
          <p:nvPr/>
        </p:nvSpPr>
        <p:spPr>
          <a:xfrm>
            <a:off x="6583680" y="4151376"/>
            <a:ext cx="3840480" cy="146304"/>
          </a:xfrm>
          <a:prstGeom prst="roundRect">
            <a:avLst>
              <a:gd name="adj" fmla="val 50000"/>
            </a:avLst>
          </a:prstGeom>
          <a:solidFill>
            <a:srgbClr val="E1E5EB"/>
          </a:solidFill>
          <a:ln/>
        </p:spPr>
      </p:sp>
      <p:sp>
        <p:nvSpPr>
          <p:cNvPr id="23" name="Shape 20"/>
          <p:cNvSpPr/>
          <p:nvPr/>
        </p:nvSpPr>
        <p:spPr>
          <a:xfrm>
            <a:off x="6583680" y="4535424"/>
            <a:ext cx="2377440" cy="146304"/>
          </a:xfrm>
          <a:prstGeom prst="roundRect">
            <a:avLst>
              <a:gd name="adj" fmla="val 50000"/>
            </a:avLst>
          </a:prstGeom>
          <a:solidFill>
            <a:srgbClr val="E1E5EB"/>
          </a:solidFill>
          <a:ln/>
        </p:spPr>
      </p:sp>
      <p:pic>
        <p:nvPicPr>
          <p:cNvPr id="2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86400" y="3383280"/>
            <a:ext cx="548640" cy="548640"/>
          </a:xfrm>
          <a:prstGeom prst="rect">
            <a:avLst/>
          </a:prstGeom>
        </p:spPr>
      </p:pic>
      <p:sp>
        <p:nvSpPr>
          <p:cNvPr id="25" name="Text 21"/>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lit les titres… et n'ouvre que la bonne fiche.</a:t>
            </a:r>
            <a:endParaRPr lang="fr-FR" sz="26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PDF</a:t>
            </a:r>
            <a:endParaRPr lang="fr-FR" sz="2000" dirty="0"/>
          </a:p>
        </p:txBody>
      </p:sp>
      <p:sp>
        <p:nvSpPr>
          <p:cNvPr id="40" name="Shape 31"/>
          <p:cNvSpPr/>
          <p:nvPr/>
        </p:nvSpPr>
        <p:spPr>
          <a:xfrm>
            <a:off x="9692640" y="5230368"/>
            <a:ext cx="731520" cy="329184"/>
          </a:xfrm>
          <a:prstGeom prst="roundRect">
            <a:avLst>
              <a:gd name="adj" fmla="val 50000"/>
            </a:avLst>
          </a:prstGeom>
          <a:solidFill>
            <a:srgbClr val="C3C9D2"/>
          </a:solidFill>
          <a:ln/>
        </p:spPr>
      </p:sp>
      <p:sp>
        <p:nvSpPr>
          <p:cNvPr id="41" name="Shape 32"/>
          <p:cNvSpPr/>
          <p:nvPr/>
        </p:nvSpPr>
        <p:spPr>
          <a:xfrm>
            <a:off x="9729216"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Shape 1"/>
          <p:cNvSpPr/>
          <p:nvPr/>
        </p:nvSpPr>
        <p:spPr>
          <a:xfrm>
            <a:off x="731520" y="2011680"/>
            <a:ext cx="3108960" cy="3291840"/>
          </a:xfrm>
          <a:prstGeom prst="roundRect">
            <a:avLst>
              <a:gd name="adj" fmla="val 4412"/>
            </a:avLst>
          </a:prstGeom>
          <a:solidFill>
            <a:srgbClr val="F1F3F6"/>
          </a:solidFill>
          <a:ln/>
        </p:spPr>
      </p:sp>
      <p:sp>
        <p:nvSpPr>
          <p:cNvPr id="4" name="Shape 2"/>
          <p:cNvSpPr/>
          <p:nvPr/>
        </p:nvSpPr>
        <p:spPr>
          <a:xfrm>
            <a:off x="1600200" y="2331720"/>
            <a:ext cx="1371600" cy="1371600"/>
          </a:xfrm>
          <a:prstGeom prst="ellipse">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943100" y="2674620"/>
            <a:ext cx="685800" cy="685800"/>
          </a:xfrm>
          <a:prstGeom prst="rect">
            <a:avLst/>
          </a:prstGeom>
        </p:spPr>
      </p:pic>
      <p:sp>
        <p:nvSpPr>
          <p:cNvPr id="6" name="Text 3"/>
          <p:cNvSpPr txBox="1"/>
          <p:nvPr/>
        </p:nvSpPr>
        <p:spPr>
          <a:xfrm>
            <a:off x="731520" y="3886200"/>
            <a:ext cx="3108960" cy="548640"/>
          </a:xfrm>
          <a:prstGeom prst="rect">
            <a:avLst/>
          </a:prstGeom>
          <a:noFill/>
          <a:ln/>
        </p:spPr>
        <p:txBody>
          <a:bodyPr wrap="square" lIns="0" tIns="0" rIns="0" bIns="0" rtlCol="0" anchor="t"/>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Trouver</a:t>
            </a:r>
            <a:endParaRPr lang="fr-FR" sz="2800" dirty="0"/>
          </a:p>
        </p:txBody>
      </p:sp>
      <p:sp>
        <p:nvSpPr>
          <p:cNvPr id="7" name="Text 4"/>
          <p:cNvSpPr txBox="1"/>
          <p:nvPr/>
        </p:nvSpPr>
        <p:spPr>
          <a:xfrm>
            <a:off x="914400" y="4434840"/>
            <a:ext cx="2743200" cy="731520"/>
          </a:xfrm>
          <a:prstGeom prst="rect">
            <a:avLst/>
          </a:prstGeom>
          <a:noFill/>
          <a:ln/>
        </p:spPr>
        <p:txBody>
          <a:bodyPr wrap="square" lIns="0" tIns="0" rIns="0" bIns="0" rtlCol="0" anchor="t"/>
          <a:lstStyle/>
          <a:p>
            <a:pPr algn="ctr" indent="0" marL="0">
              <a:buNone/>
            </a:pPr>
            <a:r>
              <a:rPr lang="fr-FR" altLang="en-US" sz="1800" dirty="0">
                <a:solidFill>
                  <a:srgbClr val="566070"/>
                </a:solidFill>
                <a:latin typeface="Calibri" pitchFamily="34" charset="0"/>
                <a:ea typeface="Calibri" pitchFamily="34" charset="-122"/>
                <a:cs typeface="Calibri" pitchFamily="34" charset="-120"/>
              </a:rPr>
              <a:t>un dépôt de confiance</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916604" y="3383280"/>
            <a:ext cx="548640" cy="548640"/>
          </a:xfrm>
          <a:prstGeom prst="rect">
            <a:avLst/>
          </a:prstGeom>
        </p:spPr>
      </p:pic>
      <p:sp>
        <p:nvSpPr>
          <p:cNvPr id="9" name="Shape 5"/>
          <p:cNvSpPr/>
          <p:nvPr/>
        </p:nvSpPr>
        <p:spPr>
          <a:xfrm>
            <a:off x="4541368" y="2011680"/>
            <a:ext cx="3108960" cy="3291840"/>
          </a:xfrm>
          <a:prstGeom prst="roundRect">
            <a:avLst>
              <a:gd name="adj" fmla="val 4412"/>
            </a:avLst>
          </a:prstGeom>
          <a:solidFill>
            <a:srgbClr val="F1F3F6"/>
          </a:solidFill>
          <a:ln/>
        </p:spPr>
      </p:sp>
      <p:sp>
        <p:nvSpPr>
          <p:cNvPr id="10" name="Shape 6"/>
          <p:cNvSpPr/>
          <p:nvPr/>
        </p:nvSpPr>
        <p:spPr>
          <a:xfrm>
            <a:off x="5410048" y="2331720"/>
            <a:ext cx="1371600" cy="1371600"/>
          </a:xfrm>
          <a:prstGeom prst="ellipse">
            <a:avLst/>
          </a:prstGeom>
          <a:solidFill>
            <a:srgbClr val="1B2233"/>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52948" y="2674620"/>
            <a:ext cx="685800" cy="685800"/>
          </a:xfrm>
          <a:prstGeom prst="rect">
            <a:avLst/>
          </a:prstGeom>
        </p:spPr>
      </p:pic>
      <p:sp>
        <p:nvSpPr>
          <p:cNvPr id="12" name="Text 7"/>
          <p:cNvSpPr txBox="1"/>
          <p:nvPr/>
        </p:nvSpPr>
        <p:spPr>
          <a:xfrm>
            <a:off x="4541368" y="3886200"/>
            <a:ext cx="3108960" cy="548640"/>
          </a:xfrm>
          <a:prstGeom prst="rect">
            <a:avLst/>
          </a:prstGeom>
          <a:noFill/>
          <a:ln/>
        </p:spPr>
        <p:txBody>
          <a:bodyPr wrap="square" lIns="0" tIns="0" rIns="0" bIns="0" rtlCol="0" anchor="t"/>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Télécharger</a:t>
            </a:r>
            <a:endParaRPr lang="fr-FR" sz="2800" dirty="0"/>
          </a:p>
        </p:txBody>
      </p:sp>
      <p:sp>
        <p:nvSpPr>
          <p:cNvPr id="13" name="Text 8"/>
          <p:cNvSpPr txBox="1"/>
          <p:nvPr/>
        </p:nvSpPr>
        <p:spPr>
          <a:xfrm>
            <a:off x="4724248" y="4434840"/>
            <a:ext cx="2743200" cy="731520"/>
          </a:xfrm>
          <a:prstGeom prst="rect">
            <a:avLst/>
          </a:prstGeom>
          <a:noFill/>
          <a:ln/>
        </p:spPr>
        <p:txBody>
          <a:bodyPr wrap="square" lIns="0" tIns="0" rIns="0" bIns="0" rtlCol="0" anchor="t"/>
          <a:lstStyle/>
          <a:p>
            <a:pPr algn="ctr" indent="0" marL="0">
              <a:buNone/>
            </a:pPr>
            <a:r>
              <a:rPr lang="fr-FR" altLang="en-US" sz="1800" dirty="0">
                <a:solidFill>
                  <a:srgbClr val="566070"/>
                </a:solidFill>
                <a:latin typeface="Calibri" pitchFamily="34" charset="0"/>
                <a:ea typeface="Calibri" pitchFamily="34" charset="-122"/>
                <a:cs typeface="Calibri" pitchFamily="34" charset="-120"/>
              </a:rPr>
              <a:t>le dossier en .zip</a:t>
            </a:r>
            <a:endParaRPr lang="fr-FR" sz="1800" dirty="0"/>
          </a:p>
        </p:txBody>
      </p:sp>
      <p:pic>
        <p:nvPicPr>
          <p:cNvPr id="1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26451" y="3383280"/>
            <a:ext cx="548640" cy="548640"/>
          </a:xfrm>
          <a:prstGeom prst="rect">
            <a:avLst/>
          </a:prstGeom>
        </p:spPr>
      </p:pic>
      <p:sp>
        <p:nvSpPr>
          <p:cNvPr id="15" name="Shape 9"/>
          <p:cNvSpPr/>
          <p:nvPr/>
        </p:nvSpPr>
        <p:spPr>
          <a:xfrm>
            <a:off x="8351215" y="2011680"/>
            <a:ext cx="3108960" cy="3291840"/>
          </a:xfrm>
          <a:prstGeom prst="roundRect">
            <a:avLst>
              <a:gd name="adj" fmla="val 4412"/>
            </a:avLst>
          </a:prstGeom>
          <a:solidFill>
            <a:srgbClr val="F1F3F6"/>
          </a:solidFill>
          <a:ln/>
        </p:spPr>
      </p:sp>
      <p:sp>
        <p:nvSpPr>
          <p:cNvPr id="16" name="Shape 10"/>
          <p:cNvSpPr/>
          <p:nvPr/>
        </p:nvSpPr>
        <p:spPr>
          <a:xfrm>
            <a:off x="9219895" y="2331720"/>
            <a:ext cx="1371600" cy="1371600"/>
          </a:xfrm>
          <a:prstGeom prst="ellipse">
            <a:avLst/>
          </a:prstGeom>
          <a:solidFill>
            <a:srgbClr val="B8235A"/>
          </a:solidFill>
          <a:ln/>
        </p:spPr>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62795" y="2674620"/>
            <a:ext cx="685800" cy="685800"/>
          </a:xfrm>
          <a:prstGeom prst="rect">
            <a:avLst/>
          </a:prstGeom>
        </p:spPr>
      </p:pic>
      <p:sp>
        <p:nvSpPr>
          <p:cNvPr id="18" name="Text 11"/>
          <p:cNvSpPr txBox="1"/>
          <p:nvPr/>
        </p:nvSpPr>
        <p:spPr>
          <a:xfrm>
            <a:off x="8351215" y="3886200"/>
            <a:ext cx="3108960" cy="548640"/>
          </a:xfrm>
          <a:prstGeom prst="rect">
            <a:avLst/>
          </a:prstGeom>
          <a:noFill/>
          <a:ln/>
        </p:spPr>
        <p:txBody>
          <a:bodyPr wrap="square" lIns="0" tIns="0" rIns="0" bIns="0" rtlCol="0" anchor="t"/>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Importer</a:t>
            </a:r>
            <a:endParaRPr lang="fr-FR" sz="2800" dirty="0"/>
          </a:p>
        </p:txBody>
      </p:sp>
      <p:sp>
        <p:nvSpPr>
          <p:cNvPr id="19" name="Text 12"/>
          <p:cNvSpPr txBox="1"/>
          <p:nvPr/>
        </p:nvSpPr>
        <p:spPr>
          <a:xfrm>
            <a:off x="8534095" y="4434840"/>
            <a:ext cx="2743200" cy="731520"/>
          </a:xfrm>
          <a:prstGeom prst="rect">
            <a:avLst/>
          </a:prstGeom>
          <a:noFill/>
          <a:ln/>
        </p:spPr>
        <p:txBody>
          <a:bodyPr wrap="square" lIns="0" tIns="0" rIns="0" bIns="0" rtlCol="0" anchor="t"/>
          <a:lstStyle/>
          <a:p>
            <a:pPr algn="ctr" indent="0" marL="0">
              <a:buNone/>
            </a:pPr>
            <a:r>
              <a:rPr lang="fr-FR" altLang="en-US" sz="1800" dirty="0">
                <a:solidFill>
                  <a:srgbClr val="566070"/>
                </a:solidFill>
                <a:latin typeface="Calibri" pitchFamily="34" charset="0"/>
                <a:ea typeface="Calibri" pitchFamily="34" charset="-122"/>
                <a:cs typeface="Calibri" pitchFamily="34" charset="-120"/>
              </a:rPr>
              <a:t>Personnaliser › Skills › +</a:t>
            </a:r>
            <a:endParaRPr lang="fr-FR" sz="1800" dirty="0"/>
          </a:p>
        </p:txBody>
      </p:sp>
      <p:sp>
        <p:nvSpPr>
          <p:cNvPr id="20" name="Shape 13"/>
          <p:cNvSpPr/>
          <p:nvPr/>
        </p:nvSpPr>
        <p:spPr>
          <a:xfrm>
            <a:off x="2194560" y="5577840"/>
            <a:ext cx="7772400" cy="548640"/>
          </a:xfrm>
          <a:prstGeom prst="roundRect">
            <a:avLst>
              <a:gd name="adj" fmla="val 25000"/>
            </a:avLst>
          </a:prstGeom>
          <a:solidFill>
            <a:srgbClr val="E6EDFA"/>
          </a:solidFill>
          <a:ln/>
        </p:spPr>
      </p:sp>
      <p:sp>
        <p:nvSpPr>
          <p:cNvPr id="21" name="Text 14"/>
          <p:cNvSpPr txBox="1"/>
          <p:nvPr/>
        </p:nvSpPr>
        <p:spPr>
          <a:xfrm>
            <a:off x="2194560" y="5577840"/>
            <a:ext cx="7772400" cy="548640"/>
          </a:xfrm>
          <a:prstGeom prst="rect">
            <a:avLst/>
          </a:prstGeom>
          <a:noFill/>
          <a:ln/>
        </p:spPr>
        <p:txBody>
          <a:bodyPr wrap="square" lIns="0" tIns="0" rIns="0" bIns="0" rtlCol="0" anchor="ctr"/>
          <a:lstStyle/>
          <a:p>
            <a:pPr algn="ctr" indent="0" marL="0">
              <a:buNone/>
            </a:pPr>
            <a:r>
              <a:rPr lang="fr-FR" altLang="en-US" sz="2000" b="1" dirty="0">
                <a:solidFill>
                  <a:srgbClr val="2F5FC4"/>
                </a:solidFill>
                <a:latin typeface="Calibri" pitchFamily="34" charset="0"/>
                <a:ea typeface="Calibri" pitchFamily="34" charset="-122"/>
                <a:cs typeface="Calibri" pitchFamily="34" charset="-120"/>
              </a:rPr>
              <a:t>Réf. : </a:t>
            </a:r>
            <a:pPr algn="ct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22"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3"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fusionnent (en cours)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Votre skill vous suit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Enregistré en 1 clic</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Selon votre offre</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Il demande avant d'agir</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sp>
        <p:nvSpPr>
          <p:cNvPr id="3" name="Shape 1"/>
          <p:cNvSpPr/>
          <p:nvPr/>
        </p:nvSpPr>
        <p:spPr>
          <a:xfrm>
            <a:off x="1097280" y="2697480"/>
            <a:ext cx="9997135" cy="0"/>
          </a:xfrm>
          <a:prstGeom prst="line">
            <a:avLst/>
          </a:prstGeom>
          <a:noFill/>
          <a:ln w="50800">
            <a:solidFill>
              <a:srgbClr val="D5D9E0"/>
            </a:solidFill>
            <a:prstDash val="solid"/>
          </a:ln>
        </p:spPr>
      </p:sp>
      <p:sp>
        <p:nvSpPr>
          <p:cNvPr id="4" name="Shape 2"/>
          <p:cNvSpPr/>
          <p:nvPr/>
        </p:nvSpPr>
        <p:spPr>
          <a:xfrm>
            <a:off x="960120" y="2103120"/>
            <a:ext cx="1188720" cy="1188720"/>
          </a:xfrm>
          <a:prstGeom prst="ellipse">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57300" y="2400300"/>
            <a:ext cx="594360" cy="594360"/>
          </a:xfrm>
          <a:prstGeom prst="rect">
            <a:avLst/>
          </a:prstGeom>
        </p:spPr>
      </p:pic>
      <p:sp>
        <p:nvSpPr>
          <p:cNvPr id="6" name="Text 3"/>
          <p:cNvSpPr txBox="1"/>
          <p:nvPr/>
        </p:nvSpPr>
        <p:spPr>
          <a:xfrm>
            <a:off x="411480"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sp>
        <p:nvSpPr>
          <p:cNvPr id="7" name="Shape 4"/>
          <p:cNvSpPr/>
          <p:nvPr/>
        </p:nvSpPr>
        <p:spPr>
          <a:xfrm>
            <a:off x="3230804" y="2103120"/>
            <a:ext cx="1188720" cy="118872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27984" y="2400300"/>
            <a:ext cx="594360" cy="594360"/>
          </a:xfrm>
          <a:prstGeom prst="rect">
            <a:avLst/>
          </a:prstGeom>
        </p:spPr>
      </p:pic>
      <p:sp>
        <p:nvSpPr>
          <p:cNvPr id="9" name="Text 5"/>
          <p:cNvSpPr txBox="1"/>
          <p:nvPr/>
        </p:nvSpPr>
        <p:spPr>
          <a:xfrm>
            <a:off x="2682164"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10" name="Text 6"/>
          <p:cNvSpPr txBox="1"/>
          <p:nvPr/>
        </p:nvSpPr>
        <p:spPr>
          <a:xfrm>
            <a:off x="2682164" y="393192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sp>
        <p:nvSpPr>
          <p:cNvPr id="11" name="Shape 7"/>
          <p:cNvSpPr/>
          <p:nvPr/>
        </p:nvSpPr>
        <p:spPr>
          <a:xfrm>
            <a:off x="5501488" y="2103120"/>
            <a:ext cx="1188720" cy="1188720"/>
          </a:xfrm>
          <a:prstGeom prst="ellipse">
            <a:avLst/>
          </a:prstGeom>
          <a:solidFill>
            <a:srgbClr val="1B2233"/>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98668" y="2400300"/>
            <a:ext cx="594360" cy="594360"/>
          </a:xfrm>
          <a:prstGeom prst="rect">
            <a:avLst/>
          </a:prstGeom>
        </p:spPr>
      </p:pic>
      <p:sp>
        <p:nvSpPr>
          <p:cNvPr id="13" name="Text 8"/>
          <p:cNvSpPr txBox="1"/>
          <p:nvPr/>
        </p:nvSpPr>
        <p:spPr>
          <a:xfrm>
            <a:off x="4952848"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sp>
        <p:nvSpPr>
          <p:cNvPr id="14" name="Shape 9"/>
          <p:cNvSpPr/>
          <p:nvPr/>
        </p:nvSpPr>
        <p:spPr>
          <a:xfrm>
            <a:off x="7772171" y="2103120"/>
            <a:ext cx="1188720" cy="1188720"/>
          </a:xfrm>
          <a:prstGeom prst="ellipse">
            <a:avLst/>
          </a:prstGeom>
          <a:solidFill>
            <a:srgbClr val="1F7A50"/>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069351" y="2400300"/>
            <a:ext cx="594360" cy="594360"/>
          </a:xfrm>
          <a:prstGeom prst="rect">
            <a:avLst/>
          </a:prstGeom>
        </p:spPr>
      </p:pic>
      <p:sp>
        <p:nvSpPr>
          <p:cNvPr id="16" name="Text 10"/>
          <p:cNvSpPr txBox="1"/>
          <p:nvPr/>
        </p:nvSpPr>
        <p:spPr>
          <a:xfrm>
            <a:off x="7223531"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valide</a:t>
            </a:r>
            <a:endParaRPr lang="fr-FR" sz="2200" dirty="0"/>
          </a:p>
        </p:txBody>
      </p:sp>
      <p:sp>
        <p:nvSpPr>
          <p:cNvPr id="17" name="Text 11"/>
          <p:cNvSpPr txBox="1"/>
          <p:nvPr/>
        </p:nvSpPr>
        <p:spPr>
          <a:xfrm>
            <a:off x="7223531" y="393192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sp>
        <p:nvSpPr>
          <p:cNvPr id="18" name="Shape 12"/>
          <p:cNvSpPr/>
          <p:nvPr/>
        </p:nvSpPr>
        <p:spPr>
          <a:xfrm>
            <a:off x="10042855" y="2103120"/>
            <a:ext cx="1188720" cy="1188720"/>
          </a:xfrm>
          <a:prstGeom prst="ellipse">
            <a:avLst/>
          </a:prstGeom>
          <a:solidFill>
            <a:srgbClr val="B8235A"/>
          </a:solidFill>
          <a:ln/>
        </p:spPr>
      </p:sp>
      <p:pic>
        <p:nvPicPr>
          <p:cNvPr id="19"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340035" y="2400300"/>
            <a:ext cx="594360" cy="594360"/>
          </a:xfrm>
          <a:prstGeom prst="rect">
            <a:avLst/>
          </a:prstGeom>
        </p:spPr>
      </p:pic>
      <p:sp>
        <p:nvSpPr>
          <p:cNvPr id="20" name="Text 13"/>
          <p:cNvSpPr txBox="1"/>
          <p:nvPr/>
        </p:nvSpPr>
        <p:spPr>
          <a:xfrm>
            <a:off x="9494215" y="342900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exécute</a:t>
            </a:r>
            <a:endParaRPr lang="fr-FR" sz="2200" dirty="0"/>
          </a:p>
        </p:txBody>
      </p:sp>
      <p:sp>
        <p:nvSpPr>
          <p:cNvPr id="21" name="Shape 14"/>
          <p:cNvSpPr/>
          <p:nvPr/>
        </p:nvSpPr>
        <p:spPr>
          <a:xfrm>
            <a:off x="2727884" y="4434840"/>
            <a:ext cx="6735928" cy="457200"/>
          </a:xfrm>
          <a:prstGeom prst="roundRect">
            <a:avLst>
              <a:gd name="adj" fmla="val 50000"/>
            </a:avLst>
          </a:prstGeom>
          <a:solidFill>
            <a:srgbClr val="E6EDFA"/>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2956484" y="4526280"/>
            <a:ext cx="274320" cy="274320"/>
          </a:xfrm>
          <a:prstGeom prst="rect">
            <a:avLst/>
          </a:prstGeom>
        </p:spPr>
      </p:pic>
      <p:sp>
        <p:nvSpPr>
          <p:cNvPr id="23" name="Text 15"/>
          <p:cNvSpPr txBox="1"/>
          <p:nvPr/>
        </p:nvSpPr>
        <p:spPr>
          <a:xfrm>
            <a:off x="3322244" y="4434840"/>
            <a:ext cx="6004408" cy="457200"/>
          </a:xfrm>
          <a:prstGeom prst="rect">
            <a:avLst/>
          </a:prstGeom>
          <a:noFill/>
          <a:ln/>
        </p:spPr>
        <p:txBody>
          <a:bodyPr wrap="square" lIns="0" tIns="0" rIns="0" bIns="0" rtlCol="0" anchor="ctr"/>
          <a:lstStyle/>
          <a:p>
            <a:pPr indent="0" marL="0">
              <a:buNone/>
            </a:pPr>
            <a:r>
              <a:rPr lang="fr-FR" altLang="en-US" sz="1700" b="1" dirty="0">
                <a:solidFill>
                  <a:srgbClr val="2F5FC4"/>
                </a:solidFill>
                <a:latin typeface="Calibri" pitchFamily="34" charset="0"/>
                <a:ea typeface="Calibri" pitchFamily="34" charset="-122"/>
                <a:cs typeface="Calibri" pitchFamily="34" charset="-120"/>
              </a:rPr>
              <a:t>Aucun fichier modifié</a:t>
            </a:r>
            <a:endParaRPr lang="fr-FR" sz="1700" dirty="0"/>
          </a:p>
        </p:txBody>
      </p:sp>
      <p:sp>
        <p:nvSpPr>
          <p:cNvPr id="24" name="Text 16"/>
          <p:cNvSpPr txBox="1"/>
          <p:nvPr/>
        </p:nvSpPr>
        <p:spPr>
          <a:xfrm>
            <a:off x="731520" y="53492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5" name="Shape 17"/>
          <p:cNvSpPr/>
          <p:nvPr/>
        </p:nvSpPr>
        <p:spPr>
          <a:xfrm>
            <a:off x="3108960" y="53492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8"/>
          <p:cNvSpPr txBox="1"/>
          <p:nvPr/>
        </p:nvSpPr>
        <p:spPr>
          <a:xfrm>
            <a:off x="3108960" y="53492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Shift + Tab</a:t>
            </a:r>
            <a:endParaRPr lang="fr-FR" sz="2000" dirty="0"/>
          </a:p>
        </p:txBody>
      </p:sp>
      <p:sp>
        <p:nvSpPr>
          <p:cNvPr id="27" name="Shape 19"/>
          <p:cNvSpPr/>
          <p:nvPr/>
        </p:nvSpPr>
        <p:spPr>
          <a:xfrm>
            <a:off x="5943600" y="53492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8" name="Text 20"/>
          <p:cNvSpPr txBox="1"/>
          <p:nvPr/>
        </p:nvSpPr>
        <p:spPr>
          <a:xfrm>
            <a:off x="5943600" y="53492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9" name="Shape 21"/>
          <p:cNvSpPr/>
          <p:nvPr/>
        </p:nvSpPr>
        <p:spPr>
          <a:xfrm>
            <a:off x="8778240" y="5349240"/>
            <a:ext cx="25603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30" name="Text 22"/>
          <p:cNvSpPr txBox="1"/>
          <p:nvPr/>
        </p:nvSpPr>
        <p:spPr>
          <a:xfrm>
            <a:off x="8778240" y="5349240"/>
            <a:ext cx="25603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31" name="Text 2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2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une skill avec Code</a:t>
            </a:r>
            <a:endParaRPr lang="fr-FR" sz="4000" dirty="0"/>
          </a:p>
        </p:txBody>
      </p:sp>
      <p:sp>
        <p:nvSpPr>
          <p:cNvPr id="3" name="Shape 1"/>
          <p:cNvSpPr/>
          <p:nvPr/>
        </p:nvSpPr>
        <p:spPr>
          <a:xfrm>
            <a:off x="548640" y="1783080"/>
            <a:ext cx="8229600" cy="4572000"/>
          </a:xfrm>
          <a:prstGeom prst="roundRect">
            <a:avLst>
              <a:gd name="adj" fmla="val 2400"/>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548640" y="1892808"/>
            <a:ext cx="3108960" cy="435254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 y="2176272"/>
            <a:ext cx="256032" cy="256032"/>
          </a:xfrm>
          <a:prstGeom prst="rect">
            <a:avLst/>
          </a:prstGeom>
        </p:spPr>
      </p:pic>
      <p:sp>
        <p:nvSpPr>
          <p:cNvPr id="6" name="Text 3"/>
          <p:cNvSpPr txBox="1"/>
          <p:nvPr/>
        </p:nvSpPr>
        <p:spPr>
          <a:xfrm>
            <a:off x="1143000" y="2103120"/>
            <a:ext cx="2468880" cy="411480"/>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charte/</a:t>
            </a:r>
            <a:endParaRPr lang="fr-FR" sz="16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51560" y="2679192"/>
            <a:ext cx="256032" cy="256032"/>
          </a:xfrm>
          <a:prstGeom prst="rect">
            <a:avLst/>
          </a:prstGeom>
        </p:spPr>
      </p:pic>
      <p:sp>
        <p:nvSpPr>
          <p:cNvPr id="8" name="Text 4"/>
          <p:cNvSpPr txBox="1"/>
          <p:nvPr/>
        </p:nvSpPr>
        <p:spPr>
          <a:xfrm>
            <a:off x="1417320" y="260604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charte.pdf</a:t>
            </a:r>
            <a:endParaRPr lang="fr-FR" sz="16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51560" y="3182112"/>
            <a:ext cx="256032" cy="256032"/>
          </a:xfrm>
          <a:prstGeom prst="rect">
            <a:avLst/>
          </a:prstGeom>
        </p:spPr>
      </p:pic>
      <p:sp>
        <p:nvSpPr>
          <p:cNvPr id="10" name="Text 5"/>
          <p:cNvSpPr txBox="1"/>
          <p:nvPr/>
        </p:nvSpPr>
        <p:spPr>
          <a:xfrm>
            <a:off x="1417320" y="310896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logo.png</a:t>
            </a:r>
            <a:endParaRPr lang="fr-FR" sz="16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1560" y="3685032"/>
            <a:ext cx="256032" cy="256032"/>
          </a:xfrm>
          <a:prstGeom prst="rect">
            <a:avLst/>
          </a:prstGeom>
        </p:spPr>
      </p:pic>
      <p:sp>
        <p:nvSpPr>
          <p:cNvPr id="12" name="Text 6"/>
          <p:cNvSpPr txBox="1"/>
          <p:nvPr/>
        </p:nvSpPr>
        <p:spPr>
          <a:xfrm>
            <a:off x="1417320" y="3611880"/>
            <a:ext cx="219456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ourier New" pitchFamily="34" charset="0"/>
                <a:ea typeface="Courier New" pitchFamily="34" charset="-122"/>
                <a:cs typeface="Courier New" pitchFamily="34" charset="-120"/>
              </a:rPr>
              <a:t>exemple.pptx</a:t>
            </a:r>
            <a:endParaRPr lang="fr-FR" sz="16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 y="4187952"/>
            <a:ext cx="256032" cy="256032"/>
          </a:xfrm>
          <a:prstGeom prst="rect">
            <a:avLst/>
          </a:prstGeom>
        </p:spPr>
      </p:pic>
      <p:sp>
        <p:nvSpPr>
          <p:cNvPr id="14" name="Text 7"/>
          <p:cNvSpPr txBox="1"/>
          <p:nvPr/>
        </p:nvSpPr>
        <p:spPr>
          <a:xfrm>
            <a:off x="1143000" y="4114800"/>
            <a:ext cx="2468880" cy="411480"/>
          </a:xfrm>
          <a:prstGeom prst="rect">
            <a:avLst/>
          </a:prstGeom>
          <a:noFill/>
          <a:ln/>
        </p:spPr>
        <p:txBody>
          <a:bodyPr wrap="square" lIns="0" tIns="0" rIns="0" bIns="0" rtlCol="0" anchor="ctr"/>
          <a:lstStyle/>
          <a:p>
            <a:pPr indent="0" marL="0">
              <a:buNone/>
            </a:pPr>
            <a:r>
              <a:rPr lang="fr-FR" altLang="en-US" sz="1600" b="1" dirty="0">
                <a:solidFill>
                  <a:srgbClr val="1F7A50"/>
                </a:solidFill>
                <a:latin typeface="Courier New" pitchFamily="34" charset="0"/>
                <a:ea typeface="Courier New" pitchFamily="34" charset="-122"/>
                <a:cs typeface="Courier New" pitchFamily="34" charset="-120"/>
              </a:rPr>
              <a:t>.claude/skills/</a:t>
            </a:r>
            <a:endParaRPr lang="fr-FR" sz="1600" dirty="0"/>
          </a:p>
        </p:txBody>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 y="4690872"/>
            <a:ext cx="256032" cy="256032"/>
          </a:xfrm>
          <a:prstGeom prst="rect">
            <a:avLst/>
          </a:prstGeom>
        </p:spPr>
      </p:pic>
      <p:sp>
        <p:nvSpPr>
          <p:cNvPr id="16" name="Text 8"/>
          <p:cNvSpPr txBox="1"/>
          <p:nvPr/>
        </p:nvSpPr>
        <p:spPr>
          <a:xfrm>
            <a:off x="1417320" y="4617720"/>
            <a:ext cx="2194560" cy="411480"/>
          </a:xfrm>
          <a:prstGeom prst="rect">
            <a:avLst/>
          </a:prstGeom>
          <a:noFill/>
          <a:ln/>
        </p:spPr>
        <p:txBody>
          <a:bodyPr wrap="square" lIns="0" tIns="0" rIns="0" bIns="0" rtlCol="0" anchor="ctr"/>
          <a:lstStyle/>
          <a:p>
            <a:pPr indent="0" marL="0">
              <a:buNone/>
            </a:pPr>
            <a:r>
              <a:rPr lang="fr-FR" altLang="en-US" sz="1600" dirty="0">
                <a:solidFill>
                  <a:srgbClr val="1F7A50"/>
                </a:solidFill>
                <a:latin typeface="Courier New" pitchFamily="34" charset="0"/>
                <a:ea typeface="Courier New" pitchFamily="34" charset="-122"/>
                <a:cs typeface="Courier New" pitchFamily="34" charset="-120"/>
              </a:rPr>
              <a:t>charte-graphique</a:t>
            </a:r>
            <a:endParaRPr lang="fr-FR" sz="1600" dirty="0"/>
          </a:p>
        </p:txBody>
      </p:sp>
      <p:sp>
        <p:nvSpPr>
          <p:cNvPr id="17" name="Shape 9"/>
          <p:cNvSpPr/>
          <p:nvPr/>
        </p:nvSpPr>
        <p:spPr>
          <a:xfrm>
            <a:off x="685800" y="5166360"/>
            <a:ext cx="2834640" cy="457200"/>
          </a:xfrm>
          <a:prstGeom prst="roundRect">
            <a:avLst>
              <a:gd name="adj" fmla="val 44000"/>
            </a:avLst>
          </a:prstGeom>
          <a:solidFill>
            <a:srgbClr val="E2F2EA"/>
          </a:solidFill>
          <a:ln/>
        </p:spPr>
      </p:sp>
      <p:sp>
        <p:nvSpPr>
          <p:cNvPr id="18" name="Text 10"/>
          <p:cNvSpPr txBox="1"/>
          <p:nvPr/>
        </p:nvSpPr>
        <p:spPr>
          <a:xfrm>
            <a:off x="685800" y="5166360"/>
            <a:ext cx="2834640" cy="457200"/>
          </a:xfrm>
          <a:prstGeom prst="rect">
            <a:avLst/>
          </a:prstGeom>
          <a:noFill/>
          <a:ln/>
        </p:spPr>
        <p:txBody>
          <a:bodyPr wrap="square" lIns="0" tIns="0" rIns="0" bIns="0" rtlCol="0" anchor="ctr"/>
          <a:lstStyle/>
          <a:p>
            <a:pPr algn="ctr" indent="0" marL="0">
              <a:buNone/>
            </a:pPr>
            <a:r>
              <a:rPr lang="fr-FR" altLang="en-US" sz="1600" i="1" dirty="0">
                <a:solidFill>
                  <a:srgbClr val="1F7A50"/>
                </a:solidFill>
                <a:latin typeface="Calibri" pitchFamily="34" charset="0"/>
                <a:ea typeface="Calibri" pitchFamily="34" charset="-122"/>
                <a:cs typeface="Calibri" pitchFamily="34" charset="-120"/>
              </a:rPr>
              <a:t>créé à l'étape 4</a:t>
            </a:r>
            <a:endParaRPr lang="fr-FR" sz="1600" dirty="0"/>
          </a:p>
        </p:txBody>
      </p:sp>
      <p:sp>
        <p:nvSpPr>
          <p:cNvPr id="19" name="Shape 11"/>
          <p:cNvSpPr/>
          <p:nvPr/>
        </p:nvSpPr>
        <p:spPr>
          <a:xfrm>
            <a:off x="6629400" y="2011680"/>
            <a:ext cx="1828800" cy="384048"/>
          </a:xfrm>
          <a:prstGeom prst="roundRect">
            <a:avLst>
              <a:gd name="adj" fmla="val 50000"/>
            </a:avLst>
          </a:prstGeom>
          <a:solidFill>
            <a:srgbClr val="E6EDFA"/>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766560" y="2093976"/>
            <a:ext cx="219456" cy="219456"/>
          </a:xfrm>
          <a:prstGeom prst="rect">
            <a:avLst/>
          </a:prstGeom>
        </p:spPr>
      </p:pic>
      <p:sp>
        <p:nvSpPr>
          <p:cNvPr id="21" name="Text 12"/>
          <p:cNvSpPr txBox="1"/>
          <p:nvPr/>
        </p:nvSpPr>
        <p:spPr>
          <a:xfrm>
            <a:off x="7086600" y="2011680"/>
            <a:ext cx="1371600" cy="384048"/>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Mode plan</a:t>
            </a:r>
            <a:endParaRPr lang="fr-FR" sz="1600" dirty="0"/>
          </a:p>
        </p:txBody>
      </p:sp>
      <p:sp>
        <p:nvSpPr>
          <p:cNvPr id="22" name="Shape 13"/>
          <p:cNvSpPr/>
          <p:nvPr/>
        </p:nvSpPr>
        <p:spPr>
          <a:xfrm>
            <a:off x="3840480" y="2560320"/>
            <a:ext cx="4709160" cy="777240"/>
          </a:xfrm>
          <a:prstGeom prst="roundRect">
            <a:avLst>
              <a:gd name="adj" fmla="val 17647"/>
            </a:avLst>
          </a:prstGeom>
          <a:solidFill>
            <a:srgbClr val="F1F3F6"/>
          </a:solidFill>
          <a:ln/>
        </p:spPr>
      </p:sp>
      <p:sp>
        <p:nvSpPr>
          <p:cNvPr id="23" name="Text 14"/>
          <p:cNvSpPr txBox="1"/>
          <p:nvPr/>
        </p:nvSpPr>
        <p:spPr>
          <a:xfrm>
            <a:off x="4023360" y="2560320"/>
            <a:ext cx="4343400" cy="777240"/>
          </a:xfrm>
          <a:prstGeom prst="rect">
            <a:avLst/>
          </a:prstGeom>
          <a:noFill/>
          <a:ln/>
        </p:spPr>
        <p:txBody>
          <a:bodyPr wrap="square" lIns="0" tIns="0" rIns="0" bIns="0" rtlCol="0" anchor="ctr"/>
          <a:lstStyle/>
          <a:p>
            <a:pPr indent="0" marL="0">
              <a:buNone/>
            </a:pPr>
            <a:r>
              <a:rPr lang="fr-FR" altLang="en-US" sz="1600" dirty="0">
                <a:solidFill>
                  <a:srgbClr val="1B2233"/>
                </a:solidFill>
                <a:latin typeface="Calibri" pitchFamily="34" charset="0"/>
                <a:ea typeface="Calibri" pitchFamily="34" charset="-122"/>
                <a:cs typeface="Calibri" pitchFamily="34" charset="-120"/>
              </a:rPr>
              <a:t>Crée une skill charte-graphique à partir des fichiers de ce dossier.</a:t>
            </a:r>
            <a:endParaRPr lang="fr-FR" sz="1600" dirty="0"/>
          </a:p>
        </p:txBody>
      </p:sp>
      <p:sp>
        <p:nvSpPr>
          <p:cNvPr id="24" name="Shape 15"/>
          <p:cNvSpPr/>
          <p:nvPr/>
        </p:nvSpPr>
        <p:spPr>
          <a:xfrm>
            <a:off x="3840480" y="3520440"/>
            <a:ext cx="4709160" cy="2103120"/>
          </a:xfrm>
          <a:prstGeom prst="roundRect">
            <a:avLst>
              <a:gd name="adj" fmla="val 5217"/>
            </a:avLst>
          </a:prstGeom>
          <a:solidFill>
            <a:srgbClr val="FFFFFF"/>
          </a:solidFill>
          <a:ln w="19050">
            <a:solidFill>
              <a:srgbClr val="2F5FC4"/>
            </a:solidFill>
            <a:prstDash val="solid"/>
          </a:ln>
        </p:spPr>
      </p:sp>
      <p:sp>
        <p:nvSpPr>
          <p:cNvPr id="25" name="Text 16"/>
          <p:cNvSpPr txBox="1"/>
          <p:nvPr/>
        </p:nvSpPr>
        <p:spPr>
          <a:xfrm>
            <a:off x="4023360" y="3611880"/>
            <a:ext cx="4343400" cy="1920240"/>
          </a:xfrm>
          <a:prstGeom prst="rect">
            <a:avLst/>
          </a:prstGeom>
          <a:noFill/>
          <a:ln/>
        </p:spPr>
        <p:txBody>
          <a:bodyPr wrap="square" lIns="0" tIns="0" rIns="0" bIns="0" rtlCol="0" anchor="t"/>
          <a:lstStyle/>
          <a:p>
            <a:pPr indent="0" marL="0">
              <a:spcAft>
                <a:spcPts val="300"/>
              </a:spcAft>
              <a:buNone/>
            </a:pPr>
            <a:r>
              <a:rPr lang="fr-FR" altLang="en-US" sz="1600" b="1" dirty="0">
                <a:solidFill>
                  <a:srgbClr val="2F5FC4"/>
                </a:solidFill>
                <a:latin typeface="Calibri" pitchFamily="34" charset="0"/>
                <a:ea typeface="Calibri" pitchFamily="34" charset="-122"/>
                <a:cs typeface="Calibri" pitchFamily="34" charset="-120"/>
              </a:rPr>
              <a:t>Plan proposé</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Lire charte.pdf et exemple.pptx</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Créer charte-graphique/SKILL.md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Ajouter couleurs-typo.md</a:t>
            </a:r>
            <a:endParaRPr lang="fr-FR" sz="1600" dirty="0"/>
          </a:p>
          <a:p>
            <a:pPr marL="342900" indent="-342900">
              <a:spcAft>
                <a:spcPts val="300"/>
              </a:spcAft>
              <a:buSzPct val="100000"/>
              <a:buFont typeface="+mj-lt"/>
              <a:buAutoNum type="arabicPeriod" startAt="1"/>
            </a:pPr>
            <a:r>
              <a:rPr lang="fr-FR" altLang="en-US" sz="1600" dirty="0">
                <a:solidFill>
                  <a:srgbClr val="1B2233"/>
                </a:solidFill>
                <a:latin typeface="Calibri" pitchFamily="34" charset="0"/>
                <a:ea typeface="Calibri" pitchFamily="34" charset="-122"/>
                <a:cs typeface="Calibri" pitchFamily="34" charset="-120"/>
              </a:rPr>
              <a:t>Tester sur une diapo</a:t>
            </a:r>
            <a:endParaRPr lang="fr-FR" sz="1600" dirty="0"/>
          </a:p>
        </p:txBody>
      </p:sp>
      <p:sp>
        <p:nvSpPr>
          <p:cNvPr id="26" name="Shape 17"/>
          <p:cNvSpPr/>
          <p:nvPr/>
        </p:nvSpPr>
        <p:spPr>
          <a:xfrm>
            <a:off x="3840480" y="5760720"/>
            <a:ext cx="1737360" cy="438912"/>
          </a:xfrm>
          <a:prstGeom prst="roundRect">
            <a:avLst>
              <a:gd name="adj" fmla="val 50000"/>
            </a:avLst>
          </a:prstGeom>
          <a:solidFill>
            <a:srgbClr val="1F7A50"/>
          </a:solidFill>
          <a:ln/>
        </p:spPr>
      </p:sp>
      <p:sp>
        <p:nvSpPr>
          <p:cNvPr id="27" name="Text 18"/>
          <p:cNvSpPr txBox="1"/>
          <p:nvPr/>
        </p:nvSpPr>
        <p:spPr>
          <a:xfrm>
            <a:off x="3840480" y="5760720"/>
            <a:ext cx="1737360" cy="43891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Approuver</a:t>
            </a:r>
            <a:endParaRPr lang="fr-FR" sz="1600" dirty="0"/>
          </a:p>
        </p:txBody>
      </p:sp>
      <p:sp>
        <p:nvSpPr>
          <p:cNvPr id="28" name="Shape 19"/>
          <p:cNvSpPr/>
          <p:nvPr/>
        </p:nvSpPr>
        <p:spPr>
          <a:xfrm>
            <a:off x="5715000" y="5760720"/>
            <a:ext cx="2743200" cy="438912"/>
          </a:xfrm>
          <a:prstGeom prst="roundRect">
            <a:avLst>
              <a:gd name="adj" fmla="val 50000"/>
            </a:avLst>
          </a:prstGeom>
          <a:solidFill>
            <a:srgbClr val="FFFFFF"/>
          </a:solidFill>
          <a:ln w="12700">
            <a:solidFill>
              <a:srgbClr val="566070"/>
            </a:solidFill>
            <a:prstDash val="solid"/>
          </a:ln>
        </p:spPr>
      </p:sp>
      <p:sp>
        <p:nvSpPr>
          <p:cNvPr id="29" name="Text 20"/>
          <p:cNvSpPr txBox="1"/>
          <p:nvPr/>
        </p:nvSpPr>
        <p:spPr>
          <a:xfrm>
            <a:off x="5715000" y="5760720"/>
            <a:ext cx="2743200" cy="438912"/>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Continuer à planifier</a:t>
            </a:r>
            <a:endParaRPr lang="fr-FR" sz="1600" dirty="0"/>
          </a:p>
        </p:txBody>
      </p:sp>
      <p:sp>
        <p:nvSpPr>
          <p:cNvPr id="30" name="Shape 21"/>
          <p:cNvSpPr/>
          <p:nvPr/>
        </p:nvSpPr>
        <p:spPr>
          <a:xfrm>
            <a:off x="9052560" y="2148840"/>
            <a:ext cx="502920" cy="502920"/>
          </a:xfrm>
          <a:prstGeom prst="ellipse">
            <a:avLst/>
          </a:prstGeom>
          <a:solidFill>
            <a:srgbClr val="B8235A"/>
          </a:solidFill>
          <a:ln w="25400">
            <a:solidFill>
              <a:srgbClr val="FFFFFF"/>
            </a:solidFill>
            <a:prstDash val="solid"/>
          </a:ln>
        </p:spPr>
      </p:sp>
      <p:sp>
        <p:nvSpPr>
          <p:cNvPr id="31" name="Text 22"/>
          <p:cNvSpPr txBox="1"/>
          <p:nvPr/>
        </p:nvSpPr>
        <p:spPr>
          <a:xfrm>
            <a:off x="9052560" y="214884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32" name="Text 23"/>
          <p:cNvSpPr txBox="1"/>
          <p:nvPr/>
        </p:nvSpPr>
        <p:spPr>
          <a:xfrm>
            <a:off x="9692640" y="2057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J'ouvre le dossier</a:t>
            </a:r>
            <a:endParaRPr lang="fr-FR" sz="1800" dirty="0"/>
          </a:p>
        </p:txBody>
      </p:sp>
      <p:sp>
        <p:nvSpPr>
          <p:cNvPr id="33" name="Shape 24"/>
          <p:cNvSpPr/>
          <p:nvPr/>
        </p:nvSpPr>
        <p:spPr>
          <a:xfrm>
            <a:off x="9052560" y="3154680"/>
            <a:ext cx="502920" cy="502920"/>
          </a:xfrm>
          <a:prstGeom prst="ellipse">
            <a:avLst/>
          </a:prstGeom>
          <a:solidFill>
            <a:srgbClr val="B8235A"/>
          </a:solidFill>
          <a:ln w="25400">
            <a:solidFill>
              <a:srgbClr val="FFFFFF"/>
            </a:solidFill>
            <a:prstDash val="solid"/>
          </a:ln>
        </p:spPr>
      </p:sp>
      <p:sp>
        <p:nvSpPr>
          <p:cNvPr id="34" name="Text 25"/>
          <p:cNvSpPr txBox="1"/>
          <p:nvPr/>
        </p:nvSpPr>
        <p:spPr>
          <a:xfrm>
            <a:off x="9052560" y="315468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35" name="Text 26"/>
          <p:cNvSpPr txBox="1"/>
          <p:nvPr/>
        </p:nvSpPr>
        <p:spPr>
          <a:xfrm>
            <a:off x="9692640" y="306324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Mode plan + demande</a:t>
            </a:r>
            <a:endParaRPr lang="fr-FR" sz="1800" dirty="0"/>
          </a:p>
        </p:txBody>
      </p:sp>
      <p:sp>
        <p:nvSpPr>
          <p:cNvPr id="36" name="Shape 27"/>
          <p:cNvSpPr/>
          <p:nvPr/>
        </p:nvSpPr>
        <p:spPr>
          <a:xfrm>
            <a:off x="9052560" y="4160520"/>
            <a:ext cx="502920" cy="502920"/>
          </a:xfrm>
          <a:prstGeom prst="ellipse">
            <a:avLst/>
          </a:prstGeom>
          <a:solidFill>
            <a:srgbClr val="B8235A"/>
          </a:solidFill>
          <a:ln w="25400">
            <a:solidFill>
              <a:srgbClr val="FFFFFF"/>
            </a:solidFill>
            <a:prstDash val="solid"/>
          </a:ln>
        </p:spPr>
      </p:sp>
      <p:sp>
        <p:nvSpPr>
          <p:cNvPr id="37" name="Text 28"/>
          <p:cNvSpPr txBox="1"/>
          <p:nvPr/>
        </p:nvSpPr>
        <p:spPr>
          <a:xfrm>
            <a:off x="9052560" y="41605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38" name="Text 29"/>
          <p:cNvSpPr txBox="1"/>
          <p:nvPr/>
        </p:nvSpPr>
        <p:spPr>
          <a:xfrm>
            <a:off x="9692640" y="40690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Je relis le plan</a:t>
            </a:r>
            <a:endParaRPr lang="fr-FR" sz="1800" dirty="0"/>
          </a:p>
        </p:txBody>
      </p:sp>
      <p:sp>
        <p:nvSpPr>
          <p:cNvPr id="39" name="Shape 30"/>
          <p:cNvSpPr/>
          <p:nvPr/>
        </p:nvSpPr>
        <p:spPr>
          <a:xfrm>
            <a:off x="9052560" y="5166360"/>
            <a:ext cx="502920" cy="502920"/>
          </a:xfrm>
          <a:prstGeom prst="ellipse">
            <a:avLst/>
          </a:prstGeom>
          <a:solidFill>
            <a:srgbClr val="B8235A"/>
          </a:solidFill>
          <a:ln w="25400">
            <a:solidFill>
              <a:srgbClr val="FFFFFF"/>
            </a:solidFill>
            <a:prstDash val="solid"/>
          </a:ln>
        </p:spPr>
      </p:sp>
      <p:sp>
        <p:nvSpPr>
          <p:cNvPr id="40" name="Text 31"/>
          <p:cNvSpPr txBox="1"/>
          <p:nvPr/>
        </p:nvSpPr>
        <p:spPr>
          <a:xfrm>
            <a:off x="9052560" y="516636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41" name="Text 32"/>
          <p:cNvSpPr txBox="1"/>
          <p:nvPr/>
        </p:nvSpPr>
        <p:spPr>
          <a:xfrm>
            <a:off x="9692640" y="507492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J'approuve, je teste</a:t>
            </a:r>
            <a:endParaRPr lang="fr-FR" sz="1800" dirty="0"/>
          </a:p>
        </p:txBody>
      </p:sp>
      <p:sp>
        <p:nvSpPr>
          <p:cNvPr id="42" name="Text 3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3" name="Text 3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21</a:t>
            </a:r>
            <a:endParaRPr lang="fr-F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1097280" y="3154680"/>
            <a:ext cx="9997135" cy="0"/>
          </a:xfrm>
          <a:prstGeom prst="line">
            <a:avLst/>
          </a:prstGeom>
          <a:noFill/>
          <a:ln w="50800">
            <a:solidFill>
              <a:srgbClr val="D5D9E0"/>
            </a:solidFill>
            <a:prstDash val="solid"/>
          </a:ln>
        </p:spPr>
      </p:sp>
      <p:sp>
        <p:nvSpPr>
          <p:cNvPr id="4" name="Shape 2"/>
          <p:cNvSpPr/>
          <p:nvPr/>
        </p:nvSpPr>
        <p:spPr>
          <a:xfrm>
            <a:off x="914400" y="2514600"/>
            <a:ext cx="1280160" cy="1280160"/>
          </a:xfrm>
          <a:prstGeom prst="ellipse">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34440" y="2834640"/>
            <a:ext cx="640080" cy="640080"/>
          </a:xfrm>
          <a:prstGeom prst="rect">
            <a:avLst/>
          </a:prstGeom>
        </p:spPr>
      </p:pic>
      <p:sp>
        <p:nvSpPr>
          <p:cNvPr id="6" name="Text 3"/>
          <p:cNvSpPr txBox="1"/>
          <p:nvPr/>
        </p:nvSpPr>
        <p:spPr>
          <a:xfrm>
            <a:off x="548640"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7" name="Text 4"/>
          <p:cNvSpPr txBox="1"/>
          <p:nvPr/>
        </p:nvSpPr>
        <p:spPr>
          <a:xfrm>
            <a:off x="457200"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Repérer</a:t>
            </a:r>
            <a:endParaRPr lang="fr-FR" sz="2600" dirty="0"/>
          </a:p>
        </p:txBody>
      </p:sp>
      <p:sp>
        <p:nvSpPr>
          <p:cNvPr id="8" name="Text 5"/>
          <p:cNvSpPr txBox="1"/>
          <p:nvPr/>
        </p:nvSpPr>
        <p:spPr>
          <a:xfrm>
            <a:off x="457200"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9" name="Shape 6"/>
          <p:cNvSpPr/>
          <p:nvPr/>
        </p:nvSpPr>
        <p:spPr>
          <a:xfrm>
            <a:off x="3185084" y="2514600"/>
            <a:ext cx="1280160" cy="1280160"/>
          </a:xfrm>
          <a:prstGeom prst="ellipse">
            <a:avLst/>
          </a:prstGeom>
          <a:solidFill>
            <a:srgbClr val="1B2233"/>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05124" y="2834640"/>
            <a:ext cx="640080" cy="640080"/>
          </a:xfrm>
          <a:prstGeom prst="rect">
            <a:avLst/>
          </a:prstGeom>
        </p:spPr>
      </p:pic>
      <p:sp>
        <p:nvSpPr>
          <p:cNvPr id="11" name="Text 7"/>
          <p:cNvSpPr txBox="1"/>
          <p:nvPr/>
        </p:nvSpPr>
        <p:spPr>
          <a:xfrm>
            <a:off x="2819324"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2" name="Text 8"/>
          <p:cNvSpPr txBox="1"/>
          <p:nvPr/>
        </p:nvSpPr>
        <p:spPr>
          <a:xfrm>
            <a:off x="2727884"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Décrire</a:t>
            </a:r>
            <a:endParaRPr lang="fr-FR" sz="2600" dirty="0"/>
          </a:p>
        </p:txBody>
      </p:sp>
      <p:sp>
        <p:nvSpPr>
          <p:cNvPr id="13" name="Text 9"/>
          <p:cNvSpPr txBox="1"/>
          <p:nvPr/>
        </p:nvSpPr>
        <p:spPr>
          <a:xfrm>
            <a:off x="2727884"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4" name="Shape 10"/>
          <p:cNvSpPr/>
          <p:nvPr/>
        </p:nvSpPr>
        <p:spPr>
          <a:xfrm>
            <a:off x="5455768" y="2514600"/>
            <a:ext cx="1280160" cy="1280160"/>
          </a:xfrm>
          <a:prstGeom prst="ellipse">
            <a:avLst/>
          </a:prstGeom>
          <a:solidFill>
            <a:srgbClr val="B8235A"/>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75808" y="2834640"/>
            <a:ext cx="640080" cy="640080"/>
          </a:xfrm>
          <a:prstGeom prst="rect">
            <a:avLst/>
          </a:prstGeom>
        </p:spPr>
      </p:pic>
      <p:sp>
        <p:nvSpPr>
          <p:cNvPr id="16" name="Text 11"/>
          <p:cNvSpPr txBox="1"/>
          <p:nvPr/>
        </p:nvSpPr>
        <p:spPr>
          <a:xfrm>
            <a:off x="5090008"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7" name="Text 12"/>
          <p:cNvSpPr txBox="1"/>
          <p:nvPr/>
        </p:nvSpPr>
        <p:spPr>
          <a:xfrm>
            <a:off x="4998568"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Générer</a:t>
            </a:r>
            <a:endParaRPr lang="fr-FR" sz="2600" dirty="0"/>
          </a:p>
        </p:txBody>
      </p:sp>
      <p:sp>
        <p:nvSpPr>
          <p:cNvPr id="18" name="Text 13"/>
          <p:cNvSpPr txBox="1"/>
          <p:nvPr/>
        </p:nvSpPr>
        <p:spPr>
          <a:xfrm>
            <a:off x="4998568"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Claude rédige</a:t>
            </a:r>
            <a:endParaRPr lang="fr-FR" sz="1700" dirty="0"/>
          </a:p>
        </p:txBody>
      </p:sp>
      <p:sp>
        <p:nvSpPr>
          <p:cNvPr id="19" name="Shape 14"/>
          <p:cNvSpPr/>
          <p:nvPr/>
        </p:nvSpPr>
        <p:spPr>
          <a:xfrm>
            <a:off x="7726451" y="2514600"/>
            <a:ext cx="1280160" cy="1280160"/>
          </a:xfrm>
          <a:prstGeom prst="ellipse">
            <a:avLst/>
          </a:prstGeom>
          <a:solidFill>
            <a:srgbClr val="1B2233"/>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046491" y="2834640"/>
            <a:ext cx="640080" cy="640080"/>
          </a:xfrm>
          <a:prstGeom prst="rect">
            <a:avLst/>
          </a:prstGeom>
        </p:spPr>
      </p:pic>
      <p:sp>
        <p:nvSpPr>
          <p:cNvPr id="21" name="Text 15"/>
          <p:cNvSpPr txBox="1"/>
          <p:nvPr/>
        </p:nvSpPr>
        <p:spPr>
          <a:xfrm>
            <a:off x="7360691"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22" name="Text 16"/>
          <p:cNvSpPr txBox="1"/>
          <p:nvPr/>
        </p:nvSpPr>
        <p:spPr>
          <a:xfrm>
            <a:off x="7269251"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Tester</a:t>
            </a:r>
            <a:endParaRPr lang="fr-FR" sz="2600" dirty="0"/>
          </a:p>
        </p:txBody>
      </p:sp>
      <p:sp>
        <p:nvSpPr>
          <p:cNvPr id="23" name="Text 17"/>
          <p:cNvSpPr txBox="1"/>
          <p:nvPr/>
        </p:nvSpPr>
        <p:spPr>
          <a:xfrm>
            <a:off x="7269251"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4" name="Shape 18"/>
          <p:cNvSpPr/>
          <p:nvPr/>
        </p:nvSpPr>
        <p:spPr>
          <a:xfrm>
            <a:off x="9997135" y="2514600"/>
            <a:ext cx="1280160" cy="1280160"/>
          </a:xfrm>
          <a:prstGeom prst="ellipse">
            <a:avLst/>
          </a:prstGeom>
          <a:solidFill>
            <a:srgbClr val="1B2233"/>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0317175" y="2834640"/>
            <a:ext cx="640080" cy="640080"/>
          </a:xfrm>
          <a:prstGeom prst="rect">
            <a:avLst/>
          </a:prstGeom>
        </p:spPr>
      </p:pic>
      <p:sp>
        <p:nvSpPr>
          <p:cNvPr id="26" name="Text 19"/>
          <p:cNvSpPr txBox="1"/>
          <p:nvPr/>
        </p:nvSpPr>
        <p:spPr>
          <a:xfrm>
            <a:off x="9631375" y="2011680"/>
            <a:ext cx="2011680" cy="41148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7" name="Text 20"/>
          <p:cNvSpPr txBox="1"/>
          <p:nvPr/>
        </p:nvSpPr>
        <p:spPr>
          <a:xfrm>
            <a:off x="9539935" y="3977640"/>
            <a:ext cx="2194560" cy="548640"/>
          </a:xfrm>
          <a:prstGeom prst="rect">
            <a:avLst/>
          </a:prstGeom>
          <a:noFill/>
          <a:ln/>
        </p:spPr>
        <p:txBody>
          <a:bodyPr wrap="square" lIns="0" tIns="0" rIns="0" bIns="0" rtlCol="0" anchor="t"/>
          <a:lstStyle/>
          <a:p>
            <a:pPr algn="ctr" indent="0" marL="0">
              <a:buNone/>
            </a:pPr>
            <a:r>
              <a:rPr lang="fr-FR" altLang="en-US" sz="2600" b="1" dirty="0">
                <a:solidFill>
                  <a:srgbClr val="1B2233"/>
                </a:solidFill>
                <a:latin typeface="Calibri" pitchFamily="34" charset="0"/>
                <a:ea typeface="Calibri" pitchFamily="34" charset="-122"/>
                <a:cs typeface="Calibri" pitchFamily="34" charset="-120"/>
              </a:rPr>
              <a:t>Ajuster</a:t>
            </a:r>
            <a:endParaRPr lang="fr-FR" sz="2600" dirty="0"/>
          </a:p>
        </p:txBody>
      </p:sp>
      <p:sp>
        <p:nvSpPr>
          <p:cNvPr id="28" name="Text 21"/>
          <p:cNvSpPr txBox="1"/>
          <p:nvPr/>
        </p:nvSpPr>
        <p:spPr>
          <a:xfrm>
            <a:off x="9539935" y="4526280"/>
            <a:ext cx="2194560" cy="822960"/>
          </a:xfrm>
          <a:prstGeom prst="rect">
            <a:avLst/>
          </a:prstGeom>
          <a:noFill/>
          <a:ln/>
        </p:spPr>
        <p:txBody>
          <a:bodyPr wrap="square" lIns="0" tIns="0" rIns="0" bIns="0" rtlCol="0" anchor="t"/>
          <a:lstStyle/>
          <a:p>
            <a:pPr algn="ct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sp>
        <p:nvSpPr>
          <p:cNvPr id="29" name="Shape 22"/>
          <p:cNvSpPr/>
          <p:nvPr/>
        </p:nvSpPr>
        <p:spPr>
          <a:xfrm>
            <a:off x="6492240" y="5623560"/>
            <a:ext cx="5029200" cy="548640"/>
          </a:xfrm>
          <a:prstGeom prst="roundRect">
            <a:avLst>
              <a:gd name="adj" fmla="val 50000"/>
            </a:avLst>
          </a:prstGeom>
          <a:solidFill>
            <a:srgbClr val="FBE7EF"/>
          </a:solidFill>
          <a:ln/>
        </p:spPr>
      </p:sp>
      <p:pic>
        <p:nvPicPr>
          <p:cNvPr id="30"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5742432"/>
            <a:ext cx="310896" cy="310896"/>
          </a:xfrm>
          <a:prstGeom prst="rect">
            <a:avLst/>
          </a:prstGeom>
        </p:spPr>
      </p:pic>
      <p:sp>
        <p:nvSpPr>
          <p:cNvPr id="31" name="Text 23"/>
          <p:cNvSpPr txBox="1"/>
          <p:nvPr/>
        </p:nvSpPr>
        <p:spPr>
          <a:xfrm>
            <a:off x="7178040" y="5623560"/>
            <a:ext cx="4297680" cy="548640"/>
          </a:xfrm>
          <a:prstGeom prst="rect">
            <a:avLst/>
          </a:prstGeom>
          <a:noFill/>
          <a:ln/>
        </p:spPr>
        <p:txBody>
          <a:bodyPr wrap="square" lIns="0" tIns="0" rIns="0" bIns="0" rtlCol="0" anchor="ctr"/>
          <a:lstStyle/>
          <a:p>
            <a:pPr indent="0" marL="0">
              <a:buNone/>
            </a:pPr>
            <a:r>
              <a:rPr lang="fr-FR" altLang="en-US" sz="1700" b="1" dirty="0">
                <a:solidFill>
                  <a:srgbClr val="B8235A"/>
                </a:solidFill>
                <a:latin typeface="Calibri" pitchFamily="34" charset="0"/>
                <a:ea typeface="Calibri" pitchFamily="34" charset="-122"/>
                <a:cs typeface="Calibri" pitchFamily="34" charset="-120"/>
              </a:rPr>
              <a:t>On boucle 2 ou 3 fois : c'est normal</a:t>
            </a:r>
            <a:endParaRPr lang="fr-FR" sz="1700" dirty="0"/>
          </a:p>
        </p:txBody>
      </p:sp>
      <p:sp>
        <p:nvSpPr>
          <p:cNvPr id="32" name="Text 2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3" name="Text 2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Avec plaisir ! Trois questions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 · skill prête</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Enregistrer</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B8235A"/>
        </a:solidFill>
      </p:bgPr>
    </p:bg>
    <p:spTree>
      <p:nvGrpSpPr>
        <p:cNvPr id="1" name=""/>
        <p:cNvGrpSpPr/>
        <p:nvPr/>
      </p:nvGrpSpPr>
      <p:grpSpPr>
        <a:xfrm>
          <a:off x="0" y="0"/>
          <a:ext cx="0" cy="0"/>
          <a:chOff x="0" y="0"/>
          <a:chExt cx="0" cy="0"/>
        </a:xfrm>
      </p:grpSpPr>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Télécharger le .zip et l'envoyer</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levez votre carton !</a:t>
            </a:r>
            <a:endParaRPr lang="fr-FR" sz="4800" dirty="0"/>
          </a:p>
        </p:txBody>
      </p:sp>
      <p:sp>
        <p:nvSpPr>
          <p:cNvPr id="3" name="Shape 1"/>
          <p:cNvSpPr/>
          <p:nvPr/>
        </p:nvSpPr>
        <p:spPr>
          <a:xfrm>
            <a:off x="1737360" y="2377440"/>
            <a:ext cx="1828800" cy="1828800"/>
          </a:xfrm>
          <a:prstGeom prst="roundRect">
            <a:avLst>
              <a:gd name="adj" fmla="val 6000"/>
            </a:avLst>
          </a:prstGeom>
          <a:solidFill>
            <a:srgbClr val="C8373B"/>
          </a:solidFill>
          <a:ln/>
        </p:spPr>
      </p:sp>
      <p:sp>
        <p:nvSpPr>
          <p:cNvPr id="4" name="Text 2"/>
          <p:cNvSpPr txBox="1"/>
          <p:nvPr/>
        </p:nvSpPr>
        <p:spPr>
          <a:xfrm>
            <a:off x="173736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A</a:t>
            </a:r>
            <a:endParaRPr lang="fr-FR" sz="6800" dirty="0"/>
          </a:p>
        </p:txBody>
      </p:sp>
      <p:sp>
        <p:nvSpPr>
          <p:cNvPr id="5" name="Shape 3"/>
          <p:cNvSpPr/>
          <p:nvPr/>
        </p:nvSpPr>
        <p:spPr>
          <a:xfrm>
            <a:off x="4069080" y="2377440"/>
            <a:ext cx="1828800" cy="1828800"/>
          </a:xfrm>
          <a:prstGeom prst="roundRect">
            <a:avLst>
              <a:gd name="adj" fmla="val 6000"/>
            </a:avLst>
          </a:prstGeom>
          <a:solidFill>
            <a:srgbClr val="2F5FC4"/>
          </a:solidFill>
          <a:ln/>
        </p:spPr>
      </p:sp>
      <p:sp>
        <p:nvSpPr>
          <p:cNvPr id="6" name="Text 4"/>
          <p:cNvSpPr txBox="1"/>
          <p:nvPr/>
        </p:nvSpPr>
        <p:spPr>
          <a:xfrm>
            <a:off x="406908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B</a:t>
            </a:r>
            <a:endParaRPr lang="fr-FR" sz="6800" dirty="0"/>
          </a:p>
        </p:txBody>
      </p:sp>
      <p:sp>
        <p:nvSpPr>
          <p:cNvPr id="7" name="Shape 5"/>
          <p:cNvSpPr/>
          <p:nvPr/>
        </p:nvSpPr>
        <p:spPr>
          <a:xfrm>
            <a:off x="6400800" y="2377440"/>
            <a:ext cx="1828800" cy="1828800"/>
          </a:xfrm>
          <a:prstGeom prst="roundRect">
            <a:avLst>
              <a:gd name="adj" fmla="val 6000"/>
            </a:avLst>
          </a:prstGeom>
          <a:solidFill>
            <a:srgbClr val="1F7A50"/>
          </a:solidFill>
          <a:ln/>
        </p:spPr>
      </p:sp>
      <p:sp>
        <p:nvSpPr>
          <p:cNvPr id="8" name="Text 6"/>
          <p:cNvSpPr txBox="1"/>
          <p:nvPr/>
        </p:nvSpPr>
        <p:spPr>
          <a:xfrm>
            <a:off x="640080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FFFFFF"/>
                </a:solidFill>
                <a:latin typeface="Calibri" pitchFamily="34" charset="0"/>
                <a:ea typeface="Calibri" pitchFamily="34" charset="-122"/>
                <a:cs typeface="Calibri" pitchFamily="34" charset="-120"/>
              </a:rPr>
              <a:t>C</a:t>
            </a:r>
            <a:endParaRPr lang="fr-FR" sz="6800" dirty="0"/>
          </a:p>
        </p:txBody>
      </p:sp>
      <p:sp>
        <p:nvSpPr>
          <p:cNvPr id="9" name="Shape 7"/>
          <p:cNvSpPr/>
          <p:nvPr/>
        </p:nvSpPr>
        <p:spPr>
          <a:xfrm>
            <a:off x="8732520" y="2377440"/>
            <a:ext cx="1828800" cy="1828800"/>
          </a:xfrm>
          <a:prstGeom prst="roundRect">
            <a:avLst>
              <a:gd name="adj" fmla="val 6000"/>
            </a:avLst>
          </a:prstGeom>
          <a:solidFill>
            <a:srgbClr val="E8B21E"/>
          </a:solidFill>
          <a:ln/>
        </p:spPr>
      </p:sp>
      <p:sp>
        <p:nvSpPr>
          <p:cNvPr id="10" name="Text 8"/>
          <p:cNvSpPr txBox="1"/>
          <p:nvPr/>
        </p:nvSpPr>
        <p:spPr>
          <a:xfrm>
            <a:off x="8732520" y="2377440"/>
            <a:ext cx="1828800" cy="1828800"/>
          </a:xfrm>
          <a:prstGeom prst="rect">
            <a:avLst/>
          </a:prstGeom>
          <a:noFill/>
          <a:ln/>
        </p:spPr>
        <p:txBody>
          <a:bodyPr wrap="square" lIns="0" tIns="0" rIns="0" bIns="0" rtlCol="0" anchor="ctr"/>
          <a:lstStyle/>
          <a:p>
            <a:pPr algn="ctr" indent="0" marL="0">
              <a:buNone/>
            </a:pPr>
            <a:r>
              <a:rPr lang="fr-FR" altLang="en-US" sz="6800" b="1" dirty="0">
                <a:solidFill>
                  <a:srgbClr val="1B2233"/>
                </a:solidFill>
                <a:latin typeface="Calibri" pitchFamily="34" charset="0"/>
                <a:ea typeface="Calibri" pitchFamily="34" charset="-122"/>
                <a:cs typeface="Calibri" pitchFamily="34" charset="-120"/>
              </a:rPr>
              <a:t>D</a:t>
            </a:r>
            <a:endParaRPr lang="fr-FR" sz="6800" dirty="0"/>
          </a:p>
        </p:txBody>
      </p:sp>
      <p:sp>
        <p:nvSpPr>
          <p:cNvPr id="11" name="Text 9"/>
          <p:cNvSpPr txBox="1"/>
          <p:nvPr/>
        </p:nvSpPr>
        <p:spPr>
          <a:xfrm>
            <a:off x="457200" y="4663440"/>
            <a:ext cx="11277295" cy="548640"/>
          </a:xfrm>
          <a:prstGeom prst="rect">
            <a:avLst/>
          </a:prstGeom>
          <a:noFill/>
          <a:ln/>
        </p:spPr>
        <p:txBody>
          <a:bodyPr wrap="square" lIns="0" tIns="0" rIns="0" bIns="0" rtlCol="0" anchor="t"/>
          <a:lstStyle/>
          <a:p>
            <a:pPr algn="ctr" indent="0" marL="0">
              <a:buNone/>
            </a:pPr>
            <a:r>
              <a:rPr lang="fr-FR" altLang="en-US" sz="2600" dirty="0">
                <a:solidFill>
                  <a:srgbClr val="C9CFDA"/>
                </a:solidFill>
                <a:latin typeface="Calibri" pitchFamily="34" charset="0"/>
                <a:ea typeface="Calibri" pitchFamily="34" charset="-122"/>
                <a:cs typeface="Calibri" pitchFamily="34" charset="-120"/>
              </a:rPr>
              <a:t>8 questions · « 1, 2, 3, cartons ! »</a:t>
            </a:r>
            <a:endParaRPr lang="fr-FR" sz="2600" dirty="0"/>
          </a:p>
        </p:txBody>
      </p:sp>
      <p:sp>
        <p:nvSpPr>
          <p:cNvPr id="12" name="Text 10"/>
          <p:cNvSpPr txBox="1"/>
          <p:nvPr/>
        </p:nvSpPr>
        <p:spPr>
          <a:xfrm>
            <a:off x="457200" y="5257800"/>
            <a:ext cx="11277295" cy="457200"/>
          </a:xfrm>
          <a:prstGeom prst="rect">
            <a:avLst/>
          </a:prstGeom>
          <a:noFill/>
          <a:ln/>
        </p:spPr>
        <p:txBody>
          <a:bodyPr wrap="square" lIns="0" tIns="0" rIns="0" bIns="0" rtlCol="0" anchor="t"/>
          <a:lstStyle/>
          <a:p>
            <a:pPr algn="ctr" indent="0" marL="0">
              <a:buNone/>
            </a:pPr>
            <a:r>
              <a:rPr lang="fr-FR" altLang="en-US" sz="2000" i="1" dirty="0">
                <a:solidFill>
                  <a:srgbClr val="AEB5C2"/>
                </a:solidFill>
                <a:latin typeface="Calibri" pitchFamily="34" charset="0"/>
                <a:ea typeface="Calibri" pitchFamily="34" charset="-122"/>
                <a:cs typeface="Calibri" pitchFamily="34" charset="-120"/>
              </a:rPr>
              <a:t>Pas de carton ? 1 à 4 doigts.</a:t>
            </a:r>
            <a:endParaRPr lang="fr-FR" sz="2000" dirty="0"/>
          </a:p>
        </p:txBody>
      </p:sp>
      <p:sp>
        <p:nvSpPr>
          <p:cNvPr id="13"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14"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30</a:t>
            </a:r>
            <a:endParaRPr lang="fr-FR"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8</a:t>
            </a:r>
            <a:endParaRPr lang="fr-FR" sz="2000" dirty="0"/>
          </a:p>
        </p:txBody>
      </p:sp>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cartons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2026-09-23T08:55:44Z</dcterms:created>
  <dcterms:modified xsi:type="dcterms:W3CDTF">2026-09-23T08:55:44Z</dcterms:modified>
</cp:coreProperties>
</file>