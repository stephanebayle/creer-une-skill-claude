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où vous répondrez à voix haute,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un quiz, à l'oral.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Vérifiez au passage que skill-creator est activée : c'est la skill d'Anthropic sur laquelle Claude s'appuie pour vous aider à créer les vôtres.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Pour Claude Code, un point de plus : l'en-tête d'une skill peut contenir une ligne allowed-tools qui autorise d'avance certaines commandes sans rien vous demander. Si vous la voyez, lisez-la avec attention.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vous remet un fichier de skill à enregistrer. Cowork, c'est le mode où Claude travaille dans vos dossiers et produit de vrais fichiers. Petite actualité : Chat et Cowork ont fusionné. Il n'y a plus qu'un seul Claude, qui converse et qui agit dans vos dossiers selon ce que vous lui demandez ; on garde ici les deux noms pour distinguer les deux façons de travailler. Rien ne s'est perdu dans la fusion : vos skills, projets et connecteurs ont suivi.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Attention, la synchronisation va dans un seul sens : une skill créée dans Claude Code reste dans son dossier, et n'apparaît pas dans Chat ou Cowork tant qu'on ne l'a pas importée dans le compte.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il vous remet un fichier de skill, qu'il suffit d'enregistrer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pour travailler sur vos dossiers, et il faut autoriser l'accès à chaque dossier.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C'est vous qui réglez le niveau de contrôle. Attention : sur les offres Pro, Max et Team, Claude Code démarre en mode auto, où un second modèle vérifie les actions à votre place sans vous demander. Pour une première fois, passez en mode Manuel : Claude demande alors avant chaque modification ou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Deux façons d'entrer en mode plan : commencer son message par /plan, ou, dans l'application de bureau, choisir « Plan » dans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Il s'appuie pour cela sur skill-creator, la skill d'Anthropic qui fabrique les skills : elle lui fait poser les bonnes questions, puis rédiger un SKILL.md conforme aux bonnes pratiques. Répondez-lui franchement. Quatre : tester, dans une nouvelle conversation, avec une demande naturelle, sans nommer la skill. Préparez trois demandes : deux qui doivent déclencher la skill, et une qui ne doit pas (par exemple « résume cet article » pour une skill de compte rendu). La mention « Using… » dans la réflexion de Claude indique si la skill a servi. Choisissez des demandes réalistes et un peu substantielles : Claude ne consulte pas une skill pour une tâche qu'il sait faire seul en une étape (« lis ce fichier »), même si la description correspond. Comparez aussi avec le résultat obtenu sans la skill : c'est ce qui prouve qu'elle apporte quelque chose. Anthropic résume la méthode ainsi : on conçoit avec un premier Claude, on teste avec un second dans une conversation neuve, et on rapporte au premier ce qu'on a observé.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skill-creator, l'outil central de la création de skills, et sa boucle de travail.
TIMING — 2:00
Quand vous demandez à Claude de créer une skill, il ne part pas de zéro : il ouvre skill-creator, une skill écrite par Anthropic dont le métier est… de fabriquer des skills. C'est elle qui donne la méthode. Un : comprendre, avec quatre questions : que doit faire la skill, quand doit-elle se déclencher (avec quels mots vous la demandez), quel format de résultat, et faut-il prévoir des tests. Elle creuse ensuite les cas particuliers et vous demande des exemples. Deux : rédiger le SKILL.md, en appliquant les bonnes pratiques (description précise, texte concis, fichiers annexes si besoin). Trois : tester sur deux ou trois demandes réalistes, celles que vous feriez vraiment. Quatre : comparer le résultat avec et sans la skill, pour vérifier qu'elle apporte quelque chose. Cinq : améliorer à partir de vos retours ; skill-creator cherche à généraliser plutôt qu'à coller à vos exemples. Six : affiner la description, en la testant sur une vingtaine de demandes, dont certaines ne doivent PAS déclencher la skill. À la fin, elle empaquette le tout en un fichier .skill : dans Claude, la carte du fichier affiche un bouton « Save skill » qui l'installe dans votre profil, si votre organisation l'autorise. Elle sait aussi améliorer une skill existante, en gardant son nom. Retenez : pour créer une skill, on ne demande pas « écris-moi un fichier », on dit « aide-moi à créer une skill », et skill-creator prend la main.
QUESTION À LA SALLE — Laquelle de ces six étapes sauteriez-vous spontanément si vous faisiez seul ? (Souvent : comparer et affiner la description.)
TRANSITION — Mais skill-creator ne fait pas tout partout. Voyons ce qui change selon la porte.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que skill-creator est plus complète dans Cowork et Code, et en faire un argument pour oser Code.
TIMING — 1:30
skill-creator s'adapte à l'endroit où elle tourne, et ses propres instructions le disent. Dans Chat, elle fait l'essentiel : l'entretien, la rédaction, et des tests qu'elle exécute elle-même, un par un. En revanche, elle n'y compare pas les résultats avec et sans la skill, elle présente les résultats dans la conversation, et elle ne peut pas affiner automatiquement la description, qui demande l'outil en ligne de commande de Claude Code. Dans Cowork et dans Claude Code, elle peut lancer les tests en parallèle, les comparer à une version sans skill, vous ouvrir une page de résultats à relire et commenter, et optimiser la description sur une vingtaine de demandes. Conclusion pratique : pour une première skill simple, Chat suffit. Pour une skill qui compte, que toute une équipe va utiliser, passez par Cowork ou Code : vous aurez la version complète de la méthode. Dans Claude Code, si skill-creator n'est pas déjà disponible via votre compte, on l'installe avec le plugin d'exemples du dépôt anthropics/skills (commandes dans la fiche B8).
TRANSITION — Entre Cowork et Code, justement : pour une skill, où est la différence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Distinguer Cowork et Code pour la création de skills : où vit la skill, ce que chacun permet, comment on partage.
TIMING — 2:00
Cowork et Code savent tous deux créer une skill avec la méthode complète de skill-creator. La vraie différence, c'est l'endroit où la skill vit. Dans Cowork, elle vit dans votre compte Claude : skill-creator vous remet un fichier .skill, vous cliquez sur « Save skill », et elle est disponible partout où vous êtes connecté, dans Chat, dans Cowork et même dans Claude Code. Dans Code, la skill est un simple dossier, rangé dans .claude/skills du projet ou dans votre dossier personnel : rien à importer, elle marche tout de suite, mais seulement dans Claude Code. La synchronisation va du compte vers Code, jamais dans l'autre sens : pour l'avoir aussi dans Cowork, on compresse le dossier et on l'importe dans le compte. Deuxième différence : Code sait faire des choses que Cowork ne sait pas. Une skill écrite pour Code peut recevoir des paramètres (par exemple /compte-rendu réunion-du-12), lancer une commande pour récupérer des données fraîches avant de démarrer, ou être réservée à un lancement manuel, pour une action sensible. On y a aussi le mode plan, l'historique des versions et la relecture de chaque modification. Troisième différence, le partage : dans Cowork, on publie la skill dans l'organisation (offres Team et Enterprise) ; dans Code, on la range dans le dépôt Git du projet, et toute l'équipe l'obtient avec le projet. Un détail pratique pour la relecture des tests : dans Cowork, skill-creator produit une page de résultats à ouvrir soi-même ; dans Code, elle s'ouvre directement. En pratique : une skill métier pour tous, utilisée dans l'interface de Claude, c'est Cowork. Une skill qu'on veut versionner, faire relire ou partager avec une équipe technique, c'est Code. Et le meilleur des deux mondes : créer et tester dans Code, puis importer le fichier .skill dans le compte pour que tout le monde en profite.
QUESTION À LA SALLE — Pour la skill que vous avez en tête : qui doit l'utiliser, et où ? Cela vous dit déjà quelle porte choisir.
TRANSITION — Voyons maintenant skill-creator à l'œuvre.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ouvre skill-creator : montrez à la salle la mention correspondante dans sa réflexion. Il pose les questions de la méthode : que doit faire la skill, quand la déclencher, quel format, qui lit ces comptes rendus, avez-vous un exemple ? Répondez, collez un ancien compte rendu réussi. Claude rédige le SKILL.md et vous le montre : faites lire la description à voix haute à la salle. Il propose ensuite deux ou trois demandes test : acceptez-les, c'est l'étape que tout le monde oublie. Puis il empaquette le tout en un fichier .skill : cliquez sur « Save skill » sur la carte du fichier (si ce bouton n'apparaît pas, par exemple parce que l'organisation ne l'autorise pas, téléchargez le fichier et importez-le avec le bouton « + »), puis vérifiez qu'il est activé dans la liste des skills (Personnaliser › Skills, ou Paramètres › Capacités selon l'interface). Enfin, testez : ouvrez une nouvelle conversation, collez des notes en vrac et dites simplement « tu peux m'en faire un compte rendu ? ». La skill doit se déclencher seule : on le voit à la mention « Using compte-rendu » (utilisation de la skill) dans la réflexion de Claude. Montrez cet indice à la salle, c'est le meilleur moyen de savoir si une skill a été utilisée.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Écrivez-la comme la notice d'un outil, à la troisième personne (« Rédige… », pas « Je peux t'aider à… »), avec les mots que vos collègues emploient vraiment pour demander cette tâche. Deuxième secret : un exemple réussi vaut dix consignes. Claude imite très bien : donnez-lui un vrai compte rendu que vous aimez. Et dosez la liberté : des consignes souples pour une tâche de jugement (un compte rendu, un mail), des consignes strictes, voire un petit script, quand le résultat doit être identique à chaque fois (une charte graphique, un calcul). Troisième secret : une skill, une tâche. Mieux vaut trois petites skills claires qu'une grosse skill « tout-en-un » que Claude ne saura pas quand déclencher. Et restez concis : Claude est déjà très compétent, n'expliquez que ce qu'il ne peut pas deviner (votre format, vos règles, vos exemples). Si la skill grossit, gardez le SKILL.md court (moins de 500 lignes selon Anthropic) et rangez le détail dans des fichiers annexes que le SKILL.md cite directement, en disant quand les lire. Deux règles de forme : la description tient en 200 caractères maximum dans Claude, et le nom s'écrit en minuscules avec des tirets, sans les mots « claude » ni « anthropic ».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le fichier de skill et vous l'enregistrez dans votre compte.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on envoie le fichier de la skill (celui que Claude vous a remis à la création, ou un .zip du dossier ; selon la version, le menu de la skill propose aussi de la télécharger, à vérifier le jour J).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Place au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orale et en poser la règle.
TIMING — 0:30
Neuf questions, à l'oral. Je lis la question et les quatre réponses, je vous laisse quelques secondes de réflexion, puis vous répondez à voix haute : il suffit de dire la lettre. Pas de honte à se tromper : c'est justement ce qui nous intéresse. Quand les avis sont partagés, je demande à quelqu'un de défendre sa réponse avant de révéler la bonne.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le nom et la description de chaque skill activée, et c'est la description qui fait l'essentiel du choix.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Question 9.</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9 : faire voter la salle.
TIMING — 0:40
Lire la question : « Pour vous aider à créer une skill, Claude s'appuie sur… » Puis les réponses : A, brand-guidelines ; B, skill-creator ; C, docx ; D, Rien, il improvise.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9.
TIMING — 0:20
Bonne réponse : B, « skill-creator ». skill-creator est la skill d'Anthropic qui fabrique les skills : elle guide l'entretien, la rédaction du SKILL.md, les tests, l'amélioration et l'affinage de la description, puis empaquette le résultat. Elle est plus complète dans Cowork et Claude Code que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52</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1.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2-4.png"/><Relationship Id="rId4" Type="http://schemas.openxmlformats.org/officeDocument/2006/relationships/image" Target="../media/image-23-4.png"/><Relationship Id="rId5" Type="http://schemas.openxmlformats.org/officeDocument/2006/relationships/image" Target="../media/image-22-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14-1.png"/><Relationship Id="rId5" Type="http://schemas.openxmlformats.org/officeDocument/2006/relationships/image" Target="../media/image-14-1.png"/><Relationship Id="rId6" Type="http://schemas.openxmlformats.org/officeDocument/2006/relationships/image" Target="../media/image-14-1.png"/><Relationship Id="rId7" Type="http://schemas.openxmlformats.org/officeDocument/2006/relationships/image" Target="../media/image-14-1.png"/><Relationship Id="rId8" Type="http://schemas.openxmlformats.org/officeDocument/2006/relationships/image" Target="../media/image-14-1.png"/><Relationship Id="rId9" Type="http://schemas.openxmlformats.org/officeDocument/2006/relationships/image" Target="../media/image-24-9.png"/><Relationship Id="rId10" Type="http://schemas.openxmlformats.org/officeDocument/2006/relationships/image" Target="../media/image-14-1.png"/><Relationship Id="rId11" Type="http://schemas.openxmlformats.org/officeDocument/2006/relationships/image" Target="../media/image-14-1.png"/><Relationship Id="rId12" Type="http://schemas.openxmlformats.org/officeDocument/2006/relationships/image" Target="../media/image-24-9.png"/><Relationship Id="rId13" Type="http://schemas.openxmlformats.org/officeDocument/2006/relationships/image" Target="../media/image-14-1.png"/><Relationship Id="rId14" Type="http://schemas.openxmlformats.org/officeDocument/2006/relationships/image" Target="../media/image-14-1.png"/><Relationship Id="rId15" Type="http://schemas.openxmlformats.org/officeDocument/2006/relationships/slideLayout" Target="../slideLayouts/slideLayout1.xml"/><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4-2.png"/><Relationship Id="rId2" Type="http://schemas.openxmlformats.org/officeDocument/2006/relationships/image" Target="../media/image-16-4.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8-3.png"/><Relationship Id="rId4" Type="http://schemas.openxmlformats.org/officeDocument/2006/relationships/image" Target="../media/image-28-3.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1.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image" Target="../media/image-52-7.png"/><Relationship Id="rId8" Type="http://schemas.openxmlformats.org/officeDocument/2006/relationships/slideLayout" Target="../slideLayouts/slideLayout1.xml"/><Relationship Id="rId9"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skill-creator</a:t>
            </a:r>
            <a:endParaRPr lang="fr-FR" sz="2000" dirty="0"/>
          </a:p>
        </p:txBody>
      </p:sp>
      <p:sp>
        <p:nvSpPr>
          <p:cNvPr id="40" name="Shape 31"/>
          <p:cNvSpPr/>
          <p:nvPr/>
        </p:nvSpPr>
        <p:spPr>
          <a:xfrm>
            <a:off x="9692640" y="5230368"/>
            <a:ext cx="731520" cy="329184"/>
          </a:xfrm>
          <a:prstGeom prst="roundRect">
            <a:avLst>
              <a:gd name="adj" fmla="val 50000"/>
            </a:avLst>
          </a:prstGeom>
          <a:solidFill>
            <a:srgbClr val="1F7A50"/>
          </a:solidFill>
          <a:ln/>
        </p:spPr>
      </p:sp>
      <p:sp>
        <p:nvSpPr>
          <p:cNvPr id="41" name="Shape 32"/>
          <p:cNvSpPr/>
          <p:nvPr/>
        </p:nvSpPr>
        <p:spPr>
          <a:xfrm>
            <a:off x="10113264"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Text 1"/>
          <p:cNvSpPr txBox="1"/>
          <p:nvPr/>
        </p:nvSpPr>
        <p:spPr>
          <a:xfrm>
            <a:off x="54864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1</a:t>
            </a:r>
            <a:endParaRPr lang="fr-FR" sz="12000" dirty="0"/>
          </a:p>
        </p:txBody>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240280"/>
            <a:ext cx="548640" cy="548640"/>
          </a:xfrm>
          <a:prstGeom prst="rect">
            <a:avLst/>
          </a:prstGeom>
        </p:spPr>
      </p:pic>
      <p:sp>
        <p:nvSpPr>
          <p:cNvPr id="5" name="Text 2"/>
          <p:cNvSpPr txBox="1"/>
          <p:nvPr/>
        </p:nvSpPr>
        <p:spPr>
          <a:xfrm>
            <a:off x="54864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Trouver</a:t>
            </a:r>
            <a:endParaRPr lang="fr-FR" sz="3200" dirty="0"/>
          </a:p>
        </p:txBody>
      </p:sp>
      <p:sp>
        <p:nvSpPr>
          <p:cNvPr id="6" name="Text 3"/>
          <p:cNvSpPr txBox="1"/>
          <p:nvPr/>
        </p:nvSpPr>
        <p:spPr>
          <a:xfrm>
            <a:off x="54864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un dépôt de confiance</a:t>
            </a:r>
            <a:endParaRPr lang="fr-FR" sz="2000" dirty="0"/>
          </a:p>
        </p:txBody>
      </p:sp>
      <p:sp>
        <p:nvSpPr>
          <p:cNvPr id="7" name="Shape 4"/>
          <p:cNvSpPr/>
          <p:nvPr/>
        </p:nvSpPr>
        <p:spPr>
          <a:xfrm>
            <a:off x="4160520" y="1828800"/>
            <a:ext cx="0" cy="3017520"/>
          </a:xfrm>
          <a:prstGeom prst="line">
            <a:avLst/>
          </a:prstGeom>
          <a:noFill/>
          <a:ln w="19050">
            <a:solidFill>
              <a:srgbClr val="D5D9E0"/>
            </a:solidFill>
            <a:prstDash val="solid"/>
          </a:ln>
        </p:spPr>
      </p:sp>
      <p:sp>
        <p:nvSpPr>
          <p:cNvPr id="8" name="Text 5"/>
          <p:cNvSpPr txBox="1"/>
          <p:nvPr/>
        </p:nvSpPr>
        <p:spPr>
          <a:xfrm>
            <a:off x="438912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2</a:t>
            </a:r>
            <a:endParaRPr lang="fr-FR" sz="12000" dirty="0"/>
          </a:p>
        </p:txBody>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52160" y="2240280"/>
            <a:ext cx="548640" cy="548640"/>
          </a:xfrm>
          <a:prstGeom prst="rect">
            <a:avLst/>
          </a:prstGeom>
        </p:spPr>
      </p:pic>
      <p:sp>
        <p:nvSpPr>
          <p:cNvPr id="10" name="Text 6"/>
          <p:cNvSpPr txBox="1"/>
          <p:nvPr/>
        </p:nvSpPr>
        <p:spPr>
          <a:xfrm>
            <a:off x="438912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Télécharger</a:t>
            </a:r>
            <a:endParaRPr lang="fr-FR" sz="3200" dirty="0"/>
          </a:p>
        </p:txBody>
      </p:sp>
      <p:sp>
        <p:nvSpPr>
          <p:cNvPr id="11" name="Text 7"/>
          <p:cNvSpPr txBox="1"/>
          <p:nvPr/>
        </p:nvSpPr>
        <p:spPr>
          <a:xfrm>
            <a:off x="438912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le dossier en .zip</a:t>
            </a:r>
            <a:endParaRPr lang="fr-FR" sz="2000" dirty="0"/>
          </a:p>
        </p:txBody>
      </p:sp>
      <p:sp>
        <p:nvSpPr>
          <p:cNvPr id="12" name="Shape 8"/>
          <p:cNvSpPr/>
          <p:nvPr/>
        </p:nvSpPr>
        <p:spPr>
          <a:xfrm>
            <a:off x="8001000" y="1828800"/>
            <a:ext cx="0" cy="3017520"/>
          </a:xfrm>
          <a:prstGeom prst="line">
            <a:avLst/>
          </a:prstGeom>
          <a:noFill/>
          <a:ln w="19050">
            <a:solidFill>
              <a:srgbClr val="D5D9E0"/>
            </a:solidFill>
            <a:prstDash val="solid"/>
          </a:ln>
        </p:spPr>
      </p:sp>
      <p:sp>
        <p:nvSpPr>
          <p:cNvPr id="13" name="Text 9"/>
          <p:cNvSpPr txBox="1"/>
          <p:nvPr/>
        </p:nvSpPr>
        <p:spPr>
          <a:xfrm>
            <a:off x="822960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B8235A"/>
                </a:solidFill>
                <a:latin typeface="Calibri" pitchFamily="34" charset="0"/>
                <a:ea typeface="Calibri" pitchFamily="34" charset="-122"/>
                <a:cs typeface="Calibri" pitchFamily="34" charset="-120"/>
              </a:rPr>
              <a:t>3</a:t>
            </a:r>
            <a:endParaRPr lang="fr-FR" sz="12000" dirty="0"/>
          </a:p>
        </p:txBody>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92640" y="2240280"/>
            <a:ext cx="548640" cy="548640"/>
          </a:xfrm>
          <a:prstGeom prst="rect">
            <a:avLst/>
          </a:prstGeom>
        </p:spPr>
      </p:pic>
      <p:sp>
        <p:nvSpPr>
          <p:cNvPr id="15" name="Text 10"/>
          <p:cNvSpPr txBox="1"/>
          <p:nvPr/>
        </p:nvSpPr>
        <p:spPr>
          <a:xfrm>
            <a:off x="822960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Importer</a:t>
            </a:r>
            <a:endParaRPr lang="fr-FR" sz="3200" dirty="0"/>
          </a:p>
        </p:txBody>
      </p:sp>
      <p:sp>
        <p:nvSpPr>
          <p:cNvPr id="16" name="Text 11"/>
          <p:cNvSpPr txBox="1"/>
          <p:nvPr/>
        </p:nvSpPr>
        <p:spPr>
          <a:xfrm>
            <a:off x="822960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Personnaliser › Skills › +</a:t>
            </a:r>
            <a:endParaRPr lang="fr-FR" sz="2000" dirty="0"/>
          </a:p>
        </p:txBody>
      </p:sp>
      <p:sp>
        <p:nvSpPr>
          <p:cNvPr id="17" name="Shape 12"/>
          <p:cNvSpPr/>
          <p:nvPr/>
        </p:nvSpPr>
        <p:spPr>
          <a:xfrm>
            <a:off x="548640" y="5486400"/>
            <a:ext cx="6583680" cy="566928"/>
          </a:xfrm>
          <a:prstGeom prst="roundRect">
            <a:avLst>
              <a:gd name="adj" fmla="val 24194"/>
            </a:avLst>
          </a:prstGeom>
          <a:solidFill>
            <a:srgbClr val="E6EDFA"/>
          </a:solidFill>
          <a:ln/>
        </p:spPr>
      </p:sp>
      <p:sp>
        <p:nvSpPr>
          <p:cNvPr id="18" name="Text 13"/>
          <p:cNvSpPr txBox="1"/>
          <p:nvPr/>
        </p:nvSpPr>
        <p:spPr>
          <a:xfrm>
            <a:off x="777240" y="5486400"/>
            <a:ext cx="6309360" cy="566928"/>
          </a:xfrm>
          <a:prstGeom prst="rect">
            <a:avLst/>
          </a:prstGeom>
          <a:noFill/>
          <a:ln/>
        </p:spPr>
        <p:txBody>
          <a:bodyPr wrap="square" lIns="0" tIns="0" rIns="0" bIns="0" rtlCol="0" anchor="ctr"/>
          <a:lstStyle/>
          <a:p>
            <a:pPr indent="0" marL="0">
              <a:buNone/>
            </a:pPr>
            <a:r>
              <a:rPr lang="fr-FR" altLang="en-US" sz="2000" b="1" dirty="0">
                <a:solidFill>
                  <a:srgbClr val="2F5FC4"/>
                </a:solidFill>
                <a:latin typeface="Calibri" pitchFamily="34" charset="0"/>
                <a:ea typeface="Calibri" pitchFamily="34" charset="-122"/>
                <a:cs typeface="Calibri" pitchFamily="34" charset="-120"/>
              </a:rPr>
              <a:t>Réf. : </a:t>
            </a:r>
            <a:pP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19" name="Text 1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0" name="Text 1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réunis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Skill du compte, disponible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Fichier de skill prêt</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Dossiers à autoriser</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Vous choisissez s'il demande</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43000" y="1920240"/>
            <a:ext cx="822960" cy="822960"/>
          </a:xfrm>
          <a:prstGeom prst="rect">
            <a:avLst/>
          </a:prstGeom>
        </p:spPr>
      </p:pic>
      <p:sp>
        <p:nvSpPr>
          <p:cNvPr id="4" name="Text 1"/>
          <p:cNvSpPr txBox="1"/>
          <p:nvPr/>
        </p:nvSpPr>
        <p:spPr>
          <a:xfrm>
            <a:off x="411480"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25230" y="2148840"/>
            <a:ext cx="329184" cy="365760"/>
          </a:xfrm>
          <a:prstGeom prst="rect">
            <a:avLst/>
          </a:prstGeom>
        </p:spPr>
      </p:pic>
      <p:pic>
        <p:nvPicPr>
          <p:cNvPr id="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413684" y="1920240"/>
            <a:ext cx="822960" cy="822960"/>
          </a:xfrm>
          <a:prstGeom prst="rect">
            <a:avLst/>
          </a:prstGeom>
        </p:spPr>
      </p:pic>
      <p:sp>
        <p:nvSpPr>
          <p:cNvPr id="7" name="Text 2"/>
          <p:cNvSpPr txBox="1"/>
          <p:nvPr/>
        </p:nvSpPr>
        <p:spPr>
          <a:xfrm>
            <a:off x="2682164"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8" name="Text 3"/>
          <p:cNvSpPr txBox="1"/>
          <p:nvPr/>
        </p:nvSpPr>
        <p:spPr>
          <a:xfrm>
            <a:off x="2682164"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pic>
        <p:nvPicPr>
          <p:cNvPr id="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95914" y="2148840"/>
            <a:ext cx="329184" cy="365760"/>
          </a:xfrm>
          <a:prstGeom prst="rect">
            <a:avLst/>
          </a:prstGeom>
        </p:spPr>
      </p:pic>
      <p:pic>
        <p:nvPicPr>
          <p:cNvPr id="1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684368" y="1920240"/>
            <a:ext cx="822960" cy="822960"/>
          </a:xfrm>
          <a:prstGeom prst="rect">
            <a:avLst/>
          </a:prstGeom>
        </p:spPr>
      </p:pic>
      <p:sp>
        <p:nvSpPr>
          <p:cNvPr id="11" name="Text 4"/>
          <p:cNvSpPr txBox="1"/>
          <p:nvPr/>
        </p:nvSpPr>
        <p:spPr>
          <a:xfrm>
            <a:off x="4952848"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pic>
        <p:nvPicPr>
          <p:cNvPr id="1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66598" y="2148840"/>
            <a:ext cx="329184" cy="365760"/>
          </a:xfrm>
          <a:prstGeom prst="rect">
            <a:avLst/>
          </a:prstGeom>
        </p:spPr>
      </p:pic>
      <p:pic>
        <p:nvPicPr>
          <p:cNvPr id="13"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55051" y="1920240"/>
            <a:ext cx="822960" cy="822960"/>
          </a:xfrm>
          <a:prstGeom prst="rect">
            <a:avLst/>
          </a:prstGeom>
        </p:spPr>
      </p:pic>
      <p:sp>
        <p:nvSpPr>
          <p:cNvPr id="14" name="Text 5"/>
          <p:cNvSpPr txBox="1"/>
          <p:nvPr/>
        </p:nvSpPr>
        <p:spPr>
          <a:xfrm>
            <a:off x="7223531"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F7A50"/>
                </a:solidFill>
                <a:latin typeface="Calibri" pitchFamily="34" charset="0"/>
                <a:ea typeface="Calibri" pitchFamily="34" charset="-122"/>
                <a:cs typeface="Calibri" pitchFamily="34" charset="-120"/>
              </a:rPr>
              <a:t>Je valide</a:t>
            </a:r>
            <a:endParaRPr lang="fr-FR" sz="2200" dirty="0"/>
          </a:p>
        </p:txBody>
      </p:sp>
      <p:sp>
        <p:nvSpPr>
          <p:cNvPr id="15" name="Text 6"/>
          <p:cNvSpPr txBox="1"/>
          <p:nvPr/>
        </p:nvSpPr>
        <p:spPr>
          <a:xfrm>
            <a:off x="7223531"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pic>
        <p:nvPicPr>
          <p:cNvPr id="1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337281" y="2148840"/>
            <a:ext cx="329184" cy="365760"/>
          </a:xfrm>
          <a:prstGeom prst="rect">
            <a:avLst/>
          </a:prstGeom>
        </p:spPr>
      </p:pic>
      <p:pic>
        <p:nvPicPr>
          <p:cNvPr id="17"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225735" y="1920240"/>
            <a:ext cx="822960" cy="822960"/>
          </a:xfrm>
          <a:prstGeom prst="rect">
            <a:avLst/>
          </a:prstGeom>
        </p:spPr>
      </p:pic>
      <p:sp>
        <p:nvSpPr>
          <p:cNvPr id="18" name="Text 7"/>
          <p:cNvSpPr txBox="1"/>
          <p:nvPr/>
        </p:nvSpPr>
        <p:spPr>
          <a:xfrm>
            <a:off x="9494215"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B8235A"/>
                </a:solidFill>
                <a:latin typeface="Calibri" pitchFamily="34" charset="0"/>
                <a:ea typeface="Calibri" pitchFamily="34" charset="-122"/>
                <a:cs typeface="Calibri" pitchFamily="34" charset="-120"/>
              </a:rPr>
              <a:t>Il exécute</a:t>
            </a:r>
            <a:endParaRPr lang="fr-FR" sz="2200" dirty="0"/>
          </a:p>
        </p:txBody>
      </p:sp>
      <p:sp>
        <p:nvSpPr>
          <p:cNvPr id="19" name="Shape 8"/>
          <p:cNvSpPr/>
          <p:nvPr/>
        </p:nvSpPr>
        <p:spPr>
          <a:xfrm>
            <a:off x="2727884" y="4069080"/>
            <a:ext cx="6735928" cy="457200"/>
          </a:xfrm>
          <a:prstGeom prst="roundRect">
            <a:avLst>
              <a:gd name="adj" fmla="val 50000"/>
            </a:avLst>
          </a:prstGeom>
          <a:solidFill>
            <a:srgbClr val="E6EDFA"/>
          </a:solidFill>
          <a:ln/>
        </p:spPr>
      </p:sp>
      <p:pic>
        <p:nvPicPr>
          <p:cNvPr id="20"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2956484" y="4160520"/>
            <a:ext cx="274320" cy="274320"/>
          </a:xfrm>
          <a:prstGeom prst="rect">
            <a:avLst/>
          </a:prstGeom>
        </p:spPr>
      </p:pic>
      <p:sp>
        <p:nvSpPr>
          <p:cNvPr id="21" name="Text 9"/>
          <p:cNvSpPr txBox="1"/>
          <p:nvPr/>
        </p:nvSpPr>
        <p:spPr>
          <a:xfrm>
            <a:off x="3322244" y="4069080"/>
            <a:ext cx="6004408"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Aucun fichier modifié</a:t>
            </a:r>
            <a:endParaRPr lang="fr-FR" sz="1800" dirty="0"/>
          </a:p>
        </p:txBody>
      </p:sp>
      <p:sp>
        <p:nvSpPr>
          <p:cNvPr id="22" name="Text 10"/>
          <p:cNvSpPr txBox="1"/>
          <p:nvPr/>
        </p:nvSpPr>
        <p:spPr>
          <a:xfrm>
            <a:off x="731520" y="51206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3" name="Shape 11"/>
          <p:cNvSpPr/>
          <p:nvPr/>
        </p:nvSpPr>
        <p:spPr>
          <a:xfrm>
            <a:off x="3108960" y="5120640"/>
            <a:ext cx="30175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4" name="Text 12"/>
          <p:cNvSpPr txBox="1"/>
          <p:nvPr/>
        </p:nvSpPr>
        <p:spPr>
          <a:xfrm>
            <a:off x="3108960" y="5120640"/>
            <a:ext cx="30175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5" name="Shape 13"/>
          <p:cNvSpPr/>
          <p:nvPr/>
        </p:nvSpPr>
        <p:spPr>
          <a:xfrm>
            <a:off x="6400800" y="5120640"/>
            <a:ext cx="30175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4"/>
          <p:cNvSpPr txBox="1"/>
          <p:nvPr/>
        </p:nvSpPr>
        <p:spPr>
          <a:xfrm>
            <a:off x="6400800" y="5120640"/>
            <a:ext cx="30175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27"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8"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548640" y="4892040"/>
            <a:ext cx="2148840" cy="128016"/>
          </a:xfrm>
          <a:prstGeom prst="rect">
            <a:avLst/>
          </a:prstGeom>
          <a:solidFill>
            <a:srgbClr val="1B2233"/>
          </a:solidFill>
          <a:ln/>
        </p:spPr>
      </p:sp>
      <p:sp>
        <p:nvSpPr>
          <p:cNvPr id="4" name="Shape 2"/>
          <p:cNvSpPr/>
          <p:nvPr/>
        </p:nvSpPr>
        <p:spPr>
          <a:xfrm>
            <a:off x="548640" y="5020056"/>
            <a:ext cx="2148840" cy="777240"/>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3474720"/>
            <a:ext cx="457200" cy="457200"/>
          </a:xfrm>
          <a:prstGeom prst="rect">
            <a:avLst/>
          </a:prstGeom>
        </p:spPr>
      </p:pic>
      <p:sp>
        <p:nvSpPr>
          <p:cNvPr id="6" name="Text 3"/>
          <p:cNvSpPr txBox="1"/>
          <p:nvPr/>
        </p:nvSpPr>
        <p:spPr>
          <a:xfrm>
            <a:off x="548640" y="402336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1. Repérer</a:t>
            </a:r>
            <a:endParaRPr lang="fr-FR" sz="2400" dirty="0"/>
          </a:p>
        </p:txBody>
      </p:sp>
      <p:sp>
        <p:nvSpPr>
          <p:cNvPr id="7" name="Text 4"/>
          <p:cNvSpPr txBox="1"/>
          <p:nvPr/>
        </p:nvSpPr>
        <p:spPr>
          <a:xfrm>
            <a:off x="548640" y="448056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8" name="Shape 5"/>
          <p:cNvSpPr/>
          <p:nvPr/>
        </p:nvSpPr>
        <p:spPr>
          <a:xfrm>
            <a:off x="2788920" y="4389120"/>
            <a:ext cx="2148840" cy="128016"/>
          </a:xfrm>
          <a:prstGeom prst="rect">
            <a:avLst/>
          </a:prstGeom>
          <a:solidFill>
            <a:srgbClr val="1B2233"/>
          </a:solidFill>
          <a:ln/>
        </p:spPr>
      </p:sp>
      <p:sp>
        <p:nvSpPr>
          <p:cNvPr id="9" name="Shape 6"/>
          <p:cNvSpPr/>
          <p:nvPr/>
        </p:nvSpPr>
        <p:spPr>
          <a:xfrm>
            <a:off x="2788920" y="4517136"/>
            <a:ext cx="2148840" cy="1280160"/>
          </a:xfrm>
          <a:prstGeom prst="rect">
            <a:avLst/>
          </a:prstGeom>
          <a:solidFill>
            <a:srgbClr val="F1F3F6"/>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788920" y="2971800"/>
            <a:ext cx="457200" cy="457200"/>
          </a:xfrm>
          <a:prstGeom prst="rect">
            <a:avLst/>
          </a:prstGeom>
        </p:spPr>
      </p:pic>
      <p:sp>
        <p:nvSpPr>
          <p:cNvPr id="11" name="Text 7"/>
          <p:cNvSpPr txBox="1"/>
          <p:nvPr/>
        </p:nvSpPr>
        <p:spPr>
          <a:xfrm>
            <a:off x="2788920" y="352044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2. Décrire</a:t>
            </a:r>
            <a:endParaRPr lang="fr-FR" sz="2400" dirty="0"/>
          </a:p>
        </p:txBody>
      </p:sp>
      <p:sp>
        <p:nvSpPr>
          <p:cNvPr id="12" name="Text 8"/>
          <p:cNvSpPr txBox="1"/>
          <p:nvPr/>
        </p:nvSpPr>
        <p:spPr>
          <a:xfrm>
            <a:off x="2788920" y="397764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3" name="Shape 9"/>
          <p:cNvSpPr/>
          <p:nvPr/>
        </p:nvSpPr>
        <p:spPr>
          <a:xfrm>
            <a:off x="5029200" y="3886200"/>
            <a:ext cx="2148840" cy="128016"/>
          </a:xfrm>
          <a:prstGeom prst="rect">
            <a:avLst/>
          </a:prstGeom>
          <a:solidFill>
            <a:srgbClr val="B8235A"/>
          </a:solidFill>
          <a:ln/>
        </p:spPr>
      </p:sp>
      <p:sp>
        <p:nvSpPr>
          <p:cNvPr id="14" name="Shape 10"/>
          <p:cNvSpPr/>
          <p:nvPr/>
        </p:nvSpPr>
        <p:spPr>
          <a:xfrm>
            <a:off x="5029200" y="4014216"/>
            <a:ext cx="2148840" cy="1783080"/>
          </a:xfrm>
          <a:prstGeom prst="rect">
            <a:avLst/>
          </a:prstGeom>
          <a:solidFill>
            <a:srgbClr val="FBE7EF"/>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29200" y="2468880"/>
            <a:ext cx="457200" cy="457200"/>
          </a:xfrm>
          <a:prstGeom prst="rect">
            <a:avLst/>
          </a:prstGeom>
        </p:spPr>
      </p:pic>
      <p:sp>
        <p:nvSpPr>
          <p:cNvPr id="16" name="Text 11"/>
          <p:cNvSpPr txBox="1"/>
          <p:nvPr/>
        </p:nvSpPr>
        <p:spPr>
          <a:xfrm>
            <a:off x="5029200" y="3017520"/>
            <a:ext cx="2148840" cy="457200"/>
          </a:xfrm>
          <a:prstGeom prst="rect">
            <a:avLst/>
          </a:prstGeom>
          <a:noFill/>
          <a:ln/>
        </p:spPr>
        <p:txBody>
          <a:bodyPr wrap="square" lIns="0" tIns="0" rIns="0" bIns="0" rtlCol="0" anchor="t"/>
          <a:lstStyle/>
          <a:p>
            <a:pPr indent="0" marL="0">
              <a:buNone/>
            </a:pPr>
            <a:r>
              <a:rPr lang="fr-FR" altLang="en-US" sz="2400" b="1" dirty="0">
                <a:solidFill>
                  <a:srgbClr val="B8235A"/>
                </a:solidFill>
                <a:latin typeface="Calibri" pitchFamily="34" charset="0"/>
                <a:ea typeface="Calibri" pitchFamily="34" charset="-122"/>
                <a:cs typeface="Calibri" pitchFamily="34" charset="-120"/>
              </a:rPr>
              <a:t>3. Générer</a:t>
            </a:r>
            <a:endParaRPr lang="fr-FR" sz="2400" dirty="0"/>
          </a:p>
        </p:txBody>
      </p:sp>
      <p:sp>
        <p:nvSpPr>
          <p:cNvPr id="17" name="Text 12"/>
          <p:cNvSpPr txBox="1"/>
          <p:nvPr/>
        </p:nvSpPr>
        <p:spPr>
          <a:xfrm>
            <a:off x="5029200" y="347472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skill-creator</a:t>
            </a:r>
            <a:endParaRPr lang="fr-FR" sz="1700" dirty="0"/>
          </a:p>
        </p:txBody>
      </p:sp>
      <p:sp>
        <p:nvSpPr>
          <p:cNvPr id="18" name="Shape 13"/>
          <p:cNvSpPr/>
          <p:nvPr/>
        </p:nvSpPr>
        <p:spPr>
          <a:xfrm>
            <a:off x="7269480" y="3383280"/>
            <a:ext cx="2148840" cy="128016"/>
          </a:xfrm>
          <a:prstGeom prst="rect">
            <a:avLst/>
          </a:prstGeom>
          <a:solidFill>
            <a:srgbClr val="1B2233"/>
          </a:solidFill>
          <a:ln/>
        </p:spPr>
      </p:sp>
      <p:sp>
        <p:nvSpPr>
          <p:cNvPr id="19" name="Shape 14"/>
          <p:cNvSpPr/>
          <p:nvPr/>
        </p:nvSpPr>
        <p:spPr>
          <a:xfrm>
            <a:off x="7269480" y="3511296"/>
            <a:ext cx="2148840" cy="2286000"/>
          </a:xfrm>
          <a:prstGeom prst="rect">
            <a:avLst/>
          </a:prstGeom>
          <a:solidFill>
            <a:srgbClr val="F1F3F6"/>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69480" y="1965960"/>
            <a:ext cx="457200" cy="457200"/>
          </a:xfrm>
          <a:prstGeom prst="rect">
            <a:avLst/>
          </a:prstGeom>
        </p:spPr>
      </p:pic>
      <p:sp>
        <p:nvSpPr>
          <p:cNvPr id="21" name="Text 15"/>
          <p:cNvSpPr txBox="1"/>
          <p:nvPr/>
        </p:nvSpPr>
        <p:spPr>
          <a:xfrm>
            <a:off x="7269480" y="251460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4. Tester</a:t>
            </a:r>
            <a:endParaRPr lang="fr-FR" sz="2400" dirty="0"/>
          </a:p>
        </p:txBody>
      </p:sp>
      <p:sp>
        <p:nvSpPr>
          <p:cNvPr id="22" name="Text 16"/>
          <p:cNvSpPr txBox="1"/>
          <p:nvPr/>
        </p:nvSpPr>
        <p:spPr>
          <a:xfrm>
            <a:off x="7269480" y="297180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3" name="Shape 17"/>
          <p:cNvSpPr/>
          <p:nvPr/>
        </p:nvSpPr>
        <p:spPr>
          <a:xfrm>
            <a:off x="9509760" y="2880360"/>
            <a:ext cx="2148840" cy="128016"/>
          </a:xfrm>
          <a:prstGeom prst="rect">
            <a:avLst/>
          </a:prstGeom>
          <a:solidFill>
            <a:srgbClr val="1B2233"/>
          </a:solidFill>
          <a:ln/>
        </p:spPr>
      </p:sp>
      <p:sp>
        <p:nvSpPr>
          <p:cNvPr id="24" name="Shape 18"/>
          <p:cNvSpPr/>
          <p:nvPr/>
        </p:nvSpPr>
        <p:spPr>
          <a:xfrm>
            <a:off x="9509760" y="3008376"/>
            <a:ext cx="2148840" cy="2788920"/>
          </a:xfrm>
          <a:prstGeom prst="rect">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09760" y="1463040"/>
            <a:ext cx="457200" cy="457200"/>
          </a:xfrm>
          <a:prstGeom prst="rect">
            <a:avLst/>
          </a:prstGeom>
        </p:spPr>
      </p:pic>
      <p:sp>
        <p:nvSpPr>
          <p:cNvPr id="26" name="Text 19"/>
          <p:cNvSpPr txBox="1"/>
          <p:nvPr/>
        </p:nvSpPr>
        <p:spPr>
          <a:xfrm>
            <a:off x="9509760" y="201168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5. Ajuster</a:t>
            </a:r>
            <a:endParaRPr lang="fr-FR" sz="2400" dirty="0"/>
          </a:p>
        </p:txBody>
      </p:sp>
      <p:sp>
        <p:nvSpPr>
          <p:cNvPr id="27" name="Text 20"/>
          <p:cNvSpPr txBox="1"/>
          <p:nvPr/>
        </p:nvSpPr>
        <p:spPr>
          <a:xfrm>
            <a:off x="9509760" y="246888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8640" y="5916168"/>
            <a:ext cx="274320" cy="274320"/>
          </a:xfrm>
          <a:prstGeom prst="rect">
            <a:avLst/>
          </a:prstGeom>
        </p:spPr>
      </p:pic>
      <p:sp>
        <p:nvSpPr>
          <p:cNvPr id="29" name="Text 21"/>
          <p:cNvSpPr txBox="1"/>
          <p:nvPr/>
        </p:nvSpPr>
        <p:spPr>
          <a:xfrm>
            <a:off x="960120" y="5824728"/>
            <a:ext cx="731520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Entre 4 et 5, on boucle 2 ou 3 fois : c'est normal</a:t>
            </a:r>
            <a:endParaRPr lang="fr-FR" sz="1800" dirty="0"/>
          </a:p>
        </p:txBody>
      </p:sp>
      <p:sp>
        <p:nvSpPr>
          <p:cNvPr id="30"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22</a:t>
            </a:r>
            <a:endParaRPr lang="fr-FR"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 la skill qui fabrique les skills</a:t>
            </a:r>
            <a:endParaRPr lang="fr-FR" sz="4000" dirty="0"/>
          </a:p>
        </p:txBody>
      </p:sp>
      <p:sp>
        <p:nvSpPr>
          <p:cNvPr id="3" name="Shape 1"/>
          <p:cNvSpPr/>
          <p:nvPr/>
        </p:nvSpPr>
        <p:spPr>
          <a:xfrm>
            <a:off x="2163928" y="2240280"/>
            <a:ext cx="7863840" cy="2834640"/>
          </a:xfrm>
          <a:prstGeom prst="ellipse">
            <a:avLst/>
          </a:prstGeom>
          <a:ln w="31750">
            <a:solidFill>
              <a:srgbClr val="B8235A"/>
            </a:solidFill>
            <a:prstDash val="dash"/>
          </a:ln>
        </p:spPr>
      </p:sp>
      <p:sp>
        <p:nvSpPr>
          <p:cNvPr id="4" name="Text 2"/>
          <p:cNvSpPr txBox="1"/>
          <p:nvPr/>
        </p:nvSpPr>
        <p:spPr>
          <a:xfrm>
            <a:off x="4267048" y="3200400"/>
            <a:ext cx="3657600" cy="548640"/>
          </a:xfrm>
          <a:prstGeom prst="rect">
            <a:avLst/>
          </a:prstGeom>
          <a:noFill/>
          <a:ln/>
        </p:spPr>
        <p:txBody>
          <a:bodyPr wrap="square" lIns="0" tIns="0" rIns="0" bIns="0" rtlCol="0" anchor="ctr"/>
          <a:lstStyle/>
          <a:p>
            <a:pPr algn="ctr" indent="0" marL="0">
              <a:buNone/>
            </a:pPr>
            <a:r>
              <a:rPr lang="fr-FR" altLang="en-US" sz="2800" b="1" dirty="0">
                <a:solidFill>
                  <a:srgbClr val="B8235A"/>
                </a:solidFill>
                <a:latin typeface="Courier New" pitchFamily="34" charset="0"/>
                <a:ea typeface="Courier New" pitchFamily="34" charset="-122"/>
                <a:cs typeface="Courier New" pitchFamily="34" charset="-120"/>
              </a:rPr>
              <a:t>skill-creator</a:t>
            </a:r>
            <a:endParaRPr lang="fr-FR" sz="2800" dirty="0"/>
          </a:p>
        </p:txBody>
      </p:sp>
      <p:sp>
        <p:nvSpPr>
          <p:cNvPr id="5" name="Text 3"/>
          <p:cNvSpPr txBox="1"/>
          <p:nvPr/>
        </p:nvSpPr>
        <p:spPr>
          <a:xfrm>
            <a:off x="4267048" y="3749040"/>
            <a:ext cx="3657600" cy="411480"/>
          </a:xfrm>
          <a:prstGeom prst="rect">
            <a:avLst/>
          </a:prstGeom>
          <a:noFill/>
          <a:ln/>
        </p:spPr>
        <p:txBody>
          <a:bodyPr wrap="square" lIns="0" tIns="0" rIns="0" bIns="0" rtlCol="0" anchor="ctr"/>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boucle jusqu'à satisfaction</a:t>
            </a:r>
            <a:endParaRPr lang="fr-FR" sz="1800" dirty="0"/>
          </a:p>
        </p:txBody>
      </p:sp>
      <p:sp>
        <p:nvSpPr>
          <p:cNvPr id="6" name="Shape 4"/>
          <p:cNvSpPr/>
          <p:nvPr/>
        </p:nvSpPr>
        <p:spPr>
          <a:xfrm>
            <a:off x="4724248" y="1805940"/>
            <a:ext cx="2743200" cy="868680"/>
          </a:xfrm>
          <a:prstGeom prst="roundRect">
            <a:avLst>
              <a:gd name="adj" fmla="val 12632"/>
            </a:avLst>
          </a:prstGeom>
          <a:solidFill>
            <a:srgbClr val="F1F3F6"/>
          </a:solidFill>
          <a:ln w="38100">
            <a:solidFill>
              <a:srgbClr val="FFFFFF"/>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88840" y="2034540"/>
            <a:ext cx="384048" cy="384048"/>
          </a:xfrm>
          <a:prstGeom prst="rect">
            <a:avLst/>
          </a:prstGeom>
        </p:spPr>
      </p:pic>
      <p:sp>
        <p:nvSpPr>
          <p:cNvPr id="8" name="Text 5"/>
          <p:cNvSpPr txBox="1"/>
          <p:nvPr/>
        </p:nvSpPr>
        <p:spPr>
          <a:xfrm>
            <a:off x="5410048" y="187909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1. Comprendre</a:t>
            </a:r>
            <a:endParaRPr lang="fr-FR" sz="1900" dirty="0"/>
          </a:p>
        </p:txBody>
      </p:sp>
      <p:sp>
        <p:nvSpPr>
          <p:cNvPr id="9" name="Text 6"/>
          <p:cNvSpPr txBox="1"/>
          <p:nvPr/>
        </p:nvSpPr>
        <p:spPr>
          <a:xfrm>
            <a:off x="5410048" y="226314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4 questions</a:t>
            </a:r>
            <a:endParaRPr lang="fr-FR" sz="1600" dirty="0"/>
          </a:p>
        </p:txBody>
      </p:sp>
      <p:sp>
        <p:nvSpPr>
          <p:cNvPr id="10" name="Shape 7"/>
          <p:cNvSpPr/>
          <p:nvPr/>
        </p:nvSpPr>
        <p:spPr>
          <a:xfrm>
            <a:off x="8129390" y="2514600"/>
            <a:ext cx="2743200" cy="868680"/>
          </a:xfrm>
          <a:prstGeom prst="roundRect">
            <a:avLst>
              <a:gd name="adj" fmla="val 12632"/>
            </a:avLst>
          </a:prstGeom>
          <a:solidFill>
            <a:srgbClr val="F1F3F6"/>
          </a:solidFill>
          <a:ln w="38100">
            <a:solidFill>
              <a:srgbClr val="FFFFFF"/>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93982" y="2743200"/>
            <a:ext cx="384048" cy="384048"/>
          </a:xfrm>
          <a:prstGeom prst="rect">
            <a:avLst/>
          </a:prstGeom>
        </p:spPr>
      </p:pic>
      <p:sp>
        <p:nvSpPr>
          <p:cNvPr id="12" name="Text 8"/>
          <p:cNvSpPr txBox="1"/>
          <p:nvPr/>
        </p:nvSpPr>
        <p:spPr>
          <a:xfrm>
            <a:off x="8815190"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2. Rédiger</a:t>
            </a:r>
            <a:endParaRPr lang="fr-FR" sz="1900" dirty="0"/>
          </a:p>
        </p:txBody>
      </p:sp>
      <p:sp>
        <p:nvSpPr>
          <p:cNvPr id="13" name="Text 9"/>
          <p:cNvSpPr txBox="1"/>
          <p:nvPr/>
        </p:nvSpPr>
        <p:spPr>
          <a:xfrm>
            <a:off x="8815190"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le SKILL.md</a:t>
            </a:r>
            <a:endParaRPr lang="fr-FR" sz="1600" dirty="0"/>
          </a:p>
        </p:txBody>
      </p:sp>
      <p:sp>
        <p:nvSpPr>
          <p:cNvPr id="14" name="Shape 10"/>
          <p:cNvSpPr/>
          <p:nvPr/>
        </p:nvSpPr>
        <p:spPr>
          <a:xfrm>
            <a:off x="8129390" y="3931920"/>
            <a:ext cx="2743200" cy="868680"/>
          </a:xfrm>
          <a:prstGeom prst="roundRect">
            <a:avLst>
              <a:gd name="adj" fmla="val 12632"/>
            </a:avLst>
          </a:prstGeom>
          <a:solidFill>
            <a:srgbClr val="F1F3F6"/>
          </a:solidFill>
          <a:ln w="38100">
            <a:solidFill>
              <a:srgbClr val="FFFFFF"/>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93982" y="4160520"/>
            <a:ext cx="384048" cy="384048"/>
          </a:xfrm>
          <a:prstGeom prst="rect">
            <a:avLst/>
          </a:prstGeom>
        </p:spPr>
      </p:pic>
      <p:sp>
        <p:nvSpPr>
          <p:cNvPr id="16" name="Text 11"/>
          <p:cNvSpPr txBox="1"/>
          <p:nvPr/>
        </p:nvSpPr>
        <p:spPr>
          <a:xfrm>
            <a:off x="8815190"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3. Tester</a:t>
            </a:r>
            <a:endParaRPr lang="fr-FR" sz="1900" dirty="0"/>
          </a:p>
        </p:txBody>
      </p:sp>
      <p:sp>
        <p:nvSpPr>
          <p:cNvPr id="17" name="Text 12"/>
          <p:cNvSpPr txBox="1"/>
          <p:nvPr/>
        </p:nvSpPr>
        <p:spPr>
          <a:xfrm>
            <a:off x="8815190"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 ou 3 cas réels</a:t>
            </a:r>
            <a:endParaRPr lang="fr-FR" sz="1600" dirty="0"/>
          </a:p>
        </p:txBody>
      </p:sp>
      <p:sp>
        <p:nvSpPr>
          <p:cNvPr id="18" name="Shape 13"/>
          <p:cNvSpPr/>
          <p:nvPr/>
        </p:nvSpPr>
        <p:spPr>
          <a:xfrm>
            <a:off x="4724248" y="4640580"/>
            <a:ext cx="2743200" cy="868680"/>
          </a:xfrm>
          <a:prstGeom prst="roundRect">
            <a:avLst>
              <a:gd name="adj" fmla="val 12632"/>
            </a:avLst>
          </a:prstGeom>
          <a:solidFill>
            <a:srgbClr val="F1F3F6"/>
          </a:solidFill>
          <a:ln w="38100">
            <a:solidFill>
              <a:srgbClr val="FFFFFF"/>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888840" y="4869180"/>
            <a:ext cx="384048" cy="384048"/>
          </a:xfrm>
          <a:prstGeom prst="rect">
            <a:avLst/>
          </a:prstGeom>
        </p:spPr>
      </p:pic>
      <p:sp>
        <p:nvSpPr>
          <p:cNvPr id="20" name="Text 14"/>
          <p:cNvSpPr txBox="1"/>
          <p:nvPr/>
        </p:nvSpPr>
        <p:spPr>
          <a:xfrm>
            <a:off x="5410048" y="471373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4. Comparer</a:t>
            </a:r>
            <a:endParaRPr lang="fr-FR" sz="1900" dirty="0"/>
          </a:p>
        </p:txBody>
      </p:sp>
      <p:sp>
        <p:nvSpPr>
          <p:cNvPr id="21" name="Text 15"/>
          <p:cNvSpPr txBox="1"/>
          <p:nvPr/>
        </p:nvSpPr>
        <p:spPr>
          <a:xfrm>
            <a:off x="5410048" y="509778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avec / sans skill</a:t>
            </a:r>
            <a:endParaRPr lang="fr-FR" sz="1600" dirty="0"/>
          </a:p>
        </p:txBody>
      </p:sp>
      <p:sp>
        <p:nvSpPr>
          <p:cNvPr id="22" name="Shape 16"/>
          <p:cNvSpPr/>
          <p:nvPr/>
        </p:nvSpPr>
        <p:spPr>
          <a:xfrm>
            <a:off x="1319105" y="3931920"/>
            <a:ext cx="2743200" cy="868680"/>
          </a:xfrm>
          <a:prstGeom prst="roundRect">
            <a:avLst>
              <a:gd name="adj" fmla="val 12632"/>
            </a:avLst>
          </a:prstGeom>
          <a:solidFill>
            <a:srgbClr val="F1F3F6"/>
          </a:solidFill>
          <a:ln w="38100">
            <a:solidFill>
              <a:srgbClr val="FFFFFF"/>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483697" y="4160520"/>
            <a:ext cx="384048" cy="384048"/>
          </a:xfrm>
          <a:prstGeom prst="rect">
            <a:avLst/>
          </a:prstGeom>
        </p:spPr>
      </p:pic>
      <p:sp>
        <p:nvSpPr>
          <p:cNvPr id="24" name="Text 17"/>
          <p:cNvSpPr txBox="1"/>
          <p:nvPr/>
        </p:nvSpPr>
        <p:spPr>
          <a:xfrm>
            <a:off x="2004905"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5. Améliorer</a:t>
            </a:r>
            <a:endParaRPr lang="fr-FR" sz="1900" dirty="0"/>
          </a:p>
        </p:txBody>
      </p:sp>
      <p:sp>
        <p:nvSpPr>
          <p:cNvPr id="25" name="Text 18"/>
          <p:cNvSpPr txBox="1"/>
          <p:nvPr/>
        </p:nvSpPr>
        <p:spPr>
          <a:xfrm>
            <a:off x="2004905"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selon vos retours</a:t>
            </a:r>
            <a:endParaRPr lang="fr-FR" sz="1600" dirty="0"/>
          </a:p>
        </p:txBody>
      </p:sp>
      <p:sp>
        <p:nvSpPr>
          <p:cNvPr id="26" name="Shape 19"/>
          <p:cNvSpPr/>
          <p:nvPr/>
        </p:nvSpPr>
        <p:spPr>
          <a:xfrm>
            <a:off x="1319105" y="2514600"/>
            <a:ext cx="2743200" cy="868680"/>
          </a:xfrm>
          <a:prstGeom prst="roundRect">
            <a:avLst>
              <a:gd name="adj" fmla="val 12632"/>
            </a:avLst>
          </a:prstGeom>
          <a:solidFill>
            <a:srgbClr val="FBE7EF"/>
          </a:solidFill>
          <a:ln w="38100">
            <a:solidFill>
              <a:srgbClr val="FFFFFF"/>
            </a:solidFill>
            <a:prstDash val="solid"/>
          </a:ln>
        </p:spPr>
      </p:sp>
      <p:pic>
        <p:nvPicPr>
          <p:cNvPr id="27"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483697" y="2743200"/>
            <a:ext cx="384048" cy="384048"/>
          </a:xfrm>
          <a:prstGeom prst="rect">
            <a:avLst/>
          </a:prstGeom>
        </p:spPr>
      </p:pic>
      <p:sp>
        <p:nvSpPr>
          <p:cNvPr id="28" name="Text 20"/>
          <p:cNvSpPr txBox="1"/>
          <p:nvPr/>
        </p:nvSpPr>
        <p:spPr>
          <a:xfrm>
            <a:off x="2004905"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B8235A"/>
                </a:solidFill>
                <a:latin typeface="Calibri" pitchFamily="34" charset="0"/>
                <a:ea typeface="Calibri" pitchFamily="34" charset="-122"/>
                <a:cs typeface="Calibri" pitchFamily="34" charset="-120"/>
              </a:rPr>
              <a:t>6. Affiner la description</a:t>
            </a:r>
            <a:endParaRPr lang="fr-FR" sz="1900" dirty="0"/>
          </a:p>
        </p:txBody>
      </p:sp>
      <p:sp>
        <p:nvSpPr>
          <p:cNvPr id="29" name="Text 21"/>
          <p:cNvSpPr txBox="1"/>
          <p:nvPr/>
        </p:nvSpPr>
        <p:spPr>
          <a:xfrm>
            <a:off x="2004905"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20 demandes test</a:t>
            </a:r>
            <a:endParaRPr lang="fr-FR" sz="1600" dirty="0"/>
          </a:p>
        </p:txBody>
      </p:sp>
      <p:pic>
        <p:nvPicPr>
          <p:cNvPr id="3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48640" y="5852160"/>
            <a:ext cx="347472" cy="347472"/>
          </a:xfrm>
          <a:prstGeom prst="rect">
            <a:avLst/>
          </a:prstGeom>
        </p:spPr>
      </p:pic>
      <p:sp>
        <p:nvSpPr>
          <p:cNvPr id="31" name="Text 22"/>
          <p:cNvSpPr txBox="1"/>
          <p:nvPr/>
        </p:nvSpPr>
        <p:spPr>
          <a:xfrm>
            <a:off x="1005840" y="5788152"/>
            <a:ext cx="10058400" cy="475488"/>
          </a:xfrm>
          <a:prstGeom prst="rect">
            <a:avLst/>
          </a:prstGeom>
          <a:noFill/>
          <a:ln/>
        </p:spPr>
        <p:txBody>
          <a:bodyPr wrap="square" lIns="0" tIns="0" rIns="0" bIns="0" rtlCol="0" anchor="ctr"/>
          <a:lstStyle/>
          <a:p>
            <a:pPr indent="0" marL="0">
              <a:buNone/>
            </a:pPr>
            <a:r>
              <a:rPr lang="fr-FR" altLang="en-US" sz="1800" b="1" dirty="0">
                <a:solidFill>
                  <a:srgbClr val="1F7A50"/>
                </a:solidFill>
                <a:latin typeface="Calibri" pitchFamily="34" charset="0"/>
                <a:ea typeface="Calibri" pitchFamily="34" charset="-122"/>
                <a:cs typeface="Calibri" pitchFamily="34" charset="-120"/>
              </a:rPr>
              <a:t>Puis empaqueter : un fichier .skill et son bouton « Save skill »</a:t>
            </a:r>
            <a:endParaRPr lang="fr-FR" sz="1800" dirty="0"/>
          </a:p>
        </p:txBody>
      </p:sp>
      <p:sp>
        <p:nvSpPr>
          <p:cNvPr id="32" name="Text 2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3" name="Text 2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selon la porte</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166360" y="1709928"/>
            <a:ext cx="329184" cy="329184"/>
          </a:xfrm>
          <a:prstGeom prst="rect">
            <a:avLst/>
          </a:prstGeom>
        </p:spPr>
      </p:pic>
      <p:sp>
        <p:nvSpPr>
          <p:cNvPr id="4" name="Text 1"/>
          <p:cNvSpPr txBox="1"/>
          <p:nvPr/>
        </p:nvSpPr>
        <p:spPr>
          <a:xfrm>
            <a:off x="5577840" y="1600200"/>
            <a:ext cx="1463040" cy="5486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Chat</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543800" y="1709928"/>
            <a:ext cx="329184" cy="329184"/>
          </a:xfrm>
          <a:prstGeom prst="rect">
            <a:avLst/>
          </a:prstGeom>
        </p:spPr>
      </p:pic>
      <p:sp>
        <p:nvSpPr>
          <p:cNvPr id="6" name="Text 2"/>
          <p:cNvSpPr txBox="1"/>
          <p:nvPr/>
        </p:nvSpPr>
        <p:spPr>
          <a:xfrm>
            <a:off x="7955280" y="1600200"/>
            <a:ext cx="1463040" cy="54864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Cowork</a:t>
            </a:r>
            <a:endParaRPr lang="fr-FR" sz="2200" dirty="0"/>
          </a:p>
        </p:txBody>
      </p:sp>
      <p:pic>
        <p:nvPicPr>
          <p:cNvPr id="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21240" y="1709928"/>
            <a:ext cx="329184" cy="329184"/>
          </a:xfrm>
          <a:prstGeom prst="rect">
            <a:avLst/>
          </a:prstGeom>
        </p:spPr>
      </p:pic>
      <p:sp>
        <p:nvSpPr>
          <p:cNvPr id="8" name="Text 3"/>
          <p:cNvSpPr txBox="1"/>
          <p:nvPr/>
        </p:nvSpPr>
        <p:spPr>
          <a:xfrm>
            <a:off x="10332720" y="1600200"/>
            <a:ext cx="1463040" cy="54864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Code</a:t>
            </a:r>
            <a:endParaRPr lang="fr-FR" sz="2200" dirty="0"/>
          </a:p>
        </p:txBody>
      </p:sp>
      <p:sp>
        <p:nvSpPr>
          <p:cNvPr id="9" name="Shape 4"/>
          <p:cNvSpPr/>
          <p:nvPr/>
        </p:nvSpPr>
        <p:spPr>
          <a:xfrm>
            <a:off x="548640" y="2240280"/>
            <a:ext cx="11338560" cy="603504"/>
          </a:xfrm>
          <a:prstGeom prst="rect">
            <a:avLst/>
          </a:prstGeom>
          <a:solidFill>
            <a:srgbClr val="F1F3F6"/>
          </a:solidFill>
          <a:ln/>
        </p:spPr>
      </p:sp>
      <p:sp>
        <p:nvSpPr>
          <p:cNvPr id="10" name="Text 5"/>
          <p:cNvSpPr txBox="1"/>
          <p:nvPr/>
        </p:nvSpPr>
        <p:spPr>
          <a:xfrm>
            <a:off x="731520" y="224028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Entretien et rédaction</a:t>
            </a:r>
            <a:endParaRPr lang="fr-FR" sz="19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760720" y="2377440"/>
            <a:ext cx="329184" cy="329184"/>
          </a:xfrm>
          <a:prstGeom prst="rect">
            <a:avLst/>
          </a:prstGeom>
        </p:spPr>
      </p:pic>
      <p:pic>
        <p:nvPicPr>
          <p:cNvPr id="12"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38160" y="2377440"/>
            <a:ext cx="329184" cy="329184"/>
          </a:xfrm>
          <a:prstGeom prst="rect">
            <a:avLst/>
          </a:prstGeom>
        </p:spPr>
      </p:pic>
      <p:pic>
        <p:nvPicPr>
          <p:cNvPr id="1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0" y="2377440"/>
            <a:ext cx="329184" cy="329184"/>
          </a:xfrm>
          <a:prstGeom prst="rect">
            <a:avLst/>
          </a:prstGeom>
        </p:spPr>
      </p:pic>
      <p:sp>
        <p:nvSpPr>
          <p:cNvPr id="14" name="Text 6"/>
          <p:cNvSpPr txBox="1"/>
          <p:nvPr/>
        </p:nvSpPr>
        <p:spPr>
          <a:xfrm>
            <a:off x="731520" y="2843784"/>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Tests sur cas réels</a:t>
            </a:r>
            <a:endParaRPr lang="fr-FR" sz="1900" dirty="0"/>
          </a:p>
        </p:txBody>
      </p:sp>
      <p:sp>
        <p:nvSpPr>
          <p:cNvPr id="15" name="Text 7"/>
          <p:cNvSpPr txBox="1"/>
          <p:nvPr/>
        </p:nvSpPr>
        <p:spPr>
          <a:xfrm>
            <a:off x="4846320" y="2843784"/>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un par un</a:t>
            </a:r>
            <a:endParaRPr lang="fr-FR" sz="1600" dirty="0"/>
          </a:p>
        </p:txBody>
      </p:sp>
      <p:pic>
        <p:nvPicPr>
          <p:cNvPr id="16"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38160" y="2980944"/>
            <a:ext cx="329184" cy="329184"/>
          </a:xfrm>
          <a:prstGeom prst="rect">
            <a:avLst/>
          </a:prstGeom>
        </p:spPr>
      </p:pic>
      <p:pic>
        <p:nvPicPr>
          <p:cNvPr id="17"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10515600" y="2980944"/>
            <a:ext cx="329184" cy="329184"/>
          </a:xfrm>
          <a:prstGeom prst="rect">
            <a:avLst/>
          </a:prstGeom>
        </p:spPr>
      </p:pic>
      <p:sp>
        <p:nvSpPr>
          <p:cNvPr id="18" name="Shape 8"/>
          <p:cNvSpPr/>
          <p:nvPr/>
        </p:nvSpPr>
        <p:spPr>
          <a:xfrm>
            <a:off x="548640" y="3447288"/>
            <a:ext cx="11338560" cy="603504"/>
          </a:xfrm>
          <a:prstGeom prst="rect">
            <a:avLst/>
          </a:prstGeom>
          <a:solidFill>
            <a:srgbClr val="F1F3F6"/>
          </a:solidFill>
          <a:ln/>
        </p:spPr>
      </p:sp>
      <p:sp>
        <p:nvSpPr>
          <p:cNvPr id="19" name="Text 9"/>
          <p:cNvSpPr txBox="1"/>
          <p:nvPr/>
        </p:nvSpPr>
        <p:spPr>
          <a:xfrm>
            <a:off x="731520" y="3447288"/>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Comparaison avec / sans skill</a:t>
            </a:r>
            <a:endParaRPr lang="fr-FR" sz="1900" dirty="0"/>
          </a:p>
        </p:txBody>
      </p:sp>
      <p:pic>
        <p:nvPicPr>
          <p:cNvPr id="20"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5760720" y="3584448"/>
            <a:ext cx="329184" cy="329184"/>
          </a:xfrm>
          <a:prstGeom prst="rect">
            <a:avLst/>
          </a:prstGeom>
        </p:spPr>
      </p:pic>
      <p:pic>
        <p:nvPicPr>
          <p:cNvPr id="21"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138160" y="3584448"/>
            <a:ext cx="329184" cy="329184"/>
          </a:xfrm>
          <a:prstGeom prst="rect">
            <a:avLst/>
          </a:prstGeom>
        </p:spPr>
      </p:pic>
      <p:pic>
        <p:nvPicPr>
          <p:cNvPr id="22"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10515600" y="3584448"/>
            <a:ext cx="329184" cy="329184"/>
          </a:xfrm>
          <a:prstGeom prst="rect">
            <a:avLst/>
          </a:prstGeom>
        </p:spPr>
      </p:pic>
      <p:sp>
        <p:nvSpPr>
          <p:cNvPr id="23" name="Text 10"/>
          <p:cNvSpPr txBox="1"/>
          <p:nvPr/>
        </p:nvSpPr>
        <p:spPr>
          <a:xfrm>
            <a:off x="731520" y="4050792"/>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Résultats à relire</a:t>
            </a:r>
            <a:endParaRPr lang="fr-FR" sz="1900" dirty="0"/>
          </a:p>
        </p:txBody>
      </p:sp>
      <p:sp>
        <p:nvSpPr>
          <p:cNvPr id="24" name="Text 11"/>
          <p:cNvSpPr txBox="1"/>
          <p:nvPr/>
        </p:nvSpPr>
        <p:spPr>
          <a:xfrm>
            <a:off x="484632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dans la conversation</a:t>
            </a:r>
            <a:endParaRPr lang="fr-FR" sz="1600" dirty="0"/>
          </a:p>
        </p:txBody>
      </p:sp>
      <p:sp>
        <p:nvSpPr>
          <p:cNvPr id="25" name="Text 12"/>
          <p:cNvSpPr txBox="1"/>
          <p:nvPr/>
        </p:nvSpPr>
        <p:spPr>
          <a:xfrm>
            <a:off x="722376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6" name="Text 13"/>
          <p:cNvSpPr txBox="1"/>
          <p:nvPr/>
        </p:nvSpPr>
        <p:spPr>
          <a:xfrm>
            <a:off x="960120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7" name="Shape 14"/>
          <p:cNvSpPr/>
          <p:nvPr/>
        </p:nvSpPr>
        <p:spPr>
          <a:xfrm>
            <a:off x="548640" y="4654296"/>
            <a:ext cx="11338560" cy="603504"/>
          </a:xfrm>
          <a:prstGeom prst="rect">
            <a:avLst/>
          </a:prstGeom>
          <a:solidFill>
            <a:srgbClr val="F1F3F6"/>
          </a:solidFill>
          <a:ln/>
        </p:spPr>
      </p:sp>
      <p:sp>
        <p:nvSpPr>
          <p:cNvPr id="28" name="Text 15"/>
          <p:cNvSpPr txBox="1"/>
          <p:nvPr/>
        </p:nvSpPr>
        <p:spPr>
          <a:xfrm>
            <a:off x="731520" y="4654296"/>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Affiner la description</a:t>
            </a:r>
            <a:endParaRPr lang="fr-FR" sz="1900" dirty="0"/>
          </a:p>
        </p:txBody>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5760720" y="4791456"/>
            <a:ext cx="329184" cy="329184"/>
          </a:xfrm>
          <a:prstGeom prst="rect">
            <a:avLst/>
          </a:prstGeom>
        </p:spPr>
      </p:pic>
      <p:pic>
        <p:nvPicPr>
          <p:cNvPr id="30"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138160" y="4791456"/>
            <a:ext cx="329184" cy="329184"/>
          </a:xfrm>
          <a:prstGeom prst="rect">
            <a:avLst/>
          </a:prstGeom>
        </p:spPr>
      </p:pic>
      <p:pic>
        <p:nvPicPr>
          <p:cNvPr id="31"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10515600" y="4791456"/>
            <a:ext cx="329184" cy="329184"/>
          </a:xfrm>
          <a:prstGeom prst="rect">
            <a:avLst/>
          </a:prstGeom>
        </p:spPr>
      </p:pic>
      <p:sp>
        <p:nvSpPr>
          <p:cNvPr id="32" name="Text 16"/>
          <p:cNvSpPr txBox="1"/>
          <p:nvPr/>
        </p:nvSpPr>
        <p:spPr>
          <a:xfrm>
            <a:off x="731520" y="525780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Installation</a:t>
            </a:r>
            <a:endParaRPr lang="fr-FR" sz="1900" dirty="0"/>
          </a:p>
        </p:txBody>
      </p:sp>
      <p:sp>
        <p:nvSpPr>
          <p:cNvPr id="33" name="Text 17"/>
          <p:cNvSpPr txBox="1"/>
          <p:nvPr/>
        </p:nvSpPr>
        <p:spPr>
          <a:xfrm>
            <a:off x="484632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4" name="Text 18"/>
          <p:cNvSpPr txBox="1"/>
          <p:nvPr/>
        </p:nvSpPr>
        <p:spPr>
          <a:xfrm>
            <a:off x="722376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5" name="Text 19"/>
          <p:cNvSpPr txBox="1"/>
          <p:nvPr/>
        </p:nvSpPr>
        <p:spPr>
          <a:xfrm>
            <a:off x="960120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ourier New" pitchFamily="34" charset="0"/>
                <a:ea typeface="Courier New" pitchFamily="34" charset="-122"/>
                <a:cs typeface="Courier New" pitchFamily="34" charset="-120"/>
              </a:rPr>
              <a:t>.claude/skills/</a:t>
            </a:r>
            <a:endParaRPr lang="fr-FR" sz="1600" dirty="0"/>
          </a:p>
        </p:txBody>
      </p:sp>
      <p:sp>
        <p:nvSpPr>
          <p:cNvPr id="36"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fr-FR" altLang="en-US" sz="1600" i="1" dirty="0">
                <a:solidFill>
                  <a:srgbClr val="566070"/>
                </a:solidFill>
                <a:latin typeface="Calibri" pitchFamily="34" charset="0"/>
                <a:ea typeface="Calibri" pitchFamily="34" charset="-122"/>
                <a:cs typeface="Calibri" pitchFamily="34" charset="-120"/>
              </a:rPr>
              <a:t>D'après les instructions de skill-creator pour Chat, Cowork et Claude Code.</a:t>
            </a:r>
            <a:endParaRPr lang="fr-FR" sz="1600" dirty="0"/>
          </a:p>
        </p:txBody>
      </p:sp>
      <p:sp>
        <p:nvSpPr>
          <p:cNvPr id="37"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8"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Cowork ou Code pour créer une skill ?</a:t>
            </a:r>
            <a:endParaRPr lang="fr-FR" sz="4000" dirty="0"/>
          </a:p>
        </p:txBody>
      </p:sp>
      <p:sp>
        <p:nvSpPr>
          <p:cNvPr id="3" name="Shape 1"/>
          <p:cNvSpPr/>
          <p:nvPr/>
        </p:nvSpPr>
        <p:spPr>
          <a:xfrm>
            <a:off x="3383280" y="1600200"/>
            <a:ext cx="4160520" cy="4023360"/>
          </a:xfrm>
          <a:prstGeom prst="roundRect">
            <a:avLst>
              <a:gd name="adj" fmla="val 3409"/>
            </a:avLst>
          </a:prstGeom>
          <a:solidFill>
            <a:srgbClr val="E6EDFA"/>
          </a:solidFill>
          <a:ln/>
        </p:spPr>
      </p:sp>
      <p:sp>
        <p:nvSpPr>
          <p:cNvPr id="4" name="Shape 2"/>
          <p:cNvSpPr/>
          <p:nvPr/>
        </p:nvSpPr>
        <p:spPr>
          <a:xfrm>
            <a:off x="7635240" y="1600200"/>
            <a:ext cx="4160520" cy="4023360"/>
          </a:xfrm>
          <a:prstGeom prst="roundRect">
            <a:avLst>
              <a:gd name="adj" fmla="val 3409"/>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657600" y="1737360"/>
            <a:ext cx="365760" cy="365760"/>
          </a:xfrm>
          <a:prstGeom prst="rect">
            <a:avLst/>
          </a:prstGeom>
        </p:spPr>
      </p:pic>
      <p:sp>
        <p:nvSpPr>
          <p:cNvPr id="6" name="Text 3"/>
          <p:cNvSpPr txBox="1"/>
          <p:nvPr/>
        </p:nvSpPr>
        <p:spPr>
          <a:xfrm>
            <a:off x="4160520" y="1645920"/>
            <a:ext cx="2743200" cy="548640"/>
          </a:xfrm>
          <a:prstGeom prst="rect">
            <a:avLst/>
          </a:prstGeom>
          <a:noFill/>
          <a:ln/>
        </p:spPr>
        <p:txBody>
          <a:bodyPr wrap="square" lIns="0" tIns="0" rIns="0" bIns="0" rtlCol="0" anchor="ctr"/>
          <a:lstStyle/>
          <a:p>
            <a:pPr indent="0" marL="0">
              <a:buNone/>
            </a:pPr>
            <a:r>
              <a:rPr lang="fr-FR" altLang="en-US" sz="2400" b="1" dirty="0">
                <a:solidFill>
                  <a:srgbClr val="2F5FC4"/>
                </a:solidFill>
                <a:latin typeface="Calibri" pitchFamily="34" charset="0"/>
                <a:ea typeface="Calibri" pitchFamily="34" charset="-122"/>
                <a:cs typeface="Calibri" pitchFamily="34" charset="-120"/>
              </a:rPr>
              <a:t>Cowork</a:t>
            </a:r>
            <a:endParaRPr lang="fr-FR" sz="24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909560" y="1737360"/>
            <a:ext cx="365760" cy="365760"/>
          </a:xfrm>
          <a:prstGeom prst="rect">
            <a:avLst/>
          </a:prstGeom>
        </p:spPr>
      </p:pic>
      <p:sp>
        <p:nvSpPr>
          <p:cNvPr id="8" name="Text 4"/>
          <p:cNvSpPr txBox="1"/>
          <p:nvPr/>
        </p:nvSpPr>
        <p:spPr>
          <a:xfrm>
            <a:off x="8412480" y="1645920"/>
            <a:ext cx="2743200" cy="5486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Code</a:t>
            </a:r>
            <a:endParaRPr lang="fr-FR" sz="2400" dirty="0"/>
          </a:p>
        </p:txBody>
      </p:sp>
      <p:sp>
        <p:nvSpPr>
          <p:cNvPr id="9" name="Text 5"/>
          <p:cNvSpPr txBox="1"/>
          <p:nvPr/>
        </p:nvSpPr>
        <p:spPr>
          <a:xfrm>
            <a:off x="548640" y="2240280"/>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La skill vit…</a:t>
            </a:r>
            <a:endParaRPr lang="fr-FR" sz="1900" dirty="0"/>
          </a:p>
        </p:txBody>
      </p:sp>
      <p:sp>
        <p:nvSpPr>
          <p:cNvPr id="10" name="Text 6"/>
          <p:cNvSpPr txBox="1"/>
          <p:nvPr/>
        </p:nvSpPr>
        <p:spPr>
          <a:xfrm>
            <a:off x="3657600" y="2240280"/>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dans votre compte Claude</a:t>
            </a:r>
            <a:endParaRPr lang="fr-FR" sz="1900" dirty="0"/>
          </a:p>
        </p:txBody>
      </p:sp>
      <p:sp>
        <p:nvSpPr>
          <p:cNvPr id="11" name="Text 7"/>
          <p:cNvSpPr txBox="1"/>
          <p:nvPr/>
        </p:nvSpPr>
        <p:spPr>
          <a:xfrm>
            <a:off x="7909560" y="2240280"/>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dans un dossier .claude/skills/</a:t>
            </a:r>
            <a:endParaRPr lang="fr-FR" sz="1900" dirty="0"/>
          </a:p>
        </p:txBody>
      </p:sp>
      <p:sp>
        <p:nvSpPr>
          <p:cNvPr id="12" name="Shape 8"/>
          <p:cNvSpPr/>
          <p:nvPr/>
        </p:nvSpPr>
        <p:spPr>
          <a:xfrm>
            <a:off x="548640" y="2898648"/>
            <a:ext cx="2651760" cy="0"/>
          </a:xfrm>
          <a:prstGeom prst="line">
            <a:avLst/>
          </a:prstGeom>
          <a:noFill/>
          <a:ln w="12700">
            <a:solidFill>
              <a:srgbClr val="D5D9E0"/>
            </a:solidFill>
            <a:prstDash val="solid"/>
          </a:ln>
        </p:spPr>
      </p:sp>
      <p:sp>
        <p:nvSpPr>
          <p:cNvPr id="13" name="Text 9"/>
          <p:cNvSpPr txBox="1"/>
          <p:nvPr/>
        </p:nvSpPr>
        <p:spPr>
          <a:xfrm>
            <a:off x="548640" y="2898648"/>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Pour l'enregistrer</a:t>
            </a:r>
            <a:endParaRPr lang="fr-FR" sz="1900" dirty="0"/>
          </a:p>
        </p:txBody>
      </p:sp>
      <p:sp>
        <p:nvSpPr>
          <p:cNvPr id="14" name="Text 10"/>
          <p:cNvSpPr txBox="1"/>
          <p:nvPr/>
        </p:nvSpPr>
        <p:spPr>
          <a:xfrm>
            <a:off x="3657600" y="2898648"/>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fichier .skill, « Save skill »</a:t>
            </a:r>
            <a:endParaRPr lang="fr-FR" sz="1900" dirty="0"/>
          </a:p>
        </p:txBody>
      </p:sp>
      <p:sp>
        <p:nvSpPr>
          <p:cNvPr id="15" name="Text 11"/>
          <p:cNvSpPr txBox="1"/>
          <p:nvPr/>
        </p:nvSpPr>
        <p:spPr>
          <a:xfrm>
            <a:off x="7909560" y="2898648"/>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rien à importer</a:t>
            </a:r>
            <a:endParaRPr lang="fr-FR" sz="1900" dirty="0"/>
          </a:p>
        </p:txBody>
      </p:sp>
      <p:sp>
        <p:nvSpPr>
          <p:cNvPr id="16" name="Shape 12"/>
          <p:cNvSpPr/>
          <p:nvPr/>
        </p:nvSpPr>
        <p:spPr>
          <a:xfrm>
            <a:off x="548640" y="3557016"/>
            <a:ext cx="2651760" cy="0"/>
          </a:xfrm>
          <a:prstGeom prst="line">
            <a:avLst/>
          </a:prstGeom>
          <a:noFill/>
          <a:ln w="12700">
            <a:solidFill>
              <a:srgbClr val="D5D9E0"/>
            </a:solidFill>
            <a:prstDash val="solid"/>
          </a:ln>
        </p:spPr>
      </p:sp>
      <p:sp>
        <p:nvSpPr>
          <p:cNvPr id="17" name="Text 13"/>
          <p:cNvSpPr txBox="1"/>
          <p:nvPr/>
        </p:nvSpPr>
        <p:spPr>
          <a:xfrm>
            <a:off x="548640" y="3557016"/>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Elle est disponible</a:t>
            </a:r>
            <a:endParaRPr lang="fr-FR" sz="1900" dirty="0"/>
          </a:p>
        </p:txBody>
      </p:sp>
      <p:sp>
        <p:nvSpPr>
          <p:cNvPr id="18" name="Text 14"/>
          <p:cNvSpPr txBox="1"/>
          <p:nvPr/>
        </p:nvSpPr>
        <p:spPr>
          <a:xfrm>
            <a:off x="3657600" y="3557016"/>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partout : Chat, Cowork, Code</a:t>
            </a:r>
            <a:endParaRPr lang="fr-FR" sz="1900" dirty="0"/>
          </a:p>
        </p:txBody>
      </p:sp>
      <p:sp>
        <p:nvSpPr>
          <p:cNvPr id="19" name="Text 15"/>
          <p:cNvSpPr txBox="1"/>
          <p:nvPr/>
        </p:nvSpPr>
        <p:spPr>
          <a:xfrm>
            <a:off x="7909560" y="3557016"/>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dans Claude Code seulement</a:t>
            </a:r>
            <a:endParaRPr lang="fr-FR" sz="1900" dirty="0"/>
          </a:p>
        </p:txBody>
      </p:sp>
      <p:sp>
        <p:nvSpPr>
          <p:cNvPr id="20" name="Shape 16"/>
          <p:cNvSpPr/>
          <p:nvPr/>
        </p:nvSpPr>
        <p:spPr>
          <a:xfrm>
            <a:off x="548640" y="4215384"/>
            <a:ext cx="2651760" cy="0"/>
          </a:xfrm>
          <a:prstGeom prst="line">
            <a:avLst/>
          </a:prstGeom>
          <a:noFill/>
          <a:ln w="12700">
            <a:solidFill>
              <a:srgbClr val="D5D9E0"/>
            </a:solidFill>
            <a:prstDash val="solid"/>
          </a:ln>
        </p:spPr>
      </p:sp>
      <p:sp>
        <p:nvSpPr>
          <p:cNvPr id="21" name="Text 17"/>
          <p:cNvSpPr txBox="1"/>
          <p:nvPr/>
        </p:nvSpPr>
        <p:spPr>
          <a:xfrm>
            <a:off x="548640" y="4215384"/>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En plus</a:t>
            </a:r>
            <a:endParaRPr lang="fr-FR" sz="1900" dirty="0"/>
          </a:p>
        </p:txBody>
      </p:sp>
      <p:sp>
        <p:nvSpPr>
          <p:cNvPr id="22" name="Text 18"/>
          <p:cNvSpPr txBox="1"/>
          <p:nvPr/>
        </p:nvSpPr>
        <p:spPr>
          <a:xfrm>
            <a:off x="3657600" y="4215384"/>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a:t>
            </a:r>
            <a:endParaRPr lang="fr-FR" sz="1900" dirty="0"/>
          </a:p>
        </p:txBody>
      </p:sp>
      <p:sp>
        <p:nvSpPr>
          <p:cNvPr id="23" name="Text 19"/>
          <p:cNvSpPr txBox="1"/>
          <p:nvPr/>
        </p:nvSpPr>
        <p:spPr>
          <a:xfrm>
            <a:off x="7909560" y="4215384"/>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paramètres, commandes, mode plan</a:t>
            </a:r>
            <a:endParaRPr lang="fr-FR" sz="1900" dirty="0"/>
          </a:p>
        </p:txBody>
      </p:sp>
      <p:sp>
        <p:nvSpPr>
          <p:cNvPr id="24" name="Shape 20"/>
          <p:cNvSpPr/>
          <p:nvPr/>
        </p:nvSpPr>
        <p:spPr>
          <a:xfrm>
            <a:off x="548640" y="4873752"/>
            <a:ext cx="2651760" cy="0"/>
          </a:xfrm>
          <a:prstGeom prst="line">
            <a:avLst/>
          </a:prstGeom>
          <a:noFill/>
          <a:ln w="12700">
            <a:solidFill>
              <a:srgbClr val="D5D9E0"/>
            </a:solidFill>
            <a:prstDash val="solid"/>
          </a:ln>
        </p:spPr>
      </p:sp>
      <p:sp>
        <p:nvSpPr>
          <p:cNvPr id="25" name="Text 21"/>
          <p:cNvSpPr txBox="1"/>
          <p:nvPr/>
        </p:nvSpPr>
        <p:spPr>
          <a:xfrm>
            <a:off x="548640" y="4873752"/>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Partage en équipe</a:t>
            </a:r>
            <a:endParaRPr lang="fr-FR" sz="1900" dirty="0"/>
          </a:p>
        </p:txBody>
      </p:sp>
      <p:sp>
        <p:nvSpPr>
          <p:cNvPr id="26" name="Text 22"/>
          <p:cNvSpPr txBox="1"/>
          <p:nvPr/>
        </p:nvSpPr>
        <p:spPr>
          <a:xfrm>
            <a:off x="3657600" y="4873752"/>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Publier dans l'organisation</a:t>
            </a:r>
            <a:endParaRPr lang="fr-FR" sz="1900" dirty="0"/>
          </a:p>
        </p:txBody>
      </p:sp>
      <p:sp>
        <p:nvSpPr>
          <p:cNvPr id="27" name="Text 23"/>
          <p:cNvSpPr txBox="1"/>
          <p:nvPr/>
        </p:nvSpPr>
        <p:spPr>
          <a:xfrm>
            <a:off x="7909560" y="4873752"/>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le dépôt Git du projet</a:t>
            </a:r>
            <a:endParaRPr lang="fr-FR" sz="1900" dirty="0"/>
          </a:p>
        </p:txBody>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48640" y="5852160"/>
            <a:ext cx="329184" cy="329184"/>
          </a:xfrm>
          <a:prstGeom prst="rect">
            <a:avLst/>
          </a:prstGeom>
        </p:spPr>
      </p:pic>
      <p:sp>
        <p:nvSpPr>
          <p:cNvPr id="29" name="Text 24"/>
          <p:cNvSpPr txBox="1"/>
          <p:nvPr/>
        </p:nvSpPr>
        <p:spPr>
          <a:xfrm>
            <a:off x="1005840" y="5760720"/>
            <a:ext cx="10789920" cy="502920"/>
          </a:xfrm>
          <a:prstGeom prst="rect">
            <a:avLst/>
          </a:prstGeom>
          <a:noFill/>
          <a:ln/>
        </p:spPr>
        <p:txBody>
          <a:bodyPr wrap="square" lIns="0" tIns="0" rIns="0" bIns="0" rtlCol="0" anchor="ctr"/>
          <a:lstStyle/>
          <a:p>
            <a:pPr indent="0" marL="0">
              <a:buNone/>
            </a:pPr>
            <a:r>
              <a:rPr lang="fr-FR" altLang="en-US" sz="1900" b="1" dirty="0">
                <a:solidFill>
                  <a:srgbClr val="B8235A"/>
                </a:solidFill>
                <a:latin typeface="Calibri" pitchFamily="34" charset="0"/>
                <a:ea typeface="Calibri" pitchFamily="34" charset="-122"/>
                <a:cs typeface="Calibri" pitchFamily="34" charset="-120"/>
              </a:rPr>
              <a:t>Le meilleur des deux : créer et tester dans Code, puis importer le .skill dans le compte.</a:t>
            </a:r>
            <a:endParaRPr lang="fr-FR" sz="1900" dirty="0"/>
          </a:p>
        </p:txBody>
      </p:sp>
      <p:sp>
        <p:nvSpPr>
          <p:cNvPr id="30"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skill-creator : d'abord trois questions</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compte-rendu.skill</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Save skill</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28</a:t>
            </a:r>
            <a:endParaRPr lang="fr-FR"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Envoyer le fichier de la skill</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à vous de répondre !</a:t>
            </a:r>
            <a:endParaRPr lang="fr-FR" sz="48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272888" y="2240280"/>
            <a:ext cx="1645920" cy="1645920"/>
          </a:xfrm>
          <a:prstGeom prst="rect">
            <a:avLst/>
          </a:prstGeom>
        </p:spPr>
      </p:pic>
      <p:sp>
        <p:nvSpPr>
          <p:cNvPr id="4" name="Text 1"/>
          <p:cNvSpPr txBox="1"/>
          <p:nvPr/>
        </p:nvSpPr>
        <p:spPr>
          <a:xfrm>
            <a:off x="457200" y="4206240"/>
            <a:ext cx="11277295" cy="548640"/>
          </a:xfrm>
          <a:prstGeom prst="rect">
            <a:avLst/>
          </a:prstGeom>
          <a:noFill/>
          <a:ln/>
        </p:spPr>
        <p:txBody>
          <a:bodyPr wrap="square" lIns="0" tIns="0" rIns="0" bIns="0" rtlCol="0" anchor="t"/>
          <a:lstStyle/>
          <a:p>
            <a:pPr algn="ctr" indent="0" marL="0">
              <a:buNone/>
            </a:pPr>
            <a:r>
              <a:rPr lang="fr-FR" altLang="en-US" sz="2800" dirty="0">
                <a:solidFill>
                  <a:srgbClr val="C9CFDA"/>
                </a:solidFill>
                <a:latin typeface="Calibri" pitchFamily="34" charset="0"/>
                <a:ea typeface="Calibri" pitchFamily="34" charset="-122"/>
                <a:cs typeface="Calibri" pitchFamily="34" charset="-120"/>
              </a:rPr>
              <a:t>9 questions · réponse à voix haute</a:t>
            </a:r>
            <a:endParaRPr lang="fr-FR" sz="2800" dirty="0"/>
          </a:p>
        </p:txBody>
      </p:sp>
      <p:sp>
        <p:nvSpPr>
          <p:cNvPr id="5" name="Text 2"/>
          <p:cNvSpPr txBox="1"/>
          <p:nvPr/>
        </p:nvSpPr>
        <p:spPr>
          <a:xfrm>
            <a:off x="457200" y="4846320"/>
            <a:ext cx="11277295" cy="457200"/>
          </a:xfrm>
          <a:prstGeom prst="rect">
            <a:avLst/>
          </a:prstGeom>
          <a:noFill/>
          <a:ln/>
        </p:spPr>
        <p:txBody>
          <a:bodyPr wrap="square" lIns="0" tIns="0" rIns="0" bIns="0" rtlCol="0" anchor="t"/>
          <a:lstStyle/>
          <a:p>
            <a:pPr algn="ctr" indent="0" marL="0">
              <a:buNone/>
            </a:pPr>
            <a:r>
              <a:rPr lang="fr-FR" altLang="en-US" sz="2200" i="1" dirty="0">
                <a:solidFill>
                  <a:srgbClr val="AEB5C2"/>
                </a:solidFill>
                <a:latin typeface="Calibri" pitchFamily="34" charset="0"/>
                <a:ea typeface="Calibri" pitchFamily="34" charset="-122"/>
                <a:cs typeface="Calibri" pitchFamily="34" charset="-120"/>
              </a:rPr>
              <a:t>Dites simplement la lettre : « B ! »</a:t>
            </a:r>
            <a:endParaRPr lang="fr-FR" sz="2200" dirty="0"/>
          </a:p>
        </p:txBody>
      </p:sp>
      <p:sp>
        <p:nvSpPr>
          <p:cNvPr id="6" name="Text 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7" name="Text 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48</a:t>
            </a:r>
            <a:endParaRPr lang="fr-FR"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skill-creator</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docx</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Rien, il improvise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49</a:t>
            </a:r>
            <a:endParaRPr lang="fr-FR"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skill-creator</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docx</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Rien, il improvise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50</a:t>
            </a:r>
            <a:endParaRPr lang="fr-FR"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51</a:t>
            </a:r>
            <a:endParaRPr lang="fr-FR"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2026-09-24T07:19:37Z</dcterms:created>
  <dcterms:modified xsi:type="dcterms:W3CDTF">2026-09-24T07:19:37Z</dcterms:modified>
</cp:coreProperties>
</file>