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fr-FR"/>
              <a:t>7/23/19</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fr-FR"/>
              <a:t>‹#›</a:t>
            </a:fld>
            <a:endParaRPr lang="fr-FR"/>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Accueillir, poser le cadre et annoncer la promesse de la séance.
TIMING — 0:30
Bonjour à toutes et à tous. Pendant une petite heure, on va parler d'une fonction de Claude qui change la façon de travailler avec lui : les skills, qu'on peut traduire par « compétences ». Pas besoin de savoir coder : si vous savez expliquer une tâche à un nouveau collègue, vous savez créer une skill. Le déroulé : d'abord comprendre ce que c'est, ensuite voir où en trouver, puis choisir où la créer (Chat, Cowork ou Code, avec le mode plan pour ne rien casser), la créer avec skill-creator, la skill d'Anthropic qui fabrique les skills, et enfin la partager. On finit par un petit quiz où vous répondrez à voix haute, et juste après, vous passez à la pratique sur vos propres cas.
QUESTION À LA SALLE — À main levée : qui utilise Claude au moins une fois par semaine ?
TRANSITION — Je commence par une question qui fâche un peu…</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Faire ressentir le problème avant de donner la solution.
TIMING — 1:30
Regardez ces trois messages. C'est la même consigne, recopiée trois fois : « rédige dans notre ton, une page maximum, avec un tableau des actions à la fin ». Vous l'avez sans doute déjà vécu : on garde un fichier de prompts quelque part, on copie, on colle, on oublie un morceau, et le résultat change d'une fois à l'autre. Claude ne se souvient pas de votre façon de faire d'une conversation à l'autre, sauf si vous la lui rangez quelque part. Une skill, c'est justement cet endroit : vous expliquez la méthode une bonne fois, et Claude la ressort toute seule chaque fois que la tâche se présente.
QUESTION À LA SALLE — Quelle consigne recopiez-vous le plus souvent ? Deux ou trois exemples dans la salle. Notez-les au tableau : ce seront des sujets pour l'atelier.
TRANSITION — Voici le chemin qu'on va parcourir ensemble.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Donner la carte du parcours, un picto par étape.
TIMING — 0:30
Six étapes, un picto chacune. Chaque partie s'ouvre sur une diapo colorée avec son numéro et son picto, et le pied de page de chaque diapo rappelle la partie en cours. On termine par un quiz, à l'oral.
TRANSITION — Première étape : qu'est-ce qu'une skill, concrètement ?</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Marquer le passage à la partie 1 et relancer l'attention.
TIMING — 0:10
On part de zéro : ce qu'est une skill, ce qu'elle contient et ce qu'elle change concrètement au résultat. Laissez la diapo quelques secondes, le temps que la salle se repère dans le programme.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Donner une image mentale simple et exacte de la façon dont Claude utilise une skill : trois niveaux de lecture.
TIMING — 1:30
Imaginez un classeur de fiches méthode posé à côté de Claude. L'aide officielle de Claude décrit précisément comment il s'en sert, en trois niveaux. Niveau 1 : pour chaque skill activée, Claude a toujours sous les yeux le nom et la description, c'est-à-dire l'onglet de la fiche et la phrase qui dit quand s'en servir. Juste assez pour savoir quand la skill est utile, sans charger tout son contenu ; c'est pour cela qu'on peut avoir beaucoup de skills sans encombrer Claude. Niveau 2 : quand votre demande correspond à une description (« fais-moi le compte rendu de cette réunion »), Claude sort la fiche et lit la méthode, le corps du fichier SKILL.md. Niveau 3 : si la méthode ne suffit pas, il consulte les fichiers annexes rangés avec la fiche, un modèle, un exemple, une grille, et seulement ceux dont il a besoin. Les autres fiches restent fermées. Deux conséquences pratiques. D'abord, tout se joue au niveau 1 : une description floue, et la fiche n'est jamais sortie du classeur. Ensuite, on peut mettre beaucoup de détails dans les annexes sans alourdir le travail de Claude, à condition que la méthode dise quand les lire. Vous n'avez rien à faire pour déclencher tout cela : Claude va chercher la fiche tout seul. Vous pouvez aussi l'appeler vous-même en tapant « / » dans la zone de message.
QUESTION À LA SALLE — Si vous aviez une seule fiche à écrire pour Claude demain matin, ce serait laquelle ?
TRANSITION — Ouvrons une de ces fiches pour voir ce qu'il y a dedans.</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Montrer qu'une skill est un simple dossier avec un fichier texte, sans rien de technique.
TIMING — 1:30
Une skill, c'est un dossier. Dedans, un fichier obligatoire qui s'appelle SKILL.md : c'est du texte simple, comme un document Word sans mise en forme. En haut, deux lignes d'en-tête. Le nom, d'abord : court, en minuscules, avec des tirets. Puis la description, la phrase la plus importante, parce que c'est elle qui dit à Claude QUAND utiliser la skill. En dessous, les instructions, écrites comme vous les donneriez à un nouveau collègue : les étapes, le ton, ce qu'il faut éviter, un exemple de résultat réussi. En option, le dossier peut contenir d'autres fichiers : un modèle Word, votre charte, des exemples, voire un petit script. Claude ne les ouvre que s'il en a besoin. Retenez que le « .md » veut dire Markdown, un format de texte tout simple : des dièses pour les titres, des tirets pour les listes. Pas de code à apprendre.
QUESTION À LA SALLE — Qui a déjà rédigé une fiche de procédure ou un mode opératoire pour un collègue ? Vous savez donc déjà écrire une skill.
TRANSITION — Concrètement, qu'est-ce que ça change au résultat ?</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Rendre visible la valeur ajoutée d'une skill.
TIMING — 1:00
Même demande à gauche et à droite : « fais le compte rendu de la réunion ». À gauche, sans skill : un texte correct mais générique, avec des titres standards, une longueur au hasard, et pas de tableau d'actions. Il faut tout reprendre. À droite, avec la skill « compte-rendu » : votre structure, votre ton, le tableau « qui fait quoi pour quand », une page maximum. Et c'est pareil la dixième fois que la première. C'est ça, le vrai gain : la régularité, sans répéter la consigne.
TRANSITION — Vous vous dites peut-être : « mais ça, je le fais déjà avec les Projets ». Justement, voyons la différence.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Marquer le passage à la partie 2 et relancer l'attention.
TIMING — 0:10
Deuxième étape : lever la confusion la plus fréquente, entre un projet qui connaît un sujet et une skill qui sait faire une tâche. Laissez la diapo quelques secondes, le temps que la salle se repère dans le programme.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Clarifier la confusion la plus fréquente : Projet et Skill sont complémentaires.
TIMING — 1:30
Un projet, c'est un bureau consacré à un sujet : on y range des documents de référence et des consignes, et toutes les conversations du projet y ont accès. Par exemple « Salon de mars », « Client Dupont », « Rapport annuel ». Le projet sait QUOI : il connaît le contexte. Mais il reste dans son bureau : ses consignes ne servent pas ailleurs. Une skill, c'est une compétence : une manière de faire que Claude emporte partout, dans n'importe quelle conversation ou projet, et même dans Cowork ou Claude Code. La skill sait COMMENT. Les deux se combinent très bien : dans le projet « Client Dupont », Claude utilisera votre skill « relance client » pour écrire le mail. Un repère simple : si c'est un sujet, c'est un projet ; si c'est une façon de faire qui revient, c'est une skill.
TRANSITION — On vérifie tout de suite que c'est clair, avec quatre cas.</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Ancrer la distinction par l'exercice, à main levée.
TIMING — 1:00
Pour chaque carte, je demande : main gauche pour projet, main droite pour skill. Réponses : Dupont, c'est un projet (un sujet, des documents). La charte à appliquer partout, c'est une skill (une façon de faire, réutilisable). Le salon de mars, c'est un projet. Les offres d'emploi au même format, c'est une skill. Piège fréquent : « mais le salon a aussi des mails à rédiger ». Oui : le projet contient le contexte du salon, et une skill « mail d'invitation » peut servir dedans. Si vous manquez de temps, ne faites que deux cartes.
QUESTION À LA SALLE — Main gauche : projet. Main droite : skill. Carte par carte.
TRANSITION — Bonne nouvelle : vous n'avez pas besoin de tout créer vous-mêmes. Beaucoup de skills existent déjà.</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Marquer le passage à la partie 3 et relancer l'attention.
TIMING — 0:10
Troisième étape : avant de créer, on regarde ce qui existe déjà, dans le catalogue de Claude et sur GitHub, avec une règle de sécurité. Laissez la diapo quelques secondes, le temps que la salle se repère dans le programme.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Montrer où trouver et activer les skills et plugins déjà prêts.
TIMING — 1:15
Dans Claude, sur le web, dans l'application ou dans Cowork, ouvrez « Personnaliser » dans la barre de gauche (Customize en anglais). Vous y trouvez les onglets Skills et Plugins. Côté Skills, Anthropic fournit des skills prêtes à l'emploi, par exemple pour produire un document Word, un PowerPoint, un tableur ou un PDF propre. Il suffit de basculer l'interrupteur. Vérifiez au passage que skill-creator est activée : c'est la skill d'Anthropic sur laquelle Claude s'appuie pour vous aider à créer les vôtres. Côté Plugins, « Parcourir les plugins » ouvre le catalogue : un plugin, c'est un paquet prêt à l'emploi qui réunit plusieurs skills, parfois avec des connecteurs vers vos outils (Notion, Canva, Figma, Atlassian…). On clique sur « Installer ». Deux conditions : l'option « Exécution de code et création de fichiers » doit être activée dans Paramètres › Capacités ; et en offre Team ou Enterprise, c'est l'administrateur qui autorise les skills pour l'organisation. Les noms exacts des menus peuvent varier selon la version : vérifiez-les le jour J sur votre écran.
QUESTION À LA SALLE — Qui a déjà ouvert le menu Personnaliser ? Qu'y avez-vous trouvé ?
TRANSITION — Et si la skill qui vous intéresse n'est pas dans le catalogue ? Direction GitHub.</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Rendre accessible la récupération d'une skill publiée sur GitHub.
TIMING — 1:30
GitHub, c'est une immense bibliothèque de fichiers partagés, très utilisée pour publier des skills. La référence : le dépôt « anthropics/skills », tenu par Anthropic, qui contient des dizaines d'exemples et un modèle vierge. Trois gestes. Un : trouver la skill et ouvrir son dossier. Deux : la télécharger en .zip (bouton vert « Code », puis « Download ZIP », et ne garder que le dossier de la skill, celui qui contient SKILL.md). Trois : dans Claude, Personnaliser › Skills, bouton « + », « Importer une skill », puis choisir le .zip. Attention au format : le .zip doit contenir le dossier de la skill, pas les fichiers en vrac. Pour un plugin complet, c'est encore plus simple : Personnaliser › Plugins, « + », « Ajouter depuis un dépôt », et on colle l'adresse GitHub. Pour ceux qui utilisent Claude Code : la commande /plugin marketplace add anthropics/skills fait la même chose.
TRANSITION — Mais avant d'importer quoi que ce soit, une règle d'or.</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Installer un réflexe de sécurité.
TIMING — 0:45
Une skill, ce sont des instructions que Claude va suivre, parfois accompagnées de scripts qu'il exécutera. Une skill malveillante pourrait lui demander d'envoyer vos données ailleurs, ou de faire autre chose que ce qu'annonce son titre. Trois réflexes : je connais l'auteur, ou la source est officielle ; j'ouvre le SKILL.md et je le lis (c'est du texte, ça se lit en deux minutes) ; s'il y a des scripts que je ne comprends pas, je demande à quelqu'un de compétent, ou je demande à Claude de m'expliquer ce qu'ils font avant d'installer. Pour Claude Code, un point de plus : l'en-tête d'une skill peut contenir une ligne allowed-tools qui autorise d'avance certaines commandes sans rien vous demander. Si vous la voyez, lisez-la avec attention. En entreprise, l'offre Enterprise peut analyser automatiquement les skills importées. Ça n'empêche pas de lire.
TRANSITION — Passons à la création. Première question : où ?</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Marquer le passage à la partie 4 et relancer l'attention.
TIMING — 0:10
Quatrième étape, le cœur de la séance : choisir sa porte d'entrée, et découvrir que Claude Code n'a rien d'effrayant grâce au mode plan. Laissez la diapo quelques secondes, le temps que la salle se repère dans le programme.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Présenter les trois portes d'entrée et annoncer qu'aucune n'est réservée aux experts.
TIMING — 1:30
Trois portes, une même skill. Chat, c'est la conversation classique, sur le web ou dans l'application : vous dites « aide-moi à créer une skill », Claude vous interroge, rédige, et vous remet un fichier de skill à enregistrer. Cowork, c'est le mode où Claude travaille dans vos dossiers et produit de vrais fichiers. Petite actualité : Chat et Cowork ont fusionné. Il n'y a plus qu'un seul Claude, qui converse et qui agit dans vos dossiers selon ce que vous lui demandez ; on garde ici les deux noms pour distinguer les deux façons de travailler. Rien ne s'est perdu dans la fusion : vos skills, projets et connecteurs ont suivi. Code, enfin, c'est Claude Code. Son nom fait peur, mais c'est simplement Claude qui travaille dans un dossier de votre ordinateur, avec plus de contrôle. Il est disponible dans un onglet de l'application de bureau, sans écran noir ni ligne de commande. Une bonne nouvelle pour finir : une skill enregistrée dans votre compte Claude vous suit dans les trois portes. Attention, la synchronisation va dans un seul sens : une skill créée dans Claude Code reste dans son dossier, et n'apparaît pas dans Chat ou Cowork tant qu'on ne l'a pas importée dans le compte.
QUESTION À LA SALLE — Qui a déjà utilisé Cowork ? Et Claude Code ? Qui a un peu peur de Claude Code ? (Retenez le nombre de mains : on refera le test à la fin.)
TRANSITION — Comparons honnêtement ce que chaque porte apporte… et ce qu'elle coûte.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Donner des critères de choix concrets : avantages et limites de chaque porte pour créer une skill.
TIMING — 3:00
Chat. Avantages : rien à installer, ça marche dans le navigateur ; Claude vous guide avec sa skill de création de skills et vous pose les bonnes questions ; à la fin, il vous remet un fichier de skill, qu'il suffit d'enregistrer dans votre compte. Limites : Claude ne voit pas vos dossiers. Il faut joindre les fichiers un à un, et ajouter plus tard un modèle ou un exemple est moins fluide. Cowork. Avantages : Claude travaille directement dans un dossier de votre ordinateur. Il peut lire votre charte en PDF, vos anciens comptes rendus, vos modèles Word, et produire de vrais fichiers. C'est idéal quand la skill s'appuie sur des documents. Limites : il faut l'application de bureau pour travailler sur vos dossiers, et il faut autoriser l'accès à chaque dossier. Code. Avantages : Claude voit tout le dossier de la skill, donc SKILL.md, exemples et modèles ensemble ; vous pouvez relire son plan avant qu'il ne touche à quoi que ce soit (le mode plan, j'y reviens) ; la skill est un simple dossier, facile à copier, à versionner et à partager avec une équipe ; enfin, on la teste immédiatement en tapant « / » suivi de son nom. Limites : l'interface impressionne la première fois, et il y a quelques mots nouveaux (dossier de travail, permission). C'est tout. Aucune de ces limites n'est technique : c'est de l'habitude.
QUESTION À LA SALLE — Pour la skill à laquelle vous pensez depuis le début, quelle porte choisiriez-vous ? Pourquoi ?
TRANSITION — Justement, parlons de ces peurs autour de Code.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Désamorcer une à une les quatre peurs qui empêchent d'essayer Claude Code.
TIMING — 2:30
Quatre idées reçues. Première : « il faut savoir coder ». Non : on écrit à Claude Code exactement comme dans Chat, en français, avec des phrases. Il écrit le SKILL.md pour vous, et c'est du texte. Deuxième : « c'est un écran noir de hacker ». Le terminal existe pour ceux qui l'aiment, mais Claude Code est aussi un onglet de l'application Claude sur ordinateur : une zone de message, un dossier choisi dans une fenêtre, des boutons. Troisième : « je vais tout casser ». C'est vous qui réglez le niveau de contrôle. Attention : sur les offres Pro, Max et Team, Claude Code démarre en mode auto, où un second modèle vérifie les actions à votre place sans vous demander. Pour une première fois, passez en mode Manuel : Claude demande alors avant chaque modification ou commande, et vous pouvez répondre non. Le mode plan va encore plus loin : Claude lit, réfléchit et propose, mais ne modifie rien tant que vous n'avez pas validé. Pour une première fois, travaillez sur une copie de votre dossier : vous ne risquez littéralement rien. Quatrième : « c'est pour les développeurs ». Claude Code fonctionne dans n'importe quel dossier : un dossier de notes, de modèles Word, de comptes rendus. Pour créer une skill, c'est même la porte la plus naturelle, puisqu'une skill… est un dossier.
QUESTION À LA SALLE — Laquelle de ces quatre peurs était la vôtre ? Levez la main à chaque carte.
TRANSITION — Le meilleur antidote à la peur, c'est le mode plan. Voyons comment il marche.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Expliquer le mode plan et pourquoi il rassure : on voit tout avant que rien ne bouge.
TIMING — 2:30
Le mode plan est une fonction de Claude Code. Quand il est activé, Claude peut lire vos fichiers et explorer le dossier, mais il n'a pas le droit de modifier quoi que ce soit. Son travail, c'est de vous proposer un plan : « je vais lire charte.pdf, créer tel dossier, écrire tel fichier avec telles sections, puis tester ». Vous lisez ce plan comme un devis. Trois réponses possibles : approuver et le laisser travailler ; approuver en validant chaque modification une par une ; ou dire « continue à planifier » et corriger (« ajoute une section sur les logos », « ne touche pas au dossier Archives »). Deux façons d'entrer en mode plan : commencer son message par /plan, ou, dans l'application de bureau, choisir « Plan » dans le sélecteur de mode à côté de la zone de message. Pourquoi est-ce idéal pour créer une skill ? Parce qu'une skill, c'est d'abord une structure : quelles étapes, quels exemples, quels fichiers. Le plan vous montre cette structure avant qu'elle n'existe, et c'est le meilleur moment pour la corriger. Astuce : dans Chat, vous pouvez imiter ce fonctionnement en écrivant « propose-moi d'abord un plan, n'écris rien avant mon accord ».
QUESTION À LA SALLE — Dans votre métier, qu'est-ce qui ressemble à ce « plan avant d'agir » ? (devis, ordre du jour, bon de commande…)
TRANSITION — Récapitulons avec une question simple : quelle porte pour moi ?</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19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Donner une règle de choix simple et mémorisable.
TIMING — 1:30
Trois situations. Pour une première skill, surtout faite de texte (une méthode, un ton, un format) : Chat, c'est parfait. Si la skill s'appuie sur des fichiers (une charte en PDF, des modèles, des exemples) : Cowork ou Code, qui voient votre dossier. Si vous voulez relire un plan avant toute action, faire évoluer la skill dans le temps ou la partager avec une équipe : Code. Et ce n'est pas un choix définitif. Beaucoup de gens commencent une skill dans Chat, puis la reprennent dans Code quand elle grandit : on importe le dossier, et Claude Code l'améliore en mode plan.
TRANSITION — Passons à la méthode de création, valable dans les trois portes.</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Marquer le passage à la partie 5 et relancer l'attention.
TIMING — 0:10
Cinquième étape : la méthode en cinq temps, une démonstration, les trois secrets d'une bonne skill et un cas d'usage officiel. Laissez la diapo quelques secondes, le temps que la salle se repère dans le programme.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Donner une méthode simple, réutilisable pendant l'atelier.
TIMING — 1:00
Un : repérer une tâche qui revient au moins une fois par semaine et qui se fait toujours de la même façon. Deux : la décrire à Claude comme à un nouveau collègue, avec si possible un exemple réussi (un ancien compte rendu, un mail type). Trois : laisser Claude générer la skill. Il s'appuie pour cela sur skill-creator, la skill d'Anthropic qui fabrique les skills : elle lui fait poser les bonnes questions, puis rédiger un SKILL.md conforme aux bonnes pratiques. Répondez-lui franchement. Quatre : tester, dans une nouvelle conversation, avec une demande naturelle, sans nommer la skill. Préparez trois demandes : deux qui doivent déclencher la skill, et une qui ne doit pas (par exemple « résume cet article » pour une skill de compte rendu). La mention « Using… » dans la réflexion de Claude indique si la skill a servi. Choisissez des demandes réalistes et un peu substantielles : Claude ne consulte pas une skill pour une tâche qu'il sait faire seul en une étape (« lis ce fichier »), même si la description correspond. Comparez aussi avec le résultat obtenu sans la skill : c'est ce qui prouve qu'elle apporte quelque chose. Anthropic résume la méthode ainsi : on conçoit avec un premier Claude, on teste avec un second dans une conversation neuve, et on rapporte au premier ce qu'on a observé. Cinq : ajuster. Si elle ne se déclenche pas, c'est presque toujours la description qu'il faut revoir. Si le résultat n'est pas bon, ce sont les instructions ou l'exemple. On boucle entre quatre et cinq deux ou trois fois : c'est normal.
TRANSITION — L'étape 3, concrètement, qui la fait ? Une skill : skill-creator.</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Présenter skill-creator, l'outil central de la création de skills, et sa boucle de travail.
TIMING — 2:00
Quand vous demandez à Claude de créer une skill, il ne part pas de zéro : il ouvre skill-creator, une skill écrite par Anthropic dont le métier est… de fabriquer des skills. C'est elle qui donne la méthode. Un : comprendre, avec quatre questions : que doit faire la skill, quand doit-elle se déclencher (avec quels mots vous la demandez), quel format de résultat, et faut-il prévoir des tests. Elle creuse ensuite les cas particuliers et vous demande des exemples. Deux : rédiger le SKILL.md, en appliquant les bonnes pratiques (description précise, texte concis, fichiers annexes si besoin). Trois : tester sur deux ou trois demandes réalistes, celles que vous feriez vraiment. Quatre : comparer le résultat avec et sans la skill, pour vérifier qu'elle apporte quelque chose. Cinq : améliorer à partir de vos retours ; skill-creator cherche à généraliser plutôt qu'à coller à vos exemples. Six : affiner la description, en la testant sur une vingtaine de demandes, dont certaines ne doivent PAS déclencher la skill. À la fin, elle empaquette le tout en un fichier .skill : dans Claude, la carte du fichier affiche un bouton « Save skill » qui l'installe dans votre profil, si votre organisation l'autorise. Elle sait aussi améliorer une skill existante, en gardant son nom. Retenez : pour créer une skill, on ne demande pas « écris-moi un fichier », on dit « aide-moi à créer une skill », et skill-creator prend la main.
QUESTION À LA SALLE — Laquelle de ces six étapes sauteriez-vous spontanément si vous faisiez seul ? (Souvent : comparer et affiner la description.)
TRANSITION — Mais skill-creator ne fait pas tout partout. Voyons ce qui change selon la porte.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Montrer que skill-creator est plus complète dans Cowork et Code, et en faire un argument pour oser Code.
TIMING — 1:30
skill-creator s'adapte à l'endroit où elle tourne, et ses propres instructions le disent. Dans Chat, elle fait l'essentiel : l'entretien, la rédaction, et des tests qu'elle exécute elle-même, un par un. En revanche, elle n'y compare pas les résultats avec et sans la skill, elle présente les résultats dans la conversation, et elle ne peut pas affiner automatiquement la description, qui demande l'outil en ligne de commande de Claude Code. Dans Cowork et dans Claude Code, elle peut lancer les tests en parallèle, les comparer à une version sans skill, vous ouvrir une page de résultats à relire et commenter, et optimiser la description sur une vingtaine de demandes. Conclusion pratique : pour une première skill simple, Chat suffit. Pour une skill qui compte, que toute une équipe va utiliser, passez par Cowork ou Code : vous aurez la version complète de la méthode. Dans Claude Code, si skill-creator n'est pas déjà disponible via votre compte, on l'installe avec le plugin d'exemples du dépôt anthropics/skills (commandes dans la fiche B8).
TRANSITION — Entre Cowork et Code, justement : pour une skill, où est la différence ?</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Distinguer Cowork et Code pour la création de skills : où vit la skill, ce que chacun permet, comment on partage.
TIMING — 2:00
Cowork et Code savent tous deux créer une skill avec la méthode complète de skill-creator. La vraie différence, c'est l'endroit où la skill vit. Dans Cowork, elle vit dans votre compte Claude : skill-creator vous remet un fichier .skill, vous cliquez sur « Save skill », et elle est disponible partout où vous êtes connecté, dans Chat, dans Cowork et même dans Claude Code. Dans Code, la skill est un simple dossier, rangé dans .claude/skills du projet ou dans votre dossier personnel : rien à importer, elle marche tout de suite, mais seulement dans Claude Code. La synchronisation va du compte vers Code, jamais dans l'autre sens : pour l'avoir aussi dans Cowork, on compresse le dossier et on l'importe dans le compte. Deuxième différence : Code sait faire des choses que Cowork ne sait pas. Une skill écrite pour Code peut recevoir des paramètres (par exemple /compte-rendu réunion-du-12), lancer une commande pour récupérer des données fraîches avant de démarrer, ou être réservée à un lancement manuel, pour une action sensible. On y a aussi le mode plan, l'historique des versions et la relecture de chaque modification. Troisième différence, le partage : dans Cowork, on publie la skill dans l'organisation (offres Team et Enterprise) ; dans Code, on la range dans le dépôt Git du projet, et toute l'équipe l'obtient avec le projet. Un détail pratique pour la relecture des tests : dans Cowork, skill-creator produit une page de résultats à ouvrir soi-même ; dans Code, elle s'ouvre directement. En pratique : une skill métier pour tous, utilisée dans l'interface de Claude, c'est Cowork. Une skill qu'on veut versionner, faire relire ou partager avec une équipe technique, c'est Code. Et le meilleur des deux mondes : créer et tester dans Code, puis importer le fichier .skill dans le compte pour que tout le monde en profite.
QUESTION À LA SALLE — Pour la skill que vous avez en tête : qui doit l'utiliser, et où ? Cela vous dit déjà quelle porte choisir.
TRANSITION — Voyons maintenant skill-creator à l'œuvre.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Démystifier la création par une démonstration courte (en direct, ou sur la maquette si le réseau fait défaut).
TIMING — 3:00
Si la connexion le permet, faites la démo en direct dans Chat ; sinon, commentez la maquette. Tapez : « Aide-moi à créer une skill qui transforme mes notes de réunion en compte rendu à notre format. » Claude ouvre skill-creator : montrez à la salle la mention correspondante dans sa réflexion. Il pose les questions de la méthode : que doit faire la skill, quand la déclencher, quel format, qui lit ces comptes rendus, avez-vous un exemple ? Répondez, collez un ancien compte rendu réussi. Claude rédige le SKILL.md et vous le montre : faites lire la description à voix haute à la salle. Il propose ensuite deux ou trois demandes test : acceptez-les, c'est l'étape que tout le monde oublie. Puis il empaquette le tout en un fichier .skill : cliquez sur « Save skill » sur la carte du fichier (si ce bouton n'apparaît pas, par exemple parce que l'organisation ne l'autorise pas, téléchargez le fichier et importez-le avec le bouton « + »), puis vérifiez qu'il est activé dans la liste des skills (Personnaliser › Skills, ou Paramètres › Capacités selon l'interface). Enfin, testez : ouvrez une nouvelle conversation, collez des notes en vrac et dites simplement « tu peux m'en faire un compte rendu ? ». La skill doit se déclencher seule : on le voit à la mention « Using compte-rendu » (utilisation de la skill) dans la réflexion de Claude. Montrez cet indice à la salle, c'est le meilleur moyen de savoir si une skill a été utilisée. Si la démo prend du retard, arrêtez-vous après l'enregistrement : le test sera fait pendant l'atelier.
QUESTION À LA SALLE — Pendant que Claude rédige : « D'après vous, quelle question va-t-il nous poser ensuite ? »
TRANSITION — Ce qui fait la différence entre une skill moyenne et une bonne skill tient en trois secrets.</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Donner les trois critères de qualité à appliquer dès l'atelier.
TIMING — 1:15
Premier secret : la description doit dire QUAND utiliser la skill, pas seulement ce qu'elle fait. « Compte rendu » ne suffit pas. Écrivez plutôt « Rédige un compte rendu de réunion à notre format. Utiliser quand l'utilisateur colle des notes de réunion ou demande un CR, une synthèse de réunion ou un relevé de décisions. » Écrivez-la comme la notice d'un outil, à la troisième personne (« Rédige… », pas « Je peux t'aider à… »), avec les mots que vos collègues emploient vraiment pour demander cette tâche. Deuxième secret : un exemple réussi vaut dix consignes. Claude imite très bien : donnez-lui un vrai compte rendu que vous aimez. Et dosez la liberté : des consignes souples pour une tâche de jugement (un compte rendu, un mail), des consignes strictes, voire un petit script, quand le résultat doit être identique à chaque fois (une charte graphique, un calcul). Troisième secret : une skill, une tâche. Mieux vaut trois petites skills claires qu'une grosse skill « tout-en-un » que Claude ne saura pas quand déclencher. Et restez concis : Claude est déjà très compétent, n'expliquez que ce qu'il ne peut pas deviner (votre format, vos règles, vos exemples). Si la skill grossit, gardez le SKILL.md court (moins de 500 lignes selon Anthropic) et rangez le détail dans des fichiers annexes que le SKILL.md cite directement, en disant quand les lire. Deux règles de forme : la description tient en 200 caractères maximum dans Claude, et le nom s'écrit en minuscules avec des tirets, sans les mots « claude » ni « anthropic ».
TRANSITION — Pour finir cette partie, un cas d'usage complet, proposé par Anthropic.</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Montrer un cas d'usage complet et officiel, que chacun pourra refaire seul.
TIMING — 2:30
Ce cas vient de Claude Academy, le site de formation d'Anthropic : « Empaquetez vos directives de marque dans un skill », environ vingt minutes. Le principe : vous donnez une fois pour toutes votre charte, et Claude l'applique à chaque présentation, document ou tableur, sans que vous ayez à la rappeler. À gauche, ce qu'on donne dans le prompt : la palette de couleurs avec le rôle de chacune (texte, fond, accent principal, accents secondaires), la typographie (une police pour les titres, une pour le texte, avec des polices de secours) et les règles d'application (quelle couleur pour quel élément, alterner les accents…). On peut aussi brancher Google Drive pour que Claude lise le fichier de charte lui-même. Au centre, ce que Claude crée : le SKILL.md, un fichier détaillé sur les couleurs et la typographie, des exemples d'usage et un petit script qui applique les couleurs toujours de la même façon. Vous n'avez pas à comprendre le script : il garantit simplement un résultat identique à chaque fois. Enfin, on teste avec une demande qui ne parle pas de charte : « crée une présentation de bilan trimestriel ». Si les couleurs et les polices sont justes, la skill fonctionne. La page propose ensuite de mettre à jour la skill et de la combiner avec d'autres. Le QR code mène à la ressource.
QUESTION À LA SALLE — Qui a une charte graphique dans sa structure ? Où est-elle rangée aujourd'hui ?
TRANSITION — Ce même cas se réalise dans les trois portes. Comparons.</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Relier le cas d'usage aux avantages de chaque porte, et montrer que Code est une option réaliste.
TIMING — 1:30
Même objectif, trois chemins. Dans Chat, vous collez le prompt de la page Academy avec vos couleurs et vos règles : Claude crée le fichier de skill et vous l'enregistrez dans votre compte. C'est le chemin décrit par la ressource. Dans Cowork, vous pointez le dossier qui contient votre charte en PDF : Claude la lit lui-même, crée la skill et produit une présentation d'exemple pour vérifier. Dans Code, vous faites pareil en mode plan : vous relisez la structure proposée, vous la corrigez, puis Claude écrit les fichiers et vous testez aussitôt avec /charte-graphique. Le résultat est le même : une skill qui applique votre charte partout. Ce qui change, c'est votre niveau de contrôle. Pendant l'atelier, vous pourrez suivre ce cas dans la porte de votre choix.
TRANSITION — Votre skill fonctionne : comment en faire profiter les autres ?</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29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Marquer le passage à la partie 6 et relancer l'attention.
TIMING — 0:10
Dernière étape avant le quiz : comment faire profiter les autres de votre skill, selon votre offre et votre public. Laissez la diapo quelques secondes, le temps que la salle se repère dans le programme.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Présenter les modes de partage selon l'offre Claude et le public visé.
TIMING — 2:30
Premier cercle, vous-même et quelques personnes : on envoie le fichier de la skill (celui que Claude vous a remis à la création, ou un .zip du dossier ; selon la version, le menu de la skill propose aussi de la télécharger, à vérifier le jour J). Le destinataire l'importe avec le bouton « + ». Ça marche quelle que soit l'offre, gratuite, Pro ou Max. Deuxième cercle, votre équipe : en offre Team ou Enterprise, le menu « … » d'une skill propose « Partager » à des collègues choisis (ils peuvent l'activer, pas la modifier) et « Publier dans l'organisation » pour la rendre disponible à tous. Selon le réglage de l'administrateur, la publication peut passer par une relecture ; les skills fournies par l'administrateur sont activées d'office pour tout le monde. Troisième cercle, tout le monde : on publie le dossier sur GitHub, ou on l'emballe dans un plugin avec d'autres skills. Pour les équipes tech, il suffit aussi de déposer la skill dans le dossier .claude/skills d'un projet de code : toute l'équipe l'aura. Rappel : ce que vous partagez, les autres vont le lire… et Claude va l'exécuter. Relisez avant de publier, et n'y mettez jamais de mot de passe ni de donnée personnelle.
QUESTION À LA SALLE — Dans votre structure, quelle offre avez-vous : individuelle, Team, Enterprise ? Qui est l'administrateur ?
TRANSITION — Vous avez tout. Place au quiz !</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Lancer l'interaction orale et en poser la règle.
TIMING — 0:30
Neuf questions, à l'oral. Je lis la question et les quatre réponses, je vous laisse quelques secondes de réflexion, puis vous répondez à voix haute : il suffit de dire la lettre. Pas de honte à se tromper : c'est justement ce qui nous intéresse. Quand les avis sont partagés, je demande à quelqu'un de défendre sa réponse avant de révéler la bonne.
TRANSITION — Question 1.</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Question 1 : faire voter la salle.
TIMING — 0:40
Lire la question : « Qu'est-ce qui décide Claude à utiliser une skill ? » Puis les réponses : A, Son nom de fichier ; B, Sa description ; C, Sa longueur ; D, Sa date de création. Laisser cinq secondes de réflexion, puis demander les réponses à voix haute. Relever les lettres entendues (« j'entends beaucoup de B… quelques C ») sans donner d'indice.
QUESTION À LA SALLE — Un volontaire pour défendre une autre réponse que celle de la majorité ?
TRANSITION — Clic : révélation de la réponse.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Corriger et consolider la notion de la question 1.
TIMING — 0:20
Bonne réponse : B, « Sa description ». Claude lit en permanence le nom et la description de chaque skill activée, et c'est la description qui fait l'essentiel du choix. Une description floue fait une skill qui ne se déclenche jamais, ou qui se déclenche à tort. C'est la phrase la plus importante de la skill.
TRANSITION — Question 2.</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Question 2 : faire voter la salle.
TIMING — 0:40
Lire la question : « « Tout le suivi du client Dupont » : projet ou skill ? » Puis les réponses : A, Un projet ; B, Une skill ; C, Les deux, obligatoirement ; D, Ni l'un ni l'autre. Laisser cinq secondes de réflexion, puis demander les réponses à voix haute. Relever les lettres entendues (« j'entends beaucoup de B… quelques C ») sans donner d'indice.
QUESTION À LA SALLE — Un volontaire pour défendre une autre réponse que celle de la majorité ?
TRANSITION — Clic : révélation de la réponse.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Corriger et consolider la notion de la question 2.
TIMING — 0:20
Bonne réponse : A, « Un projet ». Un sujet précis, avec ses documents et son historique, relève du projet. Le client Dupont n'est pas un savoir-faire réutilisable ailleurs. En revanche, « rédiger une relance client à notre manière » serait une skill… qu'on pourrait utiliser dans le projet Dupont.
TRANSITION — Question 3.</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Question 3 : faire voter la salle.
TIMING — 0:40
Lire la question : « Quel fichier est indispensable dans une skill ? » Puis les réponses : A, README.txt ; B, config.json ; C, SKILL.md ; D, index.html. Laisser cinq secondes de réflexion, puis demander les réponses à voix haute. Relever les lettres entendues (« j'entends beaucoup de B… quelques C ») sans donner d'indice.
QUESTION À LA SALLE — Un volontaire pour défendre une autre réponse que celle de la majorité ?
TRANSITION — Clic : révélation de la réponse.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Corriger et consolider la notion de la question 3.
TIMING — 0:20
Bonne réponse : C, « SKILL.md ». Une skill, c'est un dossier qui contient au minimum un fichier SKILL.md : un en-tête avec le nom et la description, puis les instructions en texte simple. Tout le reste (modèles, exemples, scripts) est facultatif.
TRANSITION — Question 4.</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Question 4 : faire voter la salle.
TIMING — 0:40
Lire la question : « Une skill géniale trouvée sur GitHub. Première chose ? » Puis les réponses : A, L'installer tout de suite ; B, La partager à l'équipe ; C, La renommer ; D, Lire son contenu. Laisser cinq secondes de réflexion, puis demander les réponses à voix haute. Relever les lettres entendues (« j'entends beaucoup de B… quelques C ») sans donner d'indice.
QUESTION À LA SALLE — Un volontaire pour défendre une autre réponse que celle de la majorité ?
TRANSITION — Clic : révélation de la réponse.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39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Corriger et consolider la notion de la question 4.
TIMING — 0:20
Bonne réponse : D, « Lire son contenu ». Une skill donne des instructions à Claude et peut contenir des scripts qu'il exécutera. On ne l'installe donc qu'après l'avoir lue et avoir identifié son auteur. C'est la même hygiène que pour une pièce jointe inconnue.
TRANSITION — Question 5.</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Question 5 : faire voter la salle.
TIMING — 0:40
Lire la question : « Le plus simple pour créer votre première skill ? » Puis les réponses : A, Apprendre à coder ; B, Le demander à Claude ; C, Acheter un plugin ; D, Écrire au support. Laisser cinq secondes de réflexion, puis demander les réponses à voix haute. Relever les lettres entendues (« j'entends beaucoup de B… quelques C ») sans donner d'indice.
QUESTION À LA SALLE — Un volontaire pour défendre une autre réponse que celle de la majorité ?
TRANSITION — Clic : révélation de la réponse.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Corriger et consolider la notion de la question 5.
TIMING — 0:20
Bonne réponse : B, « Le demander à Claude ». Il suffit de dire à Claude « aide-moi à créer une skill qui… ». Il pose des questions, rédige le SKILL.md et propose de l'enregistrer. Aucune ligne de code n'est nécessaire.
TRANSITION — Question 6.</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42</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Question 6 : faire voter la salle.
TIMING — 0:40
Lire la question : « Team/Enterprise : la rendre disponible à tous ? » Puis les réponses : A, L'envoyer par mail à chacun ; B, La copier dans un projet ; C, La publier dans l'organisation ; D, C'est impossible. Laisser cinq secondes de réflexion, puis demander les réponses à voix haute. Relever les lettres entendues (« j'entends beaucoup de B… quelques C ») sans donner d'indice.
QUESTION À LA SALLE — Un volontaire pour défendre une autre réponse que celle de la majorité ?
TRANSITION — Clic : révélation de la réponse.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43</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Corriger et consolider la notion de la question 6.
TIMING — 0:20
Bonne réponse : C, « La publier dans l'organisation ». Dans Personnaliser › Skills, « Publier dans l'organisation » la rend disponible à tous (avec une relecture si l'administrateur l'exige). « Partager » la donne à quelques collègues choisis. En offre individuelle, on passe par le fichier .zip.
TRANSITION — Question 7.</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44</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Question 7 : faire voter la salle.
TIMING — 0:40
Lire la question : « En mode plan, que fait Claude ? » Puis les réponses : A, Il modifie directement vos fichiers ; B, Il propose un plan et attend votre feu vert ; C, Il programme une tâche récurrente ; D, Il remplit votre agenda. Laisser cinq secondes de réflexion, puis demander les réponses à voix haute. Relever les lettres entendues (« j'entends beaucoup de B… quelques C ») sans donner d'indice.
QUESTION À LA SALLE — Un volontaire pour défendre une autre réponse que celle de la majorité ?
TRANSITION — Clic : révélation de la réponse.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45</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Corriger et consolider la notion de la question 7.
TIMING — 0:20
Bonne réponse : B, « Il propose un plan et attend votre feu vert ». En mode plan, Claude lit et explore, mais ne modifie rien. Il présente un plan, et vous choisissez : approuver, approuver en validant chaque modification, ou continuer à planifier en le corrigeant. C'est la meilleure façon de débuter avec Claude Code.
TRANSITION — Question 8.</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46</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Question 8 : faire voter la salle.
TIMING — 0:40
Lire la question : « Pour utiliser Claude Code, il faut… » Puis les réponses : A, Savoir programmer ; B, Ouvrir un terminal ; C, Un dossier et des consignes en français ; D, Une licence développeur. Laisser cinq secondes de réflexion, puis demander les réponses à voix haute. Relever les lettres entendues (« j'entends beaucoup de B… quelques C ») sans donner d'indice.
QUESTION À LA SALLE — Un volontaire pour défendre une autre réponse que celle de la majorité ?
TRANSITION — Clic : révélation de la réponse.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47</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Corriger et consolider la notion de la question 8.
TIMING — 0:20
Bonne réponse : C, « Un dossier et des consignes en français ». Claude Code travaille dans n'importe quel dossier, y compris un dossier de documents. Il existe un onglet Code dans l'application de bureau, donc pas besoin de terminal, et on lui écrit en français comme dans Chat.
TRANSITION — Question 9.</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48</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Question 9 : faire voter la salle.
TIMING — 0:40
Lire la question : « Pour vous aider à créer une skill, Claude s'appuie sur… » Puis les réponses : A, brand-guidelines ; B, skill-creator ; C, docx ; D, Rien, il improvise. Laisser cinq secondes de réflexion, puis demander les réponses à voix haute. Relever les lettres entendues (« j'entends beaucoup de B… quelques C ») sans donner d'indice.
QUESTION À LA SALLE — Un volontaire pour défendre une autre réponse que celle de la majorité ?
TRANSITION — Clic : révélation de la réponse.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49</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Corriger et consolider la notion de la question 9.
TIMING — 0:20
Bonne réponse : B, « skill-creator ». skill-creator est la skill d'Anthropic qui fabrique les skills : elle guide l'entretien, la rédaction du SKILL.md, les tests, l'amélioration et l'affinage de la description, puis empaquette le résultat. Elle est plus complète dans Cowork et Claude Code que dans Chat.
TRANSITION — Dernière diapo avant l'atelier : ce qu'il faut retenir.</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50</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Synthétiser en trois idées et lancer l'atelier.
TIMING — 1:30
Quatre idées à garder. Une : une skill, c'est un savoir-faire rangé dans un dossier, que Claude ressort au bon moment. Deux : sa qualité tient à sa description, qui dit QUAND l'utiliser, et à un exemple réussi. Trois : on teste, on ajuste, et seulement ensuite on partage. Quatre : Claude Code n'est pas réservé aux développeurs. Commencez en mode plan, sur une copie de votre dossier, et vous garderez la main à chaque étape. Refaites le test du début : qui a encore peur de Claude Code ? Place à l'atelier. Consigne : choisissez une tâche que vous répétez chaque semaine (celles que nous avons notées au début peuvent servir) et créez-en la skill dans la porte de votre choix. Trois parcours sont proposés dans le document distribué : Chat, Cowork, ou Code accompagné en mode plan. Vous pouvez aussi suivre le cas de la charte graphique de Claude Academy. Objectif de fin d'atelier : une skill enregistrée, testée une fois dans une nouvelle conversation, et dont la description commence par ce qu'elle fait et continue par « Utiliser quand… ». Les notes distribuées contiennent le pas-à-pas et un prompt de départ ; tous les supports, présentation comprise, sont en ligne sur le dépôt GitHub dont l'adresse s'affiche en bas de la diapo.
QUESTION À LA SALLE — Qui sait déjà quelle skill il ou elle va créer ?
TRANSITION — Je laisse mes coordonnées à l'écran pendant l'atelier.</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51</a:t>
            </a:fld>
            <a:endParaRPr lang="fr-F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OBJECTIF — Laisser les coordonnées affichées pendant l'atelier.
TIMING — pendant l'atelier
Laissez cette diapo affichée pendant la mise en pratique. Le grand QR code mène au dépôt GitHub qui rassemble tous les supports de la séance : cette présentation, les notes du présentateur en PDF et en Word, et les sources pour les régénérer. Invitez la salle à le scanner dès maintenant : le pas-à-pas de l'atelier s'y trouve. Les petits QR codes mènent au profil LinkedIn, au GitHub et à la ressource Claude Academy sur la charte de marque, pour ceux qui veulent refaire le cas d'usage. Pour toute question après la séance, écrivez par mail.</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fr-FR"/>
              <a:t>52</a:t>
            </a:fld>
            <a:endParaRPr lang="fr-F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5-3.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6-2.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image" Target="../media/image-17-5.png"/><Relationship Id="rId6" Type="http://schemas.openxmlformats.org/officeDocument/2006/relationships/image" Target="../media/image-17-5.png"/><Relationship Id="rId7" Type="http://schemas.openxmlformats.org/officeDocument/2006/relationships/image" Target="../media/image-16-3.png"/><Relationship Id="rId8" Type="http://schemas.openxmlformats.org/officeDocument/2006/relationships/image" Target="../media/image-14-1.png"/><Relationship Id="rId9" Type="http://schemas.openxmlformats.org/officeDocument/2006/relationships/image" Target="../media/image-14-1.png"/><Relationship Id="rId10" Type="http://schemas.openxmlformats.org/officeDocument/2006/relationships/image" Target="../media/image-14-1.png"/><Relationship Id="rId11" Type="http://schemas.openxmlformats.org/officeDocument/2006/relationships/image" Target="../media/image-17-5.png"/><Relationship Id="rId12" Type="http://schemas.openxmlformats.org/officeDocument/2006/relationships/image" Target="../media/image-17-5.png"/><Relationship Id="rId13" Type="http://schemas.openxmlformats.org/officeDocument/2006/relationships/image" Target="../media/image-16-4.png"/><Relationship Id="rId14" Type="http://schemas.openxmlformats.org/officeDocument/2006/relationships/image" Target="../media/image-14-1.png"/><Relationship Id="rId15" Type="http://schemas.openxmlformats.org/officeDocument/2006/relationships/image" Target="../media/image-14-1.png"/><Relationship Id="rId16" Type="http://schemas.openxmlformats.org/officeDocument/2006/relationships/image" Target="../media/image-14-1.png"/><Relationship Id="rId17" Type="http://schemas.openxmlformats.org/officeDocument/2006/relationships/image" Target="../media/image-17-5.png"/><Relationship Id="rId18" Type="http://schemas.openxmlformats.org/officeDocument/2006/relationships/image" Target="../media/image-17-5.png"/><Relationship Id="rId19" Type="http://schemas.openxmlformats.org/officeDocument/2006/relationships/slideLayout" Target="../slideLayouts/slideLayout1.xml"/><Relationship Id="rId2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7-5.png"/><Relationship Id="rId2" Type="http://schemas.openxmlformats.org/officeDocument/2006/relationships/image" Target="../media/image-5-3.png"/><Relationship Id="rId3" Type="http://schemas.openxmlformats.org/officeDocument/2006/relationships/image" Target="../media/image-14-1.png"/><Relationship Id="rId4" Type="http://schemas.openxmlformats.org/officeDocument/2006/relationships/image" Target="../media/image-17-5.png"/><Relationship Id="rId5" Type="http://schemas.openxmlformats.org/officeDocument/2006/relationships/image" Target="../media/image-5-3.png"/><Relationship Id="rId6" Type="http://schemas.openxmlformats.org/officeDocument/2006/relationships/image" Target="../media/image-14-1.png"/><Relationship Id="rId7" Type="http://schemas.openxmlformats.org/officeDocument/2006/relationships/image" Target="../media/image-17-5.png"/><Relationship Id="rId8" Type="http://schemas.openxmlformats.org/officeDocument/2006/relationships/image" Target="../media/image-5-3.png"/><Relationship Id="rId9" Type="http://schemas.openxmlformats.org/officeDocument/2006/relationships/image" Target="../media/image-14-1.png"/><Relationship Id="rId10" Type="http://schemas.openxmlformats.org/officeDocument/2006/relationships/image" Target="../media/image-17-5.png"/><Relationship Id="rId11" Type="http://schemas.openxmlformats.org/officeDocument/2006/relationships/image" Target="../media/image-5-3.png"/><Relationship Id="rId12" Type="http://schemas.openxmlformats.org/officeDocument/2006/relationships/image" Target="../media/image-14-1.pn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2.png"/><Relationship Id="rId5" Type="http://schemas.openxmlformats.org/officeDocument/2006/relationships/image" Target="../media/image-19-5.png"/><Relationship Id="rId6" Type="http://schemas.openxmlformats.org/officeDocument/2006/relationships/image" Target="../media/image-19-2.png"/><Relationship Id="rId7" Type="http://schemas.openxmlformats.org/officeDocument/2006/relationships/image" Target="../media/image-19-7.png"/><Relationship Id="rId8" Type="http://schemas.openxmlformats.org/officeDocument/2006/relationships/image" Target="../media/image-19-2.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16-2.png"/><Relationship Id="rId3" Type="http://schemas.openxmlformats.org/officeDocument/2006/relationships/image" Target="../media/image-5-3.png"/><Relationship Id="rId4" Type="http://schemas.openxmlformats.org/officeDocument/2006/relationships/image" Target="../media/image-16-3.png"/><Relationship Id="rId5" Type="http://schemas.openxmlformats.org/officeDocument/2006/relationships/image" Target="../media/image-5-3.png"/><Relationship Id="rId6" Type="http://schemas.openxmlformats.org/officeDocument/2006/relationships/image" Target="../media/image-16-4.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9-3.png"/><Relationship Id="rId2" Type="http://schemas.openxmlformats.org/officeDocument/2006/relationships/image" Target="../media/image-19-1.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2-4.png"/><Relationship Id="rId4" Type="http://schemas.openxmlformats.org/officeDocument/2006/relationships/image" Target="../media/image-23-4.png"/><Relationship Id="rId5" Type="http://schemas.openxmlformats.org/officeDocument/2006/relationships/image" Target="../media/image-22-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14-1.png"/><Relationship Id="rId5" Type="http://schemas.openxmlformats.org/officeDocument/2006/relationships/image" Target="../media/image-14-1.png"/><Relationship Id="rId6" Type="http://schemas.openxmlformats.org/officeDocument/2006/relationships/image" Target="../media/image-14-1.png"/><Relationship Id="rId7" Type="http://schemas.openxmlformats.org/officeDocument/2006/relationships/image" Target="../media/image-14-1.png"/><Relationship Id="rId8" Type="http://schemas.openxmlformats.org/officeDocument/2006/relationships/image" Target="../media/image-14-1.png"/><Relationship Id="rId9" Type="http://schemas.openxmlformats.org/officeDocument/2006/relationships/image" Target="../media/image-24-9.png"/><Relationship Id="rId10" Type="http://schemas.openxmlformats.org/officeDocument/2006/relationships/image" Target="../media/image-14-1.png"/><Relationship Id="rId11" Type="http://schemas.openxmlformats.org/officeDocument/2006/relationships/image" Target="../media/image-14-1.png"/><Relationship Id="rId12" Type="http://schemas.openxmlformats.org/officeDocument/2006/relationships/image" Target="../media/image-24-9.png"/><Relationship Id="rId13" Type="http://schemas.openxmlformats.org/officeDocument/2006/relationships/image" Target="../media/image-14-1.png"/><Relationship Id="rId14" Type="http://schemas.openxmlformats.org/officeDocument/2006/relationships/image" Target="../media/image-14-1.png"/><Relationship Id="rId15" Type="http://schemas.openxmlformats.org/officeDocument/2006/relationships/slideLayout" Target="../slideLayouts/slideLayout1.xml"/><Relationship Id="rId1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4-2.png"/><Relationship Id="rId2" Type="http://schemas.openxmlformats.org/officeDocument/2006/relationships/image" Target="../media/image-16-4.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3.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6-2.png"/><Relationship Id="rId2" Type="http://schemas.openxmlformats.org/officeDocument/2006/relationships/image" Target="../media/image-5-3.png"/><Relationship Id="rId3" Type="http://schemas.openxmlformats.org/officeDocument/2006/relationships/image" Target="../media/image-16-3.png"/><Relationship Id="rId4" Type="http://schemas.openxmlformats.org/officeDocument/2006/relationships/image" Target="../media/image-5-3.png"/><Relationship Id="rId5" Type="http://schemas.openxmlformats.org/officeDocument/2006/relationships/image" Target="../media/image-16-4.png"/><Relationship Id="rId6" Type="http://schemas.openxmlformats.org/officeDocument/2006/relationships/image" Target="../media/image-5-3.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1.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image" Target="../media/image-52-7.png"/><Relationship Id="rId8" Type="http://schemas.openxmlformats.org/officeDocument/2006/relationships/slideLayout" Target="../slideLayouts/slideLayout1.xml"/><Relationship Id="rId9"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33"/>
        </a:solidFill>
      </p:bgPr>
    </p:bg>
    <p:spTree>
      <p:nvGrpSpPr>
        <p:cNvPr id="1" name=""/>
        <p:cNvGrpSpPr/>
        <p:nvPr/>
      </p:nvGrpSpPr>
      <p:grpSpPr>
        <a:xfrm>
          <a:off x="0" y="0"/>
          <a:ext cx="0" cy="0"/>
          <a:chOff x="0" y="0"/>
          <a:chExt cx="0" cy="0"/>
        </a:xfrm>
      </p:grpSpPr>
      <p:sp>
        <p:nvSpPr>
          <p:cNvPr id="4" name="Titre"/>
          <p:cNvSpPr>
            <a:spLocks noGrp="1"/>
          </p:cNvSpPr>
          <p:nvPr>
            <p:ph type="title"/>
          </p:nvPr>
        </p:nvSpPr>
        <p:spPr>
          <a:xfrm>
            <a:off x="731520" y="1463040"/>
            <a:ext cx="6766560" cy="2377440"/>
          </a:xfrm>
          <a:prstGeom prst="rect">
            <a:avLst/>
          </a:prstGeom>
          <a:noFill/>
          <a:ln/>
        </p:spPr>
        <p:txBody>
          <a:bodyPr wrap="square" lIns="0" tIns="0" rIns="0" bIns="0" rtlCol="0" anchor="b"/>
          <a:lstStyle/>
          <a:p>
            <a:pPr algn="l" indent="0" marL="0">
              <a:buNone/>
            </a:pPr>
            <a:r>
              <a:rPr lang="fr-FR" altLang="en-US" sz="5400" b="1" dirty="0">
                <a:solidFill>
                  <a:srgbClr val="FFFFFF"/>
                </a:solidFill>
                <a:latin typeface="Calibri" pitchFamily="34" charset="0"/>
                <a:ea typeface="Calibri" pitchFamily="34" charset="-122"/>
                <a:cs typeface="Calibri" pitchFamily="34" charset="-120"/>
              </a:rPr>
              <a:t>Apprenez un</a:t>
            </a:r>
            <a:endParaRPr lang="fr-FR" sz="5400" dirty="0"/>
          </a:p>
          <a:p>
            <a:pPr algn="l" indent="0" marL="0">
              <a:buNone/>
            </a:pPr>
            <a:r>
              <a:rPr lang="fr-FR" altLang="en-US" sz="5400" b="1" dirty="0">
                <a:solidFill>
                  <a:srgbClr val="FFFFFF"/>
                </a:solidFill>
                <a:latin typeface="Calibri" pitchFamily="34" charset="0"/>
                <a:ea typeface="Calibri" pitchFamily="34" charset="-122"/>
                <a:cs typeface="Calibri" pitchFamily="34" charset="-120"/>
              </a:rPr>
              <a:t>savoir-faire à Claude</a:t>
            </a:r>
            <a:endParaRPr lang="fr-FR" sz="5400" dirty="0"/>
          </a:p>
        </p:txBody>
      </p:sp>
      <p:sp>
        <p:nvSpPr>
          <p:cNvPr id="2" name="Shape 0"/>
          <p:cNvSpPr/>
          <p:nvPr/>
        </p:nvSpPr>
        <p:spPr>
          <a:xfrm>
            <a:off x="7863840" y="0"/>
            <a:ext cx="4327855" cy="6858000"/>
          </a:xfrm>
          <a:prstGeom prst="rect">
            <a:avLst/>
          </a:prstGeom>
          <a:solidFill>
            <a:srgbClr val="B8235A"/>
          </a:solidFill>
          <a:ln/>
        </p:spPr>
      </p:sp>
      <p:sp>
        <p:nvSpPr>
          <p:cNvPr id="3" name="Text 1"/>
          <p:cNvSpPr txBox="1"/>
          <p:nvPr/>
        </p:nvSpPr>
        <p:spPr>
          <a:xfrm>
            <a:off x="8321040" y="1097280"/>
            <a:ext cx="3566160" cy="4754880"/>
          </a:xfrm>
          <a:prstGeom prst="rect">
            <a:avLst/>
          </a:prstGeom>
          <a:noFill/>
          <a:ln/>
        </p:spPr>
        <p:txBody>
          <a:bodyPr wrap="square" lIns="0" tIns="0" rIns="0" bIns="0" rtlCol="0" anchor="t"/>
          <a:lstStyle/>
          <a:p>
            <a:pPr indent="0" marL="0">
              <a:lnSpc>
                <a:spcPct val="115000"/>
              </a:lnSpc>
              <a:buNone/>
            </a:pPr>
            <a:r>
              <a:rPr lang="fr-FR" altLang="en-US" sz="2000" dirty="0">
                <a:solidFill>
                  <a:srgbClr val="FFFFFF"/>
                </a:solidFill>
                <a:latin typeface="Courier New" pitchFamily="34" charset="0"/>
                <a:ea typeface="Courier New" pitchFamily="34" charset="-122"/>
                <a:cs typeface="Courier New" pitchFamily="34" charset="-120"/>
              </a:rPr>
              <a:t>---</a:t>
            </a:r>
            <a:endParaRPr lang="fr-FR" sz="2000" dirty="0"/>
          </a:p>
          <a:p>
            <a:pPr indent="0" marL="0">
              <a:lnSpc>
                <a:spcPct val="115000"/>
              </a:lnSpc>
              <a:buNone/>
            </a:pPr>
            <a:r>
              <a:rPr lang="fr-FR" altLang="en-US" sz="2000" dirty="0">
                <a:solidFill>
                  <a:srgbClr val="FFFFFF"/>
                </a:solidFill>
                <a:latin typeface="Courier New" pitchFamily="34" charset="0"/>
                <a:ea typeface="Courier New" pitchFamily="34" charset="-122"/>
                <a:cs typeface="Courier New" pitchFamily="34" charset="-120"/>
              </a:rPr>
              <a:t>name: votre-skill</a:t>
            </a:r>
            <a:endParaRPr lang="fr-FR" sz="2000" dirty="0"/>
          </a:p>
          <a:p>
            <a:pPr indent="0" marL="0">
              <a:lnSpc>
                <a:spcPct val="115000"/>
              </a:lnSpc>
              <a:buNone/>
            </a:pPr>
            <a:r>
              <a:rPr lang="fr-FR" altLang="en-US" sz="2000" dirty="0">
                <a:solidFill>
                  <a:srgbClr val="FFFFFF"/>
                </a:solidFill>
                <a:latin typeface="Courier New" pitchFamily="34" charset="0"/>
                <a:ea typeface="Courier New" pitchFamily="34" charset="-122"/>
                <a:cs typeface="Courier New" pitchFamily="34" charset="-120"/>
              </a:rPr>
              <a:t>description: Ce que</a:t>
            </a:r>
            <a:endParaRPr lang="fr-FR" sz="2000" dirty="0"/>
          </a:p>
          <a:p>
            <a:pPr indent="0" marL="0">
              <a:lnSpc>
                <a:spcPct val="115000"/>
              </a:lnSpc>
              <a:buNone/>
            </a:pPr>
            <a:r>
              <a:rPr lang="fr-FR" altLang="en-US" sz="2000" dirty="0">
                <a:solidFill>
                  <a:srgbClr val="FFFFFF"/>
                </a:solidFill>
                <a:latin typeface="Courier New" pitchFamily="34" charset="0"/>
                <a:ea typeface="Courier New" pitchFamily="34" charset="-122"/>
                <a:cs typeface="Courier New" pitchFamily="34" charset="-120"/>
              </a:rPr>
              <a:t>fait la skill.</a:t>
            </a:r>
            <a:endParaRPr lang="fr-FR" sz="2000" dirty="0"/>
          </a:p>
          <a:p>
            <a:pPr indent="0" marL="0">
              <a:lnSpc>
                <a:spcPct val="115000"/>
              </a:lnSpc>
              <a:buNone/>
            </a:pPr>
            <a:r>
              <a:rPr lang="fr-FR" altLang="en-US" sz="2000" dirty="0">
                <a:solidFill>
                  <a:srgbClr val="FFFFFF"/>
                </a:solidFill>
                <a:latin typeface="Courier New" pitchFamily="34" charset="0"/>
                <a:ea typeface="Courier New" pitchFamily="34" charset="-122"/>
                <a:cs typeface="Courier New" pitchFamily="34" charset="-120"/>
              </a:rPr>
              <a:t>Utiliser quand…</a:t>
            </a:r>
            <a:endParaRPr lang="fr-FR" sz="2000" dirty="0"/>
          </a:p>
          <a:p>
            <a:pPr indent="0" marL="0">
              <a:lnSpc>
                <a:spcPct val="115000"/>
              </a:lnSpc>
              <a:buNone/>
            </a:pPr>
            <a:r>
              <a:rPr lang="fr-FR" altLang="en-US" sz="2000" dirty="0">
                <a:solidFill>
                  <a:srgbClr val="FFFFFF"/>
                </a:solidFill>
                <a:latin typeface="Courier New" pitchFamily="34" charset="0"/>
                <a:ea typeface="Courier New" pitchFamily="34" charset="-122"/>
                <a:cs typeface="Courier New" pitchFamily="34" charset="-120"/>
              </a:rPr>
              <a:t>---</a:t>
            </a:r>
            <a:endParaRPr lang="fr-FR" sz="2000" dirty="0"/>
          </a:p>
          <a:p>
            <a:pPr indent="0" marL="0">
              <a:lnSpc>
                <a:spcPct val="115000"/>
              </a:lnSpc>
              <a:buNone/>
            </a:pPr>
            <a:endParaRPr lang="fr-FR" sz="2000" dirty="0"/>
          </a:p>
          <a:p>
            <a:pPr indent="0" marL="0">
              <a:lnSpc>
                <a:spcPct val="115000"/>
              </a:lnSpc>
              <a:buNone/>
            </a:pPr>
            <a:r>
              <a:rPr lang="fr-FR" altLang="en-US" sz="2000" dirty="0">
                <a:solidFill>
                  <a:srgbClr val="FFFFFF"/>
                </a:solidFill>
                <a:latin typeface="Courier New" pitchFamily="34" charset="0"/>
                <a:ea typeface="Courier New" pitchFamily="34" charset="-122"/>
                <a:cs typeface="Courier New" pitchFamily="34" charset="-120"/>
              </a:rPr>
              <a:t># Méthode</a:t>
            </a:r>
            <a:endParaRPr lang="fr-FR" sz="2000" dirty="0"/>
          </a:p>
          <a:p>
            <a:pPr indent="0" marL="0">
              <a:lnSpc>
                <a:spcPct val="115000"/>
              </a:lnSpc>
              <a:buNone/>
            </a:pPr>
            <a:r>
              <a:rPr lang="fr-FR" altLang="en-US" sz="2000" dirty="0">
                <a:solidFill>
                  <a:srgbClr val="FFFFFF"/>
                </a:solidFill>
                <a:latin typeface="Courier New" pitchFamily="34" charset="0"/>
                <a:ea typeface="Courier New" pitchFamily="34" charset="-122"/>
                <a:cs typeface="Courier New" pitchFamily="34" charset="-120"/>
              </a:rPr>
              <a:t>1. …</a:t>
            </a:r>
            <a:endParaRPr lang="fr-FR" sz="2000" dirty="0"/>
          </a:p>
          <a:p>
            <a:pPr indent="0" marL="0">
              <a:lnSpc>
                <a:spcPct val="115000"/>
              </a:lnSpc>
              <a:buNone/>
            </a:pPr>
            <a:r>
              <a:rPr lang="fr-FR" altLang="en-US" sz="2000" dirty="0">
                <a:solidFill>
                  <a:srgbClr val="FFFFFF"/>
                </a:solidFill>
                <a:latin typeface="Courier New" pitchFamily="34" charset="0"/>
                <a:ea typeface="Courier New" pitchFamily="34" charset="-122"/>
                <a:cs typeface="Courier New" pitchFamily="34" charset="-120"/>
              </a:rPr>
              <a:t>2. …</a:t>
            </a:r>
            <a:endParaRPr lang="fr-FR" sz="2000" dirty="0"/>
          </a:p>
        </p:txBody>
      </p:sp>
      <p:sp>
        <p:nvSpPr>
          <p:cNvPr id="5" name="Text 3"/>
          <p:cNvSpPr txBox="1"/>
          <p:nvPr/>
        </p:nvSpPr>
        <p:spPr>
          <a:xfrm>
            <a:off x="731520" y="4023360"/>
            <a:ext cx="6766560" cy="640080"/>
          </a:xfrm>
          <a:prstGeom prst="rect">
            <a:avLst/>
          </a:prstGeom>
          <a:noFill/>
          <a:ln/>
        </p:spPr>
        <p:txBody>
          <a:bodyPr wrap="square" lIns="0" tIns="0" rIns="0" bIns="0" rtlCol="0" anchor="t"/>
          <a:lstStyle/>
          <a:p>
            <a:pPr indent="0" marL="0">
              <a:buNone/>
            </a:pPr>
            <a:r>
              <a:rPr lang="fr-FR" altLang="en-US" sz="2800" dirty="0">
                <a:solidFill>
                  <a:srgbClr val="C9CFDA"/>
                </a:solidFill>
                <a:latin typeface="Calibri" pitchFamily="34" charset="0"/>
                <a:ea typeface="Calibri" pitchFamily="34" charset="-122"/>
                <a:cs typeface="Calibri" pitchFamily="34" charset="-120"/>
              </a:rPr>
              <a:t>Créer, trouver et partager une skill</a:t>
            </a:r>
            <a:endParaRPr lang="fr-FR" sz="2800" dirty="0"/>
          </a:p>
        </p:txBody>
      </p:sp>
      <p:sp>
        <p:nvSpPr>
          <p:cNvPr id="6" name="Text 4"/>
          <p:cNvSpPr txBox="1"/>
          <p:nvPr/>
        </p:nvSpPr>
        <p:spPr>
          <a:xfrm>
            <a:off x="731520" y="5394960"/>
            <a:ext cx="6400800" cy="457200"/>
          </a:xfrm>
          <a:prstGeom prst="rect">
            <a:avLst/>
          </a:prstGeom>
          <a:noFill/>
          <a:ln/>
        </p:spPr>
        <p:txBody>
          <a:bodyPr wrap="square" lIns="0" tIns="0" rIns="0" bIns="0" rtlCol="0" anchor="t"/>
          <a:lstStyle/>
          <a:p>
            <a:pPr indent="0" marL="0">
              <a:buNone/>
            </a:pPr>
            <a:r>
              <a:rPr lang="fr-FR" altLang="en-US" sz="2200" b="1" dirty="0">
                <a:solidFill>
                  <a:srgbClr val="FFFFFF"/>
                </a:solidFill>
                <a:latin typeface="Calibri" pitchFamily="34" charset="0"/>
                <a:ea typeface="Calibri" pitchFamily="34" charset="-122"/>
                <a:cs typeface="Calibri" pitchFamily="34" charset="-120"/>
              </a:rPr>
              <a:t>Stéphane Bayle</a:t>
            </a:r>
            <a:endParaRPr lang="fr-FR"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Combien de fois avez-vous recopié la même consigne ?</a:t>
            </a:r>
            <a:endParaRPr lang="fr-FR" sz="4000" dirty="0"/>
          </a:p>
        </p:txBody>
      </p:sp>
      <p:sp>
        <p:nvSpPr>
          <p:cNvPr id="3" name="Shape 1"/>
          <p:cNvSpPr/>
          <p:nvPr/>
        </p:nvSpPr>
        <p:spPr>
          <a:xfrm>
            <a:off x="1097280" y="2103120"/>
            <a:ext cx="7863840" cy="960120"/>
          </a:xfrm>
          <a:prstGeom prst="roundRect">
            <a:avLst>
              <a:gd name="adj" fmla="val 14286"/>
            </a:avLst>
          </a:prstGeom>
          <a:solidFill>
            <a:srgbClr val="F1F3F6"/>
          </a:solidFill>
          <a:ln/>
        </p:spPr>
      </p:sp>
      <p:sp>
        <p:nvSpPr>
          <p:cNvPr id="4" name="Text 2"/>
          <p:cNvSpPr txBox="1"/>
          <p:nvPr/>
        </p:nvSpPr>
        <p:spPr>
          <a:xfrm>
            <a:off x="1371600" y="2103120"/>
            <a:ext cx="7406640" cy="960120"/>
          </a:xfrm>
          <a:prstGeom prst="rect">
            <a:avLst/>
          </a:prstGeom>
          <a:noFill/>
          <a:ln/>
        </p:spPr>
        <p:txBody>
          <a:bodyPr wrap="square" lIns="0" tIns="0" rIns="0" bIns="0" rtlCol="0" anchor="ctr"/>
          <a:lstStyle/>
          <a:p>
            <a:pPr indent="0" marL="0">
              <a:buNone/>
            </a:pPr>
            <a:r>
              <a:rPr lang="fr-FR" altLang="en-US" sz="2200" i="1" dirty="0">
                <a:solidFill>
                  <a:srgbClr val="566070"/>
                </a:solidFill>
                <a:latin typeface="Calibri" pitchFamily="34" charset="0"/>
                <a:ea typeface="Calibri" pitchFamily="34" charset="-122"/>
                <a:cs typeface="Calibri" pitchFamily="34" charset="-120"/>
              </a:rPr>
              <a:t>Rédige dans notre ton, une page maximum, avec un tableau des actions à la fin…</a:t>
            </a:r>
            <a:endParaRPr lang="fr-FR" sz="2200" dirty="0"/>
          </a:p>
        </p:txBody>
      </p:sp>
      <p:sp>
        <p:nvSpPr>
          <p:cNvPr id="5" name="Shape 3"/>
          <p:cNvSpPr/>
          <p:nvPr/>
        </p:nvSpPr>
        <p:spPr>
          <a:xfrm>
            <a:off x="1600200" y="3291840"/>
            <a:ext cx="7863840" cy="960120"/>
          </a:xfrm>
          <a:prstGeom prst="roundRect">
            <a:avLst>
              <a:gd name="adj" fmla="val 14286"/>
            </a:avLst>
          </a:prstGeom>
          <a:solidFill>
            <a:srgbClr val="F1F3F6"/>
          </a:solidFill>
          <a:ln/>
        </p:spPr>
      </p:sp>
      <p:sp>
        <p:nvSpPr>
          <p:cNvPr id="6" name="Text 4"/>
          <p:cNvSpPr txBox="1"/>
          <p:nvPr/>
        </p:nvSpPr>
        <p:spPr>
          <a:xfrm>
            <a:off x="1874520" y="3291840"/>
            <a:ext cx="7406640" cy="960120"/>
          </a:xfrm>
          <a:prstGeom prst="rect">
            <a:avLst/>
          </a:prstGeom>
          <a:noFill/>
          <a:ln/>
        </p:spPr>
        <p:txBody>
          <a:bodyPr wrap="square" lIns="0" tIns="0" rIns="0" bIns="0" rtlCol="0" anchor="ctr"/>
          <a:lstStyle/>
          <a:p>
            <a:pPr indent="0" marL="0">
              <a:buNone/>
            </a:pPr>
            <a:r>
              <a:rPr lang="fr-FR" altLang="en-US" sz="2200" i="1" dirty="0">
                <a:solidFill>
                  <a:srgbClr val="566070"/>
                </a:solidFill>
                <a:latin typeface="Calibri" pitchFamily="34" charset="0"/>
                <a:ea typeface="Calibri" pitchFamily="34" charset="-122"/>
                <a:cs typeface="Calibri" pitchFamily="34" charset="-120"/>
              </a:rPr>
              <a:t>Rédige dans notre ton, une page maximum, avec un tableau des actions à la fin…</a:t>
            </a:r>
            <a:endParaRPr lang="fr-FR" sz="2200" dirty="0"/>
          </a:p>
        </p:txBody>
      </p:sp>
      <p:sp>
        <p:nvSpPr>
          <p:cNvPr id="7" name="Shape 5"/>
          <p:cNvSpPr/>
          <p:nvPr/>
        </p:nvSpPr>
        <p:spPr>
          <a:xfrm>
            <a:off x="2103120" y="4480560"/>
            <a:ext cx="7863840" cy="960120"/>
          </a:xfrm>
          <a:prstGeom prst="roundRect">
            <a:avLst>
              <a:gd name="adj" fmla="val 14286"/>
            </a:avLst>
          </a:prstGeom>
          <a:solidFill>
            <a:srgbClr val="FBE7EF"/>
          </a:solidFill>
          <a:ln/>
        </p:spPr>
      </p:sp>
      <p:sp>
        <p:nvSpPr>
          <p:cNvPr id="8" name="Text 6"/>
          <p:cNvSpPr txBox="1"/>
          <p:nvPr/>
        </p:nvSpPr>
        <p:spPr>
          <a:xfrm>
            <a:off x="2377440" y="4480560"/>
            <a:ext cx="7406640" cy="960120"/>
          </a:xfrm>
          <a:prstGeom prst="rect">
            <a:avLst/>
          </a:prstGeom>
          <a:noFill/>
          <a:ln/>
        </p:spPr>
        <p:txBody>
          <a:bodyPr wrap="square" lIns="0" tIns="0" rIns="0" bIns="0" rtlCol="0" anchor="ctr"/>
          <a:lstStyle/>
          <a:p>
            <a:pPr indent="0" marL="0">
              <a:buNone/>
            </a:pPr>
            <a:r>
              <a:rPr lang="fr-FR" altLang="en-US" sz="2200" i="1" dirty="0">
                <a:solidFill>
                  <a:srgbClr val="1B2233"/>
                </a:solidFill>
                <a:latin typeface="Calibri" pitchFamily="34" charset="0"/>
                <a:ea typeface="Calibri" pitchFamily="34" charset="-122"/>
                <a:cs typeface="Calibri" pitchFamily="34" charset="-120"/>
              </a:rPr>
              <a:t>Rédige dans notre ton, une page maximum, avec un tableau des actions à la fin…</a:t>
            </a:r>
            <a:endParaRPr lang="fr-FR" sz="2200" dirty="0"/>
          </a:p>
        </p:txBody>
      </p:sp>
      <p:sp>
        <p:nvSpPr>
          <p:cNvPr id="9" name="Shape 7"/>
          <p:cNvSpPr/>
          <p:nvPr/>
        </p:nvSpPr>
        <p:spPr>
          <a:xfrm rot="-720000">
            <a:off x="9509760" y="2926080"/>
            <a:ext cx="2103120" cy="2103120"/>
          </a:xfrm>
          <a:prstGeom prst="ellipse">
            <a:avLst/>
          </a:prstGeom>
          <a:solidFill>
            <a:srgbClr val="B8235A"/>
          </a:solidFill>
          <a:ln/>
        </p:spPr>
      </p:sp>
      <p:sp>
        <p:nvSpPr>
          <p:cNvPr id="10" name="Text 8"/>
          <p:cNvSpPr txBox="1"/>
          <p:nvPr/>
        </p:nvSpPr>
        <p:spPr>
          <a:xfrm rot="-720000">
            <a:off x="9509760" y="2926080"/>
            <a:ext cx="2103120" cy="2103120"/>
          </a:xfrm>
          <a:prstGeom prst="rect">
            <a:avLst/>
          </a:prstGeom>
          <a:noFill/>
          <a:ln/>
        </p:spPr>
        <p:txBody>
          <a:bodyPr wrap="square" lIns="0" tIns="0" rIns="0" bIns="0" rtlCol="0" anchor="ctr"/>
          <a:lstStyle/>
          <a:p>
            <a:pPr algn="ctr" indent="0" marL="0">
              <a:buNone/>
            </a:pPr>
            <a:r>
              <a:rPr lang="fr-FR" altLang="en-US" sz="3000" b="1" dirty="0">
                <a:solidFill>
                  <a:srgbClr val="FFFFFF"/>
                </a:solidFill>
                <a:latin typeface="Calibri" pitchFamily="34" charset="0"/>
                <a:ea typeface="Calibri" pitchFamily="34" charset="-122"/>
                <a:cs typeface="Calibri" pitchFamily="34" charset="-120"/>
              </a:rPr>
              <a:t>encore ?</a:t>
            </a:r>
            <a:endParaRPr lang="fr-FR" sz="3000" dirty="0"/>
          </a:p>
        </p:txBody>
      </p:sp>
      <p:sp>
        <p:nvSpPr>
          <p:cNvPr id="11" name="Text 9"/>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a:t>
            </a:r>
            <a:endParaRPr lang="fr-FR" sz="1400" dirty="0"/>
          </a:p>
        </p:txBody>
      </p:sp>
      <p:sp>
        <p:nvSpPr>
          <p:cNvPr id="12" name="Text 10"/>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a:t>
            </a:r>
            <a:endParaRPr lang="fr-F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Au programme</a:t>
            </a:r>
            <a:endParaRPr lang="fr-FR" sz="4000" dirty="0"/>
          </a:p>
        </p:txBody>
      </p:sp>
      <p:sp>
        <p:nvSpPr>
          <p:cNvPr id="3" name="Shape 1"/>
          <p:cNvSpPr/>
          <p:nvPr/>
        </p:nvSpPr>
        <p:spPr>
          <a:xfrm>
            <a:off x="640080" y="2377440"/>
            <a:ext cx="1234440" cy="1234440"/>
          </a:xfrm>
          <a:prstGeom prst="ellipse">
            <a:avLst/>
          </a:prstGeom>
          <a:solidFill>
            <a:srgbClr val="B8235A"/>
          </a:solidFill>
          <a:ln/>
        </p:spPr>
      </p:sp>
      <p:pic>
        <p:nvPicPr>
          <p:cNvPr id="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8690" y="2686050"/>
            <a:ext cx="617220" cy="617220"/>
          </a:xfrm>
          <a:prstGeom prst="rect">
            <a:avLst/>
          </a:prstGeom>
        </p:spPr>
      </p:pic>
      <p:sp>
        <p:nvSpPr>
          <p:cNvPr id="5" name="Text 2"/>
          <p:cNvSpPr txBox="1"/>
          <p:nvPr/>
        </p:nvSpPr>
        <p:spPr>
          <a:xfrm>
            <a:off x="457200" y="1920240"/>
            <a:ext cx="1600200" cy="365760"/>
          </a:xfrm>
          <a:prstGeom prst="rect">
            <a:avLst/>
          </a:prstGeom>
          <a:noFill/>
          <a:ln/>
        </p:spPr>
        <p:txBody>
          <a:bodyPr wrap="square" lIns="0" tIns="0" rIns="0" bIns="0" rtlCol="0" anchor="t"/>
          <a:lstStyle/>
          <a:p>
            <a:pPr algn="ctr" indent="0" marL="0">
              <a:buNone/>
            </a:pPr>
            <a:r>
              <a:rPr lang="fr-FR" altLang="en-US" sz="1800" b="1" dirty="0">
                <a:solidFill>
                  <a:srgbClr val="566070"/>
                </a:solidFill>
                <a:latin typeface="Calibri" pitchFamily="34" charset="0"/>
                <a:ea typeface="Calibri" pitchFamily="34" charset="-122"/>
                <a:cs typeface="Calibri" pitchFamily="34" charset="-120"/>
              </a:rPr>
              <a:t>1</a:t>
            </a:r>
            <a:endParaRPr lang="fr-FR" sz="1800" dirty="0"/>
          </a:p>
        </p:txBody>
      </p:sp>
      <p:sp>
        <p:nvSpPr>
          <p:cNvPr id="6" name="Text 3"/>
          <p:cNvSpPr txBox="1"/>
          <p:nvPr/>
        </p:nvSpPr>
        <p:spPr>
          <a:xfrm>
            <a:off x="365760" y="3794760"/>
            <a:ext cx="1783080" cy="822960"/>
          </a:xfrm>
          <a:prstGeom prst="rect">
            <a:avLst/>
          </a:prstGeom>
          <a:noFill/>
          <a:ln/>
        </p:spPr>
        <p:txBody>
          <a:bodyPr wrap="square" lIns="0" tIns="0" rIns="0" bIns="0" rtlCol="0" anchor="t"/>
          <a:lstStyle/>
          <a:p>
            <a:pPr algn="ctr" indent="0" marL="0">
              <a:buNone/>
            </a:pPr>
            <a:r>
              <a:rPr lang="fr-FR" altLang="en-US" sz="2200" b="1" dirty="0">
                <a:solidFill>
                  <a:srgbClr val="1B2233"/>
                </a:solidFill>
                <a:latin typeface="Calibri" pitchFamily="34" charset="0"/>
                <a:ea typeface="Calibri" pitchFamily="34" charset="-122"/>
                <a:cs typeface="Calibri" pitchFamily="34" charset="-120"/>
              </a:rPr>
              <a:t>Comprendre</a:t>
            </a:r>
            <a:endParaRPr lang="fr-FR" sz="2200" dirty="0"/>
          </a:p>
        </p:txBody>
      </p:sp>
      <p:sp>
        <p:nvSpPr>
          <p:cNvPr id="7" name="Shape 4"/>
          <p:cNvSpPr/>
          <p:nvPr/>
        </p:nvSpPr>
        <p:spPr>
          <a:xfrm>
            <a:off x="2575499" y="2377440"/>
            <a:ext cx="1234440" cy="1234440"/>
          </a:xfrm>
          <a:prstGeom prst="ellipse">
            <a:avLst/>
          </a:prstGeom>
          <a:solidFill>
            <a:srgbClr val="1B2233"/>
          </a:solidFill>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884109" y="2686050"/>
            <a:ext cx="617220" cy="617220"/>
          </a:xfrm>
          <a:prstGeom prst="rect">
            <a:avLst/>
          </a:prstGeom>
        </p:spPr>
      </p:pic>
      <p:sp>
        <p:nvSpPr>
          <p:cNvPr id="9" name="Text 5"/>
          <p:cNvSpPr txBox="1"/>
          <p:nvPr/>
        </p:nvSpPr>
        <p:spPr>
          <a:xfrm>
            <a:off x="2392619" y="1920240"/>
            <a:ext cx="1600200" cy="365760"/>
          </a:xfrm>
          <a:prstGeom prst="rect">
            <a:avLst/>
          </a:prstGeom>
          <a:noFill/>
          <a:ln/>
        </p:spPr>
        <p:txBody>
          <a:bodyPr wrap="square" lIns="0" tIns="0" rIns="0" bIns="0" rtlCol="0" anchor="t"/>
          <a:lstStyle/>
          <a:p>
            <a:pPr algn="ctr" indent="0" marL="0">
              <a:buNone/>
            </a:pPr>
            <a:r>
              <a:rPr lang="fr-FR" altLang="en-US" sz="1800" b="1" dirty="0">
                <a:solidFill>
                  <a:srgbClr val="566070"/>
                </a:solidFill>
                <a:latin typeface="Calibri" pitchFamily="34" charset="0"/>
                <a:ea typeface="Calibri" pitchFamily="34" charset="-122"/>
                <a:cs typeface="Calibri" pitchFamily="34" charset="-120"/>
              </a:rPr>
              <a:t>2</a:t>
            </a:r>
            <a:endParaRPr lang="fr-FR" sz="1800" dirty="0"/>
          </a:p>
        </p:txBody>
      </p:sp>
      <p:sp>
        <p:nvSpPr>
          <p:cNvPr id="10" name="Text 6"/>
          <p:cNvSpPr txBox="1"/>
          <p:nvPr/>
        </p:nvSpPr>
        <p:spPr>
          <a:xfrm>
            <a:off x="2301179" y="3794760"/>
            <a:ext cx="1783080" cy="822960"/>
          </a:xfrm>
          <a:prstGeom prst="rect">
            <a:avLst/>
          </a:prstGeom>
          <a:noFill/>
          <a:ln/>
        </p:spPr>
        <p:txBody>
          <a:bodyPr wrap="square" lIns="0" tIns="0" rIns="0" bIns="0" rtlCol="0" anchor="t"/>
          <a:lstStyle/>
          <a:p>
            <a:pPr algn="ctr" indent="0" marL="0">
              <a:buNone/>
            </a:pPr>
            <a:r>
              <a:rPr lang="fr-FR" altLang="en-US" sz="2200" b="1" dirty="0">
                <a:solidFill>
                  <a:srgbClr val="1B2233"/>
                </a:solidFill>
                <a:latin typeface="Calibri" pitchFamily="34" charset="0"/>
                <a:ea typeface="Calibri" pitchFamily="34" charset="-122"/>
                <a:cs typeface="Calibri" pitchFamily="34" charset="-120"/>
              </a:rPr>
              <a:t>Projet ou skill</a:t>
            </a:r>
            <a:endParaRPr lang="fr-FR" sz="2200" dirty="0"/>
          </a:p>
        </p:txBody>
      </p:sp>
      <p:sp>
        <p:nvSpPr>
          <p:cNvPr id="11" name="Shape 7"/>
          <p:cNvSpPr/>
          <p:nvPr/>
        </p:nvSpPr>
        <p:spPr>
          <a:xfrm>
            <a:off x="4510918" y="2377440"/>
            <a:ext cx="1234440" cy="1234440"/>
          </a:xfrm>
          <a:prstGeom prst="ellipse">
            <a:avLst/>
          </a:prstGeom>
          <a:solidFill>
            <a:srgbClr val="B8235A"/>
          </a:solidFill>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19528" y="2686050"/>
            <a:ext cx="617220" cy="617220"/>
          </a:xfrm>
          <a:prstGeom prst="rect">
            <a:avLst/>
          </a:prstGeom>
        </p:spPr>
      </p:pic>
      <p:sp>
        <p:nvSpPr>
          <p:cNvPr id="13" name="Text 8"/>
          <p:cNvSpPr txBox="1"/>
          <p:nvPr/>
        </p:nvSpPr>
        <p:spPr>
          <a:xfrm>
            <a:off x="4328038" y="1920240"/>
            <a:ext cx="1600200" cy="365760"/>
          </a:xfrm>
          <a:prstGeom prst="rect">
            <a:avLst/>
          </a:prstGeom>
          <a:noFill/>
          <a:ln/>
        </p:spPr>
        <p:txBody>
          <a:bodyPr wrap="square" lIns="0" tIns="0" rIns="0" bIns="0" rtlCol="0" anchor="t"/>
          <a:lstStyle/>
          <a:p>
            <a:pPr algn="ctr" indent="0" marL="0">
              <a:buNone/>
            </a:pPr>
            <a:r>
              <a:rPr lang="fr-FR" altLang="en-US" sz="1800" b="1" dirty="0">
                <a:solidFill>
                  <a:srgbClr val="566070"/>
                </a:solidFill>
                <a:latin typeface="Calibri" pitchFamily="34" charset="0"/>
                <a:ea typeface="Calibri" pitchFamily="34" charset="-122"/>
                <a:cs typeface="Calibri" pitchFamily="34" charset="-120"/>
              </a:rPr>
              <a:t>3</a:t>
            </a:r>
            <a:endParaRPr lang="fr-FR" sz="1800" dirty="0"/>
          </a:p>
        </p:txBody>
      </p:sp>
      <p:sp>
        <p:nvSpPr>
          <p:cNvPr id="14" name="Text 9"/>
          <p:cNvSpPr txBox="1"/>
          <p:nvPr/>
        </p:nvSpPr>
        <p:spPr>
          <a:xfrm>
            <a:off x="4236598" y="3794760"/>
            <a:ext cx="1783080" cy="822960"/>
          </a:xfrm>
          <a:prstGeom prst="rect">
            <a:avLst/>
          </a:prstGeom>
          <a:noFill/>
          <a:ln/>
        </p:spPr>
        <p:txBody>
          <a:bodyPr wrap="square" lIns="0" tIns="0" rIns="0" bIns="0" rtlCol="0" anchor="t"/>
          <a:lstStyle/>
          <a:p>
            <a:pPr algn="ctr" indent="0" marL="0">
              <a:buNone/>
            </a:pPr>
            <a:r>
              <a:rPr lang="fr-FR" altLang="en-US" sz="2200" b="1" dirty="0">
                <a:solidFill>
                  <a:srgbClr val="1B2233"/>
                </a:solidFill>
                <a:latin typeface="Calibri" pitchFamily="34" charset="0"/>
                <a:ea typeface="Calibri" pitchFamily="34" charset="-122"/>
                <a:cs typeface="Calibri" pitchFamily="34" charset="-120"/>
              </a:rPr>
              <a:t>Récupérer</a:t>
            </a:r>
            <a:endParaRPr lang="fr-FR" sz="2200" dirty="0"/>
          </a:p>
        </p:txBody>
      </p:sp>
      <p:sp>
        <p:nvSpPr>
          <p:cNvPr id="15" name="Shape 10"/>
          <p:cNvSpPr/>
          <p:nvPr/>
        </p:nvSpPr>
        <p:spPr>
          <a:xfrm>
            <a:off x="6446337" y="2377440"/>
            <a:ext cx="1234440" cy="1234440"/>
          </a:xfrm>
          <a:prstGeom prst="ellipse">
            <a:avLst/>
          </a:prstGeom>
          <a:solidFill>
            <a:srgbClr val="1B2233"/>
          </a:solidFill>
          <a:ln/>
        </p:spPr>
      </p:sp>
      <p:pic>
        <p:nvPicPr>
          <p:cNvPr id="16"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754947" y="2686050"/>
            <a:ext cx="617220" cy="617220"/>
          </a:xfrm>
          <a:prstGeom prst="rect">
            <a:avLst/>
          </a:prstGeom>
        </p:spPr>
      </p:pic>
      <p:sp>
        <p:nvSpPr>
          <p:cNvPr id="17" name="Text 11"/>
          <p:cNvSpPr txBox="1"/>
          <p:nvPr/>
        </p:nvSpPr>
        <p:spPr>
          <a:xfrm>
            <a:off x="6263457" y="1920240"/>
            <a:ext cx="1600200" cy="365760"/>
          </a:xfrm>
          <a:prstGeom prst="rect">
            <a:avLst/>
          </a:prstGeom>
          <a:noFill/>
          <a:ln/>
        </p:spPr>
        <p:txBody>
          <a:bodyPr wrap="square" lIns="0" tIns="0" rIns="0" bIns="0" rtlCol="0" anchor="t"/>
          <a:lstStyle/>
          <a:p>
            <a:pPr algn="ctr" indent="0" marL="0">
              <a:buNone/>
            </a:pPr>
            <a:r>
              <a:rPr lang="fr-FR" altLang="en-US" sz="1800" b="1" dirty="0">
                <a:solidFill>
                  <a:srgbClr val="566070"/>
                </a:solidFill>
                <a:latin typeface="Calibri" pitchFamily="34" charset="0"/>
                <a:ea typeface="Calibri" pitchFamily="34" charset="-122"/>
                <a:cs typeface="Calibri" pitchFamily="34" charset="-120"/>
              </a:rPr>
              <a:t>4</a:t>
            </a:r>
            <a:endParaRPr lang="fr-FR" sz="1800" dirty="0"/>
          </a:p>
        </p:txBody>
      </p:sp>
      <p:sp>
        <p:nvSpPr>
          <p:cNvPr id="18" name="Text 12"/>
          <p:cNvSpPr txBox="1"/>
          <p:nvPr/>
        </p:nvSpPr>
        <p:spPr>
          <a:xfrm>
            <a:off x="6172017" y="3794760"/>
            <a:ext cx="1783080" cy="822960"/>
          </a:xfrm>
          <a:prstGeom prst="rect">
            <a:avLst/>
          </a:prstGeom>
          <a:noFill/>
          <a:ln/>
        </p:spPr>
        <p:txBody>
          <a:bodyPr wrap="square" lIns="0" tIns="0" rIns="0" bIns="0" rtlCol="0" anchor="t"/>
          <a:lstStyle/>
          <a:p>
            <a:pPr algn="ctr" indent="0" marL="0">
              <a:buNone/>
            </a:pPr>
            <a:r>
              <a:rPr lang="fr-FR" altLang="en-US" sz="2200" b="1" dirty="0">
                <a:solidFill>
                  <a:srgbClr val="1B2233"/>
                </a:solidFill>
                <a:latin typeface="Calibri" pitchFamily="34" charset="0"/>
                <a:ea typeface="Calibri" pitchFamily="34" charset="-122"/>
                <a:cs typeface="Calibri" pitchFamily="34" charset="-120"/>
              </a:rPr>
              <a:t>Où créer</a:t>
            </a:r>
            <a:endParaRPr lang="fr-FR" sz="2200" dirty="0"/>
          </a:p>
        </p:txBody>
      </p:sp>
      <p:sp>
        <p:nvSpPr>
          <p:cNvPr id="19" name="Shape 13"/>
          <p:cNvSpPr/>
          <p:nvPr/>
        </p:nvSpPr>
        <p:spPr>
          <a:xfrm>
            <a:off x="8381756" y="2377440"/>
            <a:ext cx="1234440" cy="1234440"/>
          </a:xfrm>
          <a:prstGeom prst="ellipse">
            <a:avLst/>
          </a:prstGeom>
          <a:solidFill>
            <a:srgbClr val="B8235A"/>
          </a:solidFill>
          <a:ln/>
        </p:spPr>
      </p:sp>
      <p:pic>
        <p:nvPicPr>
          <p:cNvPr id="20"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90366" y="2686050"/>
            <a:ext cx="617220" cy="617220"/>
          </a:xfrm>
          <a:prstGeom prst="rect">
            <a:avLst/>
          </a:prstGeom>
        </p:spPr>
      </p:pic>
      <p:sp>
        <p:nvSpPr>
          <p:cNvPr id="21" name="Text 14"/>
          <p:cNvSpPr txBox="1"/>
          <p:nvPr/>
        </p:nvSpPr>
        <p:spPr>
          <a:xfrm>
            <a:off x="8198876" y="1920240"/>
            <a:ext cx="1600200" cy="365760"/>
          </a:xfrm>
          <a:prstGeom prst="rect">
            <a:avLst/>
          </a:prstGeom>
          <a:noFill/>
          <a:ln/>
        </p:spPr>
        <p:txBody>
          <a:bodyPr wrap="square" lIns="0" tIns="0" rIns="0" bIns="0" rtlCol="0" anchor="t"/>
          <a:lstStyle/>
          <a:p>
            <a:pPr algn="ctr" indent="0" marL="0">
              <a:buNone/>
            </a:pPr>
            <a:r>
              <a:rPr lang="fr-FR" altLang="en-US" sz="1800" b="1" dirty="0">
                <a:solidFill>
                  <a:srgbClr val="566070"/>
                </a:solidFill>
                <a:latin typeface="Calibri" pitchFamily="34" charset="0"/>
                <a:ea typeface="Calibri" pitchFamily="34" charset="-122"/>
                <a:cs typeface="Calibri" pitchFamily="34" charset="-120"/>
              </a:rPr>
              <a:t>5</a:t>
            </a:r>
            <a:endParaRPr lang="fr-FR" sz="1800" dirty="0"/>
          </a:p>
        </p:txBody>
      </p:sp>
      <p:sp>
        <p:nvSpPr>
          <p:cNvPr id="22" name="Text 15"/>
          <p:cNvSpPr txBox="1"/>
          <p:nvPr/>
        </p:nvSpPr>
        <p:spPr>
          <a:xfrm>
            <a:off x="8107436" y="3794760"/>
            <a:ext cx="1783080" cy="822960"/>
          </a:xfrm>
          <a:prstGeom prst="rect">
            <a:avLst/>
          </a:prstGeom>
          <a:noFill/>
          <a:ln/>
        </p:spPr>
        <p:txBody>
          <a:bodyPr wrap="square" lIns="0" tIns="0" rIns="0" bIns="0" rtlCol="0" anchor="t"/>
          <a:lstStyle/>
          <a:p>
            <a:pPr algn="ctr" indent="0" marL="0">
              <a:buNone/>
            </a:pPr>
            <a:r>
              <a:rPr lang="fr-FR" altLang="en-US" sz="2200" b="1" dirty="0">
                <a:solidFill>
                  <a:srgbClr val="1B2233"/>
                </a:solidFill>
                <a:latin typeface="Calibri" pitchFamily="34" charset="0"/>
                <a:ea typeface="Calibri" pitchFamily="34" charset="-122"/>
                <a:cs typeface="Calibri" pitchFamily="34" charset="-120"/>
              </a:rPr>
              <a:t>Créer</a:t>
            </a:r>
            <a:endParaRPr lang="fr-FR" sz="2200" dirty="0"/>
          </a:p>
        </p:txBody>
      </p:sp>
      <p:sp>
        <p:nvSpPr>
          <p:cNvPr id="23" name="Shape 16"/>
          <p:cNvSpPr/>
          <p:nvPr/>
        </p:nvSpPr>
        <p:spPr>
          <a:xfrm>
            <a:off x="10317175" y="2377440"/>
            <a:ext cx="1234440" cy="1234440"/>
          </a:xfrm>
          <a:prstGeom prst="ellipse">
            <a:avLst/>
          </a:prstGeom>
          <a:solidFill>
            <a:srgbClr val="1B2233"/>
          </a:solidFill>
          <a:ln/>
        </p:spPr>
      </p:sp>
      <p:pic>
        <p:nvPicPr>
          <p:cNvPr id="24"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0625785" y="2686050"/>
            <a:ext cx="617220" cy="617220"/>
          </a:xfrm>
          <a:prstGeom prst="rect">
            <a:avLst/>
          </a:prstGeom>
        </p:spPr>
      </p:pic>
      <p:sp>
        <p:nvSpPr>
          <p:cNvPr id="25" name="Text 17"/>
          <p:cNvSpPr txBox="1"/>
          <p:nvPr/>
        </p:nvSpPr>
        <p:spPr>
          <a:xfrm>
            <a:off x="10134295" y="1920240"/>
            <a:ext cx="1600200" cy="365760"/>
          </a:xfrm>
          <a:prstGeom prst="rect">
            <a:avLst/>
          </a:prstGeom>
          <a:noFill/>
          <a:ln/>
        </p:spPr>
        <p:txBody>
          <a:bodyPr wrap="square" lIns="0" tIns="0" rIns="0" bIns="0" rtlCol="0" anchor="t"/>
          <a:lstStyle/>
          <a:p>
            <a:pPr algn="ctr" indent="0" marL="0">
              <a:buNone/>
            </a:pPr>
            <a:r>
              <a:rPr lang="fr-FR" altLang="en-US" sz="1800" b="1" dirty="0">
                <a:solidFill>
                  <a:srgbClr val="566070"/>
                </a:solidFill>
                <a:latin typeface="Calibri" pitchFamily="34" charset="0"/>
                <a:ea typeface="Calibri" pitchFamily="34" charset="-122"/>
                <a:cs typeface="Calibri" pitchFamily="34" charset="-120"/>
              </a:rPr>
              <a:t>6</a:t>
            </a:r>
            <a:endParaRPr lang="fr-FR" sz="1800" dirty="0"/>
          </a:p>
        </p:txBody>
      </p:sp>
      <p:sp>
        <p:nvSpPr>
          <p:cNvPr id="26" name="Text 18"/>
          <p:cNvSpPr txBox="1"/>
          <p:nvPr/>
        </p:nvSpPr>
        <p:spPr>
          <a:xfrm>
            <a:off x="10042855" y="3794760"/>
            <a:ext cx="1783080" cy="822960"/>
          </a:xfrm>
          <a:prstGeom prst="rect">
            <a:avLst/>
          </a:prstGeom>
          <a:noFill/>
          <a:ln/>
        </p:spPr>
        <p:txBody>
          <a:bodyPr wrap="square" lIns="0" tIns="0" rIns="0" bIns="0" rtlCol="0" anchor="t"/>
          <a:lstStyle/>
          <a:p>
            <a:pPr algn="ctr" indent="0" marL="0">
              <a:buNone/>
            </a:pPr>
            <a:r>
              <a:rPr lang="fr-FR" altLang="en-US" sz="2200" b="1" dirty="0">
                <a:solidFill>
                  <a:srgbClr val="1B2233"/>
                </a:solidFill>
                <a:latin typeface="Calibri" pitchFamily="34" charset="0"/>
                <a:ea typeface="Calibri" pitchFamily="34" charset="-122"/>
                <a:cs typeface="Calibri" pitchFamily="34" charset="-120"/>
              </a:rPr>
              <a:t>Partager</a:t>
            </a:r>
            <a:endParaRPr lang="fr-FR" sz="2200" dirty="0"/>
          </a:p>
        </p:txBody>
      </p:sp>
      <p:sp>
        <p:nvSpPr>
          <p:cNvPr id="27" name="Shape 19"/>
          <p:cNvSpPr/>
          <p:nvPr/>
        </p:nvSpPr>
        <p:spPr>
          <a:xfrm>
            <a:off x="4023360" y="5029200"/>
            <a:ext cx="4114800" cy="777240"/>
          </a:xfrm>
          <a:prstGeom prst="roundRect">
            <a:avLst>
              <a:gd name="adj" fmla="val 17647"/>
            </a:avLst>
          </a:prstGeom>
          <a:solidFill>
            <a:srgbClr val="FBE7EF"/>
          </a:solidFill>
          <a:ln/>
        </p:spPr>
      </p:sp>
      <p:pic>
        <p:nvPicPr>
          <p:cNvPr id="28"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297680" y="5193792"/>
            <a:ext cx="457200" cy="457200"/>
          </a:xfrm>
          <a:prstGeom prst="rect">
            <a:avLst/>
          </a:prstGeom>
        </p:spPr>
      </p:pic>
      <p:sp>
        <p:nvSpPr>
          <p:cNvPr id="29" name="Text 20"/>
          <p:cNvSpPr txBox="1"/>
          <p:nvPr/>
        </p:nvSpPr>
        <p:spPr>
          <a:xfrm>
            <a:off x="4892040" y="5029200"/>
            <a:ext cx="3200400" cy="777240"/>
          </a:xfrm>
          <a:prstGeom prst="rect">
            <a:avLst/>
          </a:prstGeom>
          <a:noFill/>
          <a:ln/>
        </p:spPr>
        <p:txBody>
          <a:bodyPr wrap="square" lIns="0" tIns="0" rIns="0" bIns="0" rtlCol="0" anchor="ctr"/>
          <a:lstStyle/>
          <a:p>
            <a:pPr indent="0" marL="0">
              <a:buNone/>
            </a:pPr>
            <a:r>
              <a:rPr lang="fr-FR" altLang="en-US" sz="2200" b="1" dirty="0">
                <a:solidFill>
                  <a:srgbClr val="B8235A"/>
                </a:solidFill>
                <a:latin typeface="Calibri" pitchFamily="34" charset="0"/>
                <a:ea typeface="Calibri" pitchFamily="34" charset="-122"/>
                <a:cs typeface="Calibri" pitchFamily="34" charset="-120"/>
              </a:rPr>
              <a:t>et pour finir : le quiz !</a:t>
            </a:r>
            <a:endParaRPr lang="fr-FR" sz="2200" dirty="0"/>
          </a:p>
        </p:txBody>
      </p:sp>
      <p:sp>
        <p:nvSpPr>
          <p:cNvPr id="30" name="Text 21"/>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a:t>
            </a:r>
            <a:endParaRPr lang="fr-FR" sz="1400" dirty="0"/>
          </a:p>
        </p:txBody>
      </p:sp>
      <p:sp>
        <p:nvSpPr>
          <p:cNvPr id="31" name="Text 22"/>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3</a:t>
            </a:r>
            <a:endParaRPr lang="fr-F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8235A"/>
        </a:solidFill>
      </p:bgPr>
    </p:bg>
    <p:spTree>
      <p:nvGrpSpPr>
        <p:cNvPr id="1" name=""/>
        <p:cNvGrpSpPr/>
        <p:nvPr/>
      </p:nvGrpSpPr>
      <p:grpSpPr>
        <a:xfrm>
          <a:off x="0" y="0"/>
          <a:ext cx="0" cy="0"/>
          <a:chOff x="0" y="0"/>
          <a:chExt cx="0" cy="0"/>
        </a:xfrm>
      </p:grpSpPr>
      <p:sp>
        <p:nvSpPr>
          <p:cNvPr id="4" name="Titre"/>
          <p:cNvSpPr>
            <a:spLocks noGrp="1"/>
          </p:cNvSpPr>
          <p:nvPr>
            <p:ph type="title"/>
          </p:nvPr>
        </p:nvSpPr>
        <p:spPr>
          <a:xfrm>
            <a:off x="4846320" y="2880360"/>
            <a:ext cx="6858000" cy="1097280"/>
          </a:xfrm>
          <a:prstGeom prst="rect">
            <a:avLst/>
          </a:prstGeom>
          <a:noFill/>
          <a:ln/>
        </p:spPr>
        <p:txBody>
          <a:bodyPr wrap="square" lIns="0" tIns="0" rIns="0" bIns="0" rtlCol="0" anchor="ctr"/>
          <a:lstStyle/>
          <a:p>
            <a:pPr algn="l" indent="0" marL="0">
              <a:buNone/>
            </a:pPr>
            <a:r>
              <a:rPr lang="fr-FR" altLang="en-US" sz="5400" b="1" dirty="0">
                <a:solidFill>
                  <a:srgbClr val="FFFFFF"/>
                </a:solidFill>
                <a:latin typeface="Calibri" pitchFamily="34" charset="0"/>
                <a:ea typeface="Calibri" pitchFamily="34" charset="-122"/>
                <a:cs typeface="Calibri" pitchFamily="34" charset="-120"/>
              </a:rPr>
              <a:t>Comprendre</a:t>
            </a:r>
            <a:endParaRPr lang="fr-FR" sz="5400" dirty="0"/>
          </a:p>
        </p:txBody>
      </p:sp>
      <p:sp>
        <p:nvSpPr>
          <p:cNvPr id="2" name="Text 0"/>
          <p:cNvSpPr txBox="1"/>
          <p:nvPr/>
        </p:nvSpPr>
        <p:spPr>
          <a:xfrm>
            <a:off x="548640" y="822960"/>
            <a:ext cx="3840480" cy="4754880"/>
          </a:xfrm>
          <a:prstGeom prst="rect">
            <a:avLst/>
          </a:prstGeom>
          <a:noFill/>
          <a:ln/>
        </p:spPr>
        <p:txBody>
          <a:bodyPr wrap="square" lIns="0" tIns="0" rIns="0" bIns="0" rtlCol="0" anchor="ctr"/>
          <a:lstStyle/>
          <a:p>
            <a:pPr algn="ctr" indent="0" marL="0">
              <a:buNone/>
            </a:pPr>
            <a:r>
              <a:rPr lang="fr-FR" altLang="en-US" sz="28000" b="1" dirty="0">
                <a:solidFill>
                  <a:srgbClr val="FFFFFF"/>
                </a:solidFill>
                <a:latin typeface="Calibri" pitchFamily="34" charset="0"/>
                <a:ea typeface="Calibri" pitchFamily="34" charset="-122"/>
                <a:cs typeface="Calibri" pitchFamily="34" charset="-120"/>
              </a:rPr>
              <a:t>1</a:t>
            </a:r>
            <a:endParaRPr lang="fr-FR" sz="28000" dirty="0"/>
          </a:p>
        </p:txBody>
      </p:sp>
      <p:pic>
        <p:nvPicPr>
          <p:cNvPr id="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4846320" y="2057400"/>
            <a:ext cx="731520" cy="731520"/>
          </a:xfrm>
          <a:prstGeom prst="rect">
            <a:avLst/>
          </a:prstGeom>
        </p:spPr>
      </p:pic>
      <p:sp>
        <p:nvSpPr>
          <p:cNvPr id="5" name="Text 2"/>
          <p:cNvSpPr txBox="1"/>
          <p:nvPr/>
        </p:nvSpPr>
        <p:spPr>
          <a:xfrm>
            <a:off x="4846320" y="3977640"/>
            <a:ext cx="6858000" cy="731520"/>
          </a:xfrm>
          <a:prstGeom prst="rect">
            <a:avLst/>
          </a:prstGeom>
          <a:noFill/>
          <a:ln/>
        </p:spPr>
        <p:txBody>
          <a:bodyPr wrap="square" lIns="0" tIns="0" rIns="0" bIns="0" rtlCol="0" anchor="t"/>
          <a:lstStyle/>
          <a:p>
            <a:pPr algn="l" indent="0" marL="0">
              <a:buNone/>
            </a:pPr>
            <a:r>
              <a:rPr lang="fr-FR" altLang="en-US" sz="2800" dirty="0">
                <a:solidFill>
                  <a:srgbClr val="FFFFFF"/>
                </a:solidFill>
                <a:latin typeface="Calibri" pitchFamily="34" charset="0"/>
                <a:ea typeface="Calibri" pitchFamily="34" charset="-122"/>
                <a:cs typeface="Calibri" pitchFamily="34" charset="-120"/>
              </a:rPr>
              <a:t>Qu'est-ce qu'une skill ?</a:t>
            </a:r>
            <a:endParaRPr lang="fr-FR"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Un classeur de fiches méthode</a:t>
            </a:r>
            <a:endParaRPr lang="fr-FR" sz="4000" dirty="0"/>
          </a:p>
        </p:txBody>
      </p:sp>
      <p:sp>
        <p:nvSpPr>
          <p:cNvPr id="3" name="Shape 1"/>
          <p:cNvSpPr/>
          <p:nvPr/>
        </p:nvSpPr>
        <p:spPr>
          <a:xfrm>
            <a:off x="1005840" y="1801368"/>
            <a:ext cx="2103120" cy="457200"/>
          </a:xfrm>
          <a:prstGeom prst="roundRect">
            <a:avLst>
              <a:gd name="adj" fmla="val 20000"/>
            </a:avLst>
          </a:prstGeom>
          <a:solidFill>
            <a:srgbClr val="E1E5EB"/>
          </a:solidFill>
          <a:ln w="12700">
            <a:solidFill>
              <a:srgbClr val="FFFFFF"/>
            </a:solidFill>
            <a:prstDash val="solid"/>
          </a:ln>
        </p:spPr>
      </p:sp>
      <p:sp>
        <p:nvSpPr>
          <p:cNvPr id="4" name="Text 2"/>
          <p:cNvSpPr txBox="1"/>
          <p:nvPr/>
        </p:nvSpPr>
        <p:spPr>
          <a:xfrm>
            <a:off x="1115568" y="1801368"/>
            <a:ext cx="1920240" cy="365760"/>
          </a:xfrm>
          <a:prstGeom prst="rect">
            <a:avLst/>
          </a:prstGeom>
          <a:noFill/>
          <a:ln/>
        </p:spPr>
        <p:txBody>
          <a:bodyPr wrap="square" lIns="0" tIns="0" rIns="0" bIns="0" rtlCol="0" anchor="ctr"/>
          <a:lstStyle/>
          <a:p>
            <a:pPr indent="0" marL="0">
              <a:buNone/>
            </a:pPr>
            <a:r>
              <a:rPr lang="fr-FR" altLang="en-US" sz="1600" b="1" dirty="0">
                <a:solidFill>
                  <a:srgbClr val="566070"/>
                </a:solidFill>
                <a:latin typeface="Calibri" pitchFamily="34" charset="0"/>
                <a:ea typeface="Calibri" pitchFamily="34" charset="-122"/>
                <a:cs typeface="Calibri" pitchFamily="34" charset="-120"/>
              </a:rPr>
              <a:t>Devis</a:t>
            </a:r>
            <a:endParaRPr lang="fr-FR" sz="1600" dirty="0"/>
          </a:p>
        </p:txBody>
      </p:sp>
      <p:sp>
        <p:nvSpPr>
          <p:cNvPr id="5" name="Shape 3"/>
          <p:cNvSpPr/>
          <p:nvPr/>
        </p:nvSpPr>
        <p:spPr>
          <a:xfrm>
            <a:off x="731520" y="2148840"/>
            <a:ext cx="4206240" cy="1920240"/>
          </a:xfrm>
          <a:prstGeom prst="roundRect">
            <a:avLst>
              <a:gd name="adj" fmla="val 5714"/>
            </a:avLst>
          </a:prstGeom>
          <a:solidFill>
            <a:srgbClr val="F1F3F6"/>
          </a:solidFill>
          <a:ln w="12700">
            <a:solidFill>
              <a:srgbClr val="D5D9E0"/>
            </a:solidFill>
            <a:prstDash val="solid"/>
          </a:ln>
        </p:spPr>
      </p:sp>
      <p:sp>
        <p:nvSpPr>
          <p:cNvPr id="6" name="Shape 4"/>
          <p:cNvSpPr/>
          <p:nvPr/>
        </p:nvSpPr>
        <p:spPr>
          <a:xfrm>
            <a:off x="3246120" y="2258568"/>
            <a:ext cx="2103120" cy="457200"/>
          </a:xfrm>
          <a:prstGeom prst="roundRect">
            <a:avLst>
              <a:gd name="adj" fmla="val 20000"/>
            </a:avLst>
          </a:prstGeom>
          <a:solidFill>
            <a:srgbClr val="E1E5EB"/>
          </a:solidFill>
          <a:ln w="12700">
            <a:solidFill>
              <a:srgbClr val="FFFFFF"/>
            </a:solidFill>
            <a:prstDash val="solid"/>
          </a:ln>
        </p:spPr>
      </p:sp>
      <p:sp>
        <p:nvSpPr>
          <p:cNvPr id="7" name="Text 5"/>
          <p:cNvSpPr txBox="1"/>
          <p:nvPr/>
        </p:nvSpPr>
        <p:spPr>
          <a:xfrm>
            <a:off x="3355848" y="2258568"/>
            <a:ext cx="1920240" cy="365760"/>
          </a:xfrm>
          <a:prstGeom prst="rect">
            <a:avLst/>
          </a:prstGeom>
          <a:noFill/>
          <a:ln/>
        </p:spPr>
        <p:txBody>
          <a:bodyPr wrap="square" lIns="0" tIns="0" rIns="0" bIns="0" rtlCol="0" anchor="ctr"/>
          <a:lstStyle/>
          <a:p>
            <a:pPr indent="0" marL="0">
              <a:buNone/>
            </a:pPr>
            <a:r>
              <a:rPr lang="fr-FR" altLang="en-US" sz="1600" b="1" dirty="0">
                <a:solidFill>
                  <a:srgbClr val="566070"/>
                </a:solidFill>
                <a:latin typeface="Calibri" pitchFamily="34" charset="0"/>
                <a:ea typeface="Calibri" pitchFamily="34" charset="-122"/>
                <a:cs typeface="Calibri" pitchFamily="34" charset="-120"/>
              </a:rPr>
              <a:t>Charte graphique</a:t>
            </a:r>
            <a:endParaRPr lang="fr-FR" sz="1600" dirty="0"/>
          </a:p>
        </p:txBody>
      </p:sp>
      <p:sp>
        <p:nvSpPr>
          <p:cNvPr id="8" name="Shape 6"/>
          <p:cNvSpPr/>
          <p:nvPr/>
        </p:nvSpPr>
        <p:spPr>
          <a:xfrm>
            <a:off x="960120" y="2606040"/>
            <a:ext cx="4206240" cy="1920240"/>
          </a:xfrm>
          <a:prstGeom prst="roundRect">
            <a:avLst>
              <a:gd name="adj" fmla="val 5714"/>
            </a:avLst>
          </a:prstGeom>
          <a:solidFill>
            <a:srgbClr val="F1F3F6"/>
          </a:solidFill>
          <a:ln w="12700">
            <a:solidFill>
              <a:srgbClr val="D5D9E0"/>
            </a:solidFill>
            <a:prstDash val="solid"/>
          </a:ln>
        </p:spPr>
      </p:sp>
      <p:sp>
        <p:nvSpPr>
          <p:cNvPr id="9" name="Shape 7"/>
          <p:cNvSpPr/>
          <p:nvPr/>
        </p:nvSpPr>
        <p:spPr>
          <a:xfrm>
            <a:off x="1463040" y="2715768"/>
            <a:ext cx="2103120" cy="457200"/>
          </a:xfrm>
          <a:prstGeom prst="roundRect">
            <a:avLst>
              <a:gd name="adj" fmla="val 20000"/>
            </a:avLst>
          </a:prstGeom>
          <a:solidFill>
            <a:srgbClr val="E1E5EB"/>
          </a:solidFill>
          <a:ln w="12700">
            <a:solidFill>
              <a:srgbClr val="FFFFFF"/>
            </a:solidFill>
            <a:prstDash val="solid"/>
          </a:ln>
        </p:spPr>
      </p:sp>
      <p:sp>
        <p:nvSpPr>
          <p:cNvPr id="10" name="Text 8"/>
          <p:cNvSpPr txBox="1"/>
          <p:nvPr/>
        </p:nvSpPr>
        <p:spPr>
          <a:xfrm>
            <a:off x="1572768" y="2715768"/>
            <a:ext cx="1920240" cy="365760"/>
          </a:xfrm>
          <a:prstGeom prst="rect">
            <a:avLst/>
          </a:prstGeom>
          <a:noFill/>
          <a:ln/>
        </p:spPr>
        <p:txBody>
          <a:bodyPr wrap="square" lIns="0" tIns="0" rIns="0" bIns="0" rtlCol="0" anchor="ctr"/>
          <a:lstStyle/>
          <a:p>
            <a:pPr indent="0" marL="0">
              <a:buNone/>
            </a:pPr>
            <a:r>
              <a:rPr lang="fr-FR" altLang="en-US" sz="1600" b="1" dirty="0">
                <a:solidFill>
                  <a:srgbClr val="566070"/>
                </a:solidFill>
                <a:latin typeface="Calibri" pitchFamily="34" charset="0"/>
                <a:ea typeface="Calibri" pitchFamily="34" charset="-122"/>
                <a:cs typeface="Calibri" pitchFamily="34" charset="-120"/>
              </a:rPr>
              <a:t>Mail client</a:t>
            </a:r>
            <a:endParaRPr lang="fr-FR" sz="1600" dirty="0"/>
          </a:p>
        </p:txBody>
      </p:sp>
      <p:sp>
        <p:nvSpPr>
          <p:cNvPr id="11" name="Shape 9"/>
          <p:cNvSpPr/>
          <p:nvPr/>
        </p:nvSpPr>
        <p:spPr>
          <a:xfrm>
            <a:off x="1188720" y="3063240"/>
            <a:ext cx="4206240" cy="1920240"/>
          </a:xfrm>
          <a:prstGeom prst="roundRect">
            <a:avLst>
              <a:gd name="adj" fmla="val 5714"/>
            </a:avLst>
          </a:prstGeom>
          <a:solidFill>
            <a:srgbClr val="F1F3F6"/>
          </a:solidFill>
          <a:ln w="12700">
            <a:solidFill>
              <a:srgbClr val="D5D9E0"/>
            </a:solidFill>
            <a:prstDash val="solid"/>
          </a:ln>
        </p:spPr>
      </p:sp>
      <p:sp>
        <p:nvSpPr>
          <p:cNvPr id="12" name="Shape 10"/>
          <p:cNvSpPr/>
          <p:nvPr/>
        </p:nvSpPr>
        <p:spPr>
          <a:xfrm>
            <a:off x="6126480" y="1801368"/>
            <a:ext cx="2377440" cy="457200"/>
          </a:xfrm>
          <a:prstGeom prst="roundRect">
            <a:avLst>
              <a:gd name="adj" fmla="val 20000"/>
            </a:avLst>
          </a:prstGeom>
          <a:solidFill>
            <a:srgbClr val="B8235A"/>
          </a:solidFill>
          <a:ln/>
        </p:spPr>
      </p:sp>
      <p:sp>
        <p:nvSpPr>
          <p:cNvPr id="13" name="Text 11"/>
          <p:cNvSpPr txBox="1"/>
          <p:nvPr/>
        </p:nvSpPr>
        <p:spPr>
          <a:xfrm>
            <a:off x="6236208" y="1801368"/>
            <a:ext cx="2194560" cy="365760"/>
          </a:xfrm>
          <a:prstGeom prst="rect">
            <a:avLst/>
          </a:prstGeom>
          <a:noFill/>
          <a:ln/>
        </p:spPr>
        <p:txBody>
          <a:bodyPr wrap="square" lIns="0" tIns="0" rIns="0" bIns="0" rtlCol="0" anchor="ctr"/>
          <a:lstStyle/>
          <a:p>
            <a:pPr indent="0" marL="0">
              <a:buNone/>
            </a:pPr>
            <a:r>
              <a:rPr lang="fr-FR" altLang="en-US" sz="1600" b="1" dirty="0">
                <a:solidFill>
                  <a:srgbClr val="FFFFFF"/>
                </a:solidFill>
                <a:latin typeface="Courier New" pitchFamily="34" charset="0"/>
                <a:ea typeface="Courier New" pitchFamily="34" charset="-122"/>
                <a:cs typeface="Courier New" pitchFamily="34" charset="-120"/>
              </a:rPr>
              <a:t>compte-rendu</a:t>
            </a:r>
            <a:endParaRPr lang="fr-FR" sz="1600" dirty="0"/>
          </a:p>
        </p:txBody>
      </p:sp>
      <p:sp>
        <p:nvSpPr>
          <p:cNvPr id="14" name="Shape 12"/>
          <p:cNvSpPr/>
          <p:nvPr/>
        </p:nvSpPr>
        <p:spPr>
          <a:xfrm>
            <a:off x="5897880" y="2148840"/>
            <a:ext cx="3657600" cy="3200400"/>
          </a:xfrm>
          <a:prstGeom prst="roundRect">
            <a:avLst>
              <a:gd name="adj" fmla="val 3429"/>
            </a:avLst>
          </a:prstGeom>
          <a:solidFill>
            <a:srgbClr val="FFFFFF"/>
          </a:solidFill>
          <a:ln w="31750">
            <a:solidFill>
              <a:srgbClr val="B8235A"/>
            </a:solidFill>
            <a:prstDash val="solid"/>
          </a:ln>
          <a:effectLst>
            <a:outerShdw sx="100000" sy="100000" kx="0" ky="0" algn="bl" rotWithShape="0" blurRad="101600" dist="38100" dir="5400000">
              <a:srgbClr val="000000">
                <a:alpha val="18000"/>
              </a:srgbClr>
            </a:outerShdw>
          </a:effectLst>
        </p:spPr>
      </p:sp>
      <p:sp>
        <p:nvSpPr>
          <p:cNvPr id="15" name="Shape 13"/>
          <p:cNvSpPr/>
          <p:nvPr/>
        </p:nvSpPr>
        <p:spPr>
          <a:xfrm>
            <a:off x="6080760" y="2331720"/>
            <a:ext cx="3291840" cy="685800"/>
          </a:xfrm>
          <a:prstGeom prst="roundRect">
            <a:avLst>
              <a:gd name="adj" fmla="val 10667"/>
            </a:avLst>
          </a:prstGeom>
          <a:solidFill>
            <a:srgbClr val="FBE7EF"/>
          </a:solidFill>
          <a:ln/>
        </p:spPr>
      </p:sp>
      <p:sp>
        <p:nvSpPr>
          <p:cNvPr id="16" name="Text 14"/>
          <p:cNvSpPr txBox="1"/>
          <p:nvPr/>
        </p:nvSpPr>
        <p:spPr>
          <a:xfrm>
            <a:off x="6217920" y="2331720"/>
            <a:ext cx="3017520" cy="685800"/>
          </a:xfrm>
          <a:prstGeom prst="rect">
            <a:avLst/>
          </a:prstGeom>
          <a:noFill/>
          <a:ln/>
        </p:spPr>
        <p:txBody>
          <a:bodyPr wrap="square" lIns="0" tIns="0" rIns="0" bIns="0" rtlCol="0" anchor="ctr"/>
          <a:lstStyle/>
          <a:p>
            <a:pPr indent="0" marL="0">
              <a:buNone/>
            </a:pPr>
            <a:r>
              <a:rPr lang="fr-FR" altLang="en-US" sz="2000" i="1" dirty="0">
                <a:solidFill>
                  <a:srgbClr val="B8235A"/>
                </a:solidFill>
                <a:latin typeface="Calibri" pitchFamily="34" charset="0"/>
                <a:ea typeface="Calibri" pitchFamily="34" charset="-122"/>
                <a:cs typeface="Calibri" pitchFamily="34" charset="-120"/>
              </a:rPr>
              <a:t>« Utiliser quand… »</a:t>
            </a:r>
            <a:endParaRPr lang="fr-FR" sz="2000" dirty="0"/>
          </a:p>
        </p:txBody>
      </p:sp>
      <p:sp>
        <p:nvSpPr>
          <p:cNvPr id="17" name="Shape 15"/>
          <p:cNvSpPr/>
          <p:nvPr/>
        </p:nvSpPr>
        <p:spPr>
          <a:xfrm>
            <a:off x="6172200" y="3246120"/>
            <a:ext cx="2926080" cy="128016"/>
          </a:xfrm>
          <a:prstGeom prst="roundRect">
            <a:avLst>
              <a:gd name="adj" fmla="val 50000"/>
            </a:avLst>
          </a:prstGeom>
          <a:solidFill>
            <a:srgbClr val="E1E5EB"/>
          </a:solidFill>
          <a:ln/>
        </p:spPr>
      </p:sp>
      <p:sp>
        <p:nvSpPr>
          <p:cNvPr id="18" name="Shape 16"/>
          <p:cNvSpPr/>
          <p:nvPr/>
        </p:nvSpPr>
        <p:spPr>
          <a:xfrm>
            <a:off x="6172200" y="3538728"/>
            <a:ext cx="2377440" cy="128016"/>
          </a:xfrm>
          <a:prstGeom prst="roundRect">
            <a:avLst>
              <a:gd name="adj" fmla="val 50000"/>
            </a:avLst>
          </a:prstGeom>
          <a:solidFill>
            <a:srgbClr val="E1E5EB"/>
          </a:solidFill>
          <a:ln/>
        </p:spPr>
      </p:sp>
      <p:sp>
        <p:nvSpPr>
          <p:cNvPr id="19" name="Shape 17"/>
          <p:cNvSpPr/>
          <p:nvPr/>
        </p:nvSpPr>
        <p:spPr>
          <a:xfrm>
            <a:off x="6172200" y="3831336"/>
            <a:ext cx="3108960" cy="128016"/>
          </a:xfrm>
          <a:prstGeom prst="roundRect">
            <a:avLst>
              <a:gd name="adj" fmla="val 50000"/>
            </a:avLst>
          </a:prstGeom>
          <a:solidFill>
            <a:srgbClr val="E1E5EB"/>
          </a:solidFill>
          <a:ln/>
        </p:spPr>
      </p:sp>
      <p:sp>
        <p:nvSpPr>
          <p:cNvPr id="20" name="Shape 18"/>
          <p:cNvSpPr/>
          <p:nvPr/>
        </p:nvSpPr>
        <p:spPr>
          <a:xfrm>
            <a:off x="6172200" y="4123944"/>
            <a:ext cx="1920240" cy="128016"/>
          </a:xfrm>
          <a:prstGeom prst="roundRect">
            <a:avLst>
              <a:gd name="adj" fmla="val 50000"/>
            </a:avLst>
          </a:prstGeom>
          <a:solidFill>
            <a:srgbClr val="E1E5EB"/>
          </a:solidFill>
          <a:ln/>
        </p:spPr>
      </p:sp>
      <p:sp>
        <p:nvSpPr>
          <p:cNvPr id="21" name="Shape 19"/>
          <p:cNvSpPr/>
          <p:nvPr/>
        </p:nvSpPr>
        <p:spPr>
          <a:xfrm>
            <a:off x="6080760" y="4572000"/>
            <a:ext cx="1325880" cy="502920"/>
          </a:xfrm>
          <a:prstGeom prst="roundRect">
            <a:avLst>
              <a:gd name="adj" fmla="val 14545"/>
            </a:avLst>
          </a:prstGeom>
          <a:solidFill>
            <a:srgbClr val="F1F3F6"/>
          </a:solidFill>
          <a:ln w="12700">
            <a:solidFill>
              <a:srgbClr val="D5D9E0"/>
            </a:solidFill>
            <a:prstDash val="solid"/>
          </a:ln>
        </p:spPr>
      </p:sp>
      <p:pic>
        <p:nvPicPr>
          <p:cNvPr id="2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172200" y="4709160"/>
            <a:ext cx="228600" cy="228600"/>
          </a:xfrm>
          <a:prstGeom prst="rect">
            <a:avLst/>
          </a:prstGeom>
        </p:spPr>
      </p:pic>
      <p:sp>
        <p:nvSpPr>
          <p:cNvPr id="23" name="Text 20"/>
          <p:cNvSpPr txBox="1"/>
          <p:nvPr/>
        </p:nvSpPr>
        <p:spPr>
          <a:xfrm>
            <a:off x="6446520" y="4572000"/>
            <a:ext cx="914400" cy="502920"/>
          </a:xfrm>
          <a:prstGeom prst="rect">
            <a:avLst/>
          </a:prstGeom>
          <a:noFill/>
          <a:ln/>
        </p:spPr>
        <p:txBody>
          <a:bodyPr wrap="square" lIns="0" tIns="0" rIns="0" bIns="0" rtlCol="0" anchor="ctr"/>
          <a:lstStyle/>
          <a:p>
            <a:pPr indent="0" marL="0">
              <a:buNone/>
            </a:pPr>
            <a:r>
              <a:rPr lang="fr-FR" altLang="en-US" sz="1600" dirty="0">
                <a:solidFill>
                  <a:srgbClr val="1B2233"/>
                </a:solidFill>
                <a:latin typeface="Courier New" pitchFamily="34" charset="0"/>
                <a:ea typeface="Courier New" pitchFamily="34" charset="-122"/>
                <a:cs typeface="Courier New" pitchFamily="34" charset="-120"/>
              </a:rPr>
              <a:t>cr.docx</a:t>
            </a:r>
            <a:endParaRPr lang="fr-FR" sz="1600" dirty="0"/>
          </a:p>
        </p:txBody>
      </p:sp>
      <p:sp>
        <p:nvSpPr>
          <p:cNvPr id="24" name="Shape 21"/>
          <p:cNvSpPr/>
          <p:nvPr/>
        </p:nvSpPr>
        <p:spPr>
          <a:xfrm>
            <a:off x="7516368" y="4572000"/>
            <a:ext cx="1783080" cy="502920"/>
          </a:xfrm>
          <a:prstGeom prst="roundRect">
            <a:avLst>
              <a:gd name="adj" fmla="val 14545"/>
            </a:avLst>
          </a:prstGeom>
          <a:solidFill>
            <a:srgbClr val="F1F3F6"/>
          </a:solidFill>
          <a:ln w="12700">
            <a:solidFill>
              <a:srgbClr val="D5D9E0"/>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607808" y="4709160"/>
            <a:ext cx="228600" cy="228600"/>
          </a:xfrm>
          <a:prstGeom prst="rect">
            <a:avLst/>
          </a:prstGeom>
        </p:spPr>
      </p:pic>
      <p:sp>
        <p:nvSpPr>
          <p:cNvPr id="26" name="Text 22"/>
          <p:cNvSpPr txBox="1"/>
          <p:nvPr/>
        </p:nvSpPr>
        <p:spPr>
          <a:xfrm>
            <a:off x="7882128" y="4572000"/>
            <a:ext cx="1371600" cy="502920"/>
          </a:xfrm>
          <a:prstGeom prst="rect">
            <a:avLst/>
          </a:prstGeom>
          <a:noFill/>
          <a:ln/>
        </p:spPr>
        <p:txBody>
          <a:bodyPr wrap="square" lIns="0" tIns="0" rIns="0" bIns="0" rtlCol="0" anchor="ctr"/>
          <a:lstStyle/>
          <a:p>
            <a:pPr indent="0" marL="0">
              <a:buNone/>
            </a:pPr>
            <a:r>
              <a:rPr lang="fr-FR" altLang="en-US" sz="1600" dirty="0">
                <a:solidFill>
                  <a:srgbClr val="1B2233"/>
                </a:solidFill>
                <a:latin typeface="Courier New" pitchFamily="34" charset="0"/>
                <a:ea typeface="Courier New" pitchFamily="34" charset="-122"/>
                <a:cs typeface="Courier New" pitchFamily="34" charset="-120"/>
              </a:rPr>
              <a:t>exemple.md</a:t>
            </a:r>
            <a:endParaRPr lang="fr-FR" sz="1600" dirty="0"/>
          </a:p>
        </p:txBody>
      </p:sp>
      <p:sp>
        <p:nvSpPr>
          <p:cNvPr id="27" name="Shape 23"/>
          <p:cNvSpPr/>
          <p:nvPr/>
        </p:nvSpPr>
        <p:spPr>
          <a:xfrm>
            <a:off x="9601200" y="2651760"/>
            <a:ext cx="320040" cy="0"/>
          </a:xfrm>
          <a:prstGeom prst="line">
            <a:avLst/>
          </a:prstGeom>
          <a:noFill/>
          <a:ln w="19050">
            <a:solidFill>
              <a:srgbClr val="B8235A"/>
            </a:solidFill>
            <a:prstDash val="solid"/>
          </a:ln>
        </p:spPr>
      </p:sp>
      <p:sp>
        <p:nvSpPr>
          <p:cNvPr id="28" name="Text 24"/>
          <p:cNvSpPr txBox="1"/>
          <p:nvPr/>
        </p:nvSpPr>
        <p:spPr>
          <a:xfrm>
            <a:off x="10012680" y="2331720"/>
            <a:ext cx="2103120" cy="685800"/>
          </a:xfrm>
          <a:prstGeom prst="rect">
            <a:avLst/>
          </a:prstGeom>
          <a:noFill/>
          <a:ln/>
        </p:spPr>
        <p:txBody>
          <a:bodyPr wrap="square" lIns="0" tIns="0" rIns="0" bIns="0" rtlCol="0" anchor="ctr"/>
          <a:lstStyle/>
          <a:p>
            <a:pPr indent="0" marL="0">
              <a:buNone/>
            </a:pPr>
            <a:r>
              <a:rPr lang="fr-FR" altLang="en-US" sz="1800" b="1" dirty="0">
                <a:solidFill>
                  <a:srgbClr val="B8235A"/>
                </a:solidFill>
                <a:latin typeface="Calibri" pitchFamily="34" charset="0"/>
                <a:ea typeface="Calibri" pitchFamily="34" charset="-122"/>
                <a:cs typeface="Calibri" pitchFamily="34" charset="-120"/>
              </a:rPr>
              <a:t>1 · Toujours lu</a:t>
            </a:r>
            <a:endParaRPr lang="fr-FR" sz="1800" dirty="0"/>
          </a:p>
          <a:p>
            <a:pPr indent="0" marL="0">
              <a:buNone/>
            </a:pPr>
            <a:r>
              <a:rPr lang="fr-FR" altLang="en-US" sz="1600" dirty="0">
                <a:solidFill>
                  <a:srgbClr val="566070"/>
                </a:solidFill>
                <a:latin typeface="Calibri" pitchFamily="34" charset="0"/>
                <a:ea typeface="Calibri" pitchFamily="34" charset="-122"/>
                <a:cs typeface="Calibri" pitchFamily="34" charset="-120"/>
              </a:rPr>
              <a:t>nom + description</a:t>
            </a:r>
            <a:endParaRPr lang="fr-FR" sz="1800" dirty="0"/>
          </a:p>
        </p:txBody>
      </p:sp>
      <p:sp>
        <p:nvSpPr>
          <p:cNvPr id="29" name="Shape 25"/>
          <p:cNvSpPr/>
          <p:nvPr/>
        </p:nvSpPr>
        <p:spPr>
          <a:xfrm>
            <a:off x="9601200" y="3520440"/>
            <a:ext cx="320040" cy="0"/>
          </a:xfrm>
          <a:prstGeom prst="line">
            <a:avLst/>
          </a:prstGeom>
          <a:noFill/>
          <a:ln w="19050">
            <a:solidFill>
              <a:srgbClr val="C3C9D2"/>
            </a:solidFill>
            <a:prstDash val="solid"/>
          </a:ln>
        </p:spPr>
      </p:sp>
      <p:sp>
        <p:nvSpPr>
          <p:cNvPr id="30" name="Text 26"/>
          <p:cNvSpPr txBox="1"/>
          <p:nvPr/>
        </p:nvSpPr>
        <p:spPr>
          <a:xfrm>
            <a:off x="10012680" y="3200400"/>
            <a:ext cx="2103120" cy="685800"/>
          </a:xfrm>
          <a:prstGeom prst="rect">
            <a:avLst/>
          </a:prstGeom>
          <a:noFill/>
          <a:ln/>
        </p:spPr>
        <p:txBody>
          <a:bodyPr wrap="square" lIns="0" tIns="0" rIns="0" bIns="0" rtlCol="0" anchor="ctr"/>
          <a:lstStyle/>
          <a:p>
            <a:pPr indent="0" marL="0">
              <a:buNone/>
            </a:pPr>
            <a:r>
              <a:rPr lang="fr-FR" altLang="en-US" sz="1800" b="1" dirty="0">
                <a:solidFill>
                  <a:srgbClr val="1B2233"/>
                </a:solidFill>
                <a:latin typeface="Calibri" pitchFamily="34" charset="0"/>
                <a:ea typeface="Calibri" pitchFamily="34" charset="-122"/>
                <a:cs typeface="Calibri" pitchFamily="34" charset="-120"/>
              </a:rPr>
              <a:t>2 · Lu si utile</a:t>
            </a:r>
            <a:endParaRPr lang="fr-FR" sz="1800" dirty="0"/>
          </a:p>
          <a:p>
            <a:pPr indent="0" marL="0">
              <a:buNone/>
            </a:pPr>
            <a:r>
              <a:rPr lang="fr-FR" altLang="en-US" sz="1600" dirty="0">
                <a:solidFill>
                  <a:srgbClr val="566070"/>
                </a:solidFill>
                <a:latin typeface="Calibri" pitchFamily="34" charset="0"/>
                <a:ea typeface="Calibri" pitchFamily="34" charset="-122"/>
                <a:cs typeface="Calibri" pitchFamily="34" charset="-120"/>
              </a:rPr>
              <a:t>la méthode</a:t>
            </a:r>
            <a:endParaRPr lang="fr-FR" sz="1800" dirty="0"/>
          </a:p>
        </p:txBody>
      </p:sp>
      <p:sp>
        <p:nvSpPr>
          <p:cNvPr id="31" name="Shape 27"/>
          <p:cNvSpPr/>
          <p:nvPr/>
        </p:nvSpPr>
        <p:spPr>
          <a:xfrm>
            <a:off x="9601200" y="4846320"/>
            <a:ext cx="320040" cy="0"/>
          </a:xfrm>
          <a:prstGeom prst="line">
            <a:avLst/>
          </a:prstGeom>
          <a:noFill/>
          <a:ln w="19050">
            <a:solidFill>
              <a:srgbClr val="C3C9D2"/>
            </a:solidFill>
            <a:prstDash val="solid"/>
          </a:ln>
        </p:spPr>
      </p:sp>
      <p:sp>
        <p:nvSpPr>
          <p:cNvPr id="32" name="Text 28"/>
          <p:cNvSpPr txBox="1"/>
          <p:nvPr/>
        </p:nvSpPr>
        <p:spPr>
          <a:xfrm>
            <a:off x="10012680" y="4526280"/>
            <a:ext cx="2103120" cy="685800"/>
          </a:xfrm>
          <a:prstGeom prst="rect">
            <a:avLst/>
          </a:prstGeom>
          <a:noFill/>
          <a:ln/>
        </p:spPr>
        <p:txBody>
          <a:bodyPr wrap="square" lIns="0" tIns="0" rIns="0" bIns="0" rtlCol="0" anchor="ctr"/>
          <a:lstStyle/>
          <a:p>
            <a:pPr indent="0" marL="0">
              <a:buNone/>
            </a:pPr>
            <a:r>
              <a:rPr lang="fr-FR" altLang="en-US" sz="1800" b="1" dirty="0">
                <a:solidFill>
                  <a:srgbClr val="1B2233"/>
                </a:solidFill>
                <a:latin typeface="Calibri" pitchFamily="34" charset="0"/>
                <a:ea typeface="Calibri" pitchFamily="34" charset="-122"/>
                <a:cs typeface="Calibri" pitchFamily="34" charset="-120"/>
              </a:rPr>
              <a:t>3 · Si besoin</a:t>
            </a:r>
            <a:endParaRPr lang="fr-FR" sz="1800" dirty="0"/>
          </a:p>
          <a:p>
            <a:pPr indent="0" marL="0">
              <a:buNone/>
            </a:pPr>
            <a:r>
              <a:rPr lang="fr-FR" altLang="en-US" sz="1600" dirty="0">
                <a:solidFill>
                  <a:srgbClr val="566070"/>
                </a:solidFill>
                <a:latin typeface="Calibri" pitchFamily="34" charset="0"/>
                <a:ea typeface="Calibri" pitchFamily="34" charset="-122"/>
                <a:cs typeface="Calibri" pitchFamily="34" charset="-120"/>
              </a:rPr>
              <a:t>les annexes</a:t>
            </a:r>
            <a:endParaRPr lang="fr-FR" sz="1800" dirty="0"/>
          </a:p>
        </p:txBody>
      </p:sp>
      <p:pic>
        <p:nvPicPr>
          <p:cNvPr id="3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257800" y="3383280"/>
            <a:ext cx="548640" cy="548640"/>
          </a:xfrm>
          <a:prstGeom prst="rect">
            <a:avLst/>
          </a:prstGeom>
        </p:spPr>
      </p:pic>
      <p:sp>
        <p:nvSpPr>
          <p:cNvPr id="34" name="Text 29"/>
          <p:cNvSpPr txBox="1"/>
          <p:nvPr/>
        </p:nvSpPr>
        <p:spPr>
          <a:xfrm>
            <a:off x="457200" y="5760720"/>
            <a:ext cx="11277295" cy="548640"/>
          </a:xfrm>
          <a:prstGeom prst="rect">
            <a:avLst/>
          </a:prstGeom>
          <a:noFill/>
          <a:ln/>
        </p:spPr>
        <p:txBody>
          <a:bodyPr wrap="square" lIns="0" tIns="0" rIns="0" bIns="0" rtlCol="0" anchor="t"/>
          <a:lstStyle/>
          <a:p>
            <a:pPr algn="ctr" indent="0" marL="0">
              <a:buNone/>
            </a:pPr>
            <a:r>
              <a:rPr lang="fr-FR" altLang="en-US" sz="2600" i="1" dirty="0">
                <a:solidFill>
                  <a:srgbClr val="566070"/>
                </a:solidFill>
                <a:latin typeface="Calibri" pitchFamily="34" charset="0"/>
                <a:ea typeface="Calibri" pitchFamily="34" charset="-122"/>
                <a:cs typeface="Calibri" pitchFamily="34" charset="-120"/>
              </a:rPr>
              <a:t>Claude n'ouvre que ce qui sert.</a:t>
            </a:r>
            <a:endParaRPr lang="fr-FR" sz="2600" dirty="0"/>
          </a:p>
        </p:txBody>
      </p:sp>
      <p:sp>
        <p:nvSpPr>
          <p:cNvPr id="35" name="Text 30"/>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1 · Comprendre</a:t>
            </a:r>
            <a:endParaRPr lang="fr-FR" sz="1400" dirty="0"/>
          </a:p>
        </p:txBody>
      </p:sp>
      <p:sp>
        <p:nvSpPr>
          <p:cNvPr id="36" name="Text 31"/>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5</a:t>
            </a:r>
            <a:endParaRPr lang="fr-F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Ce qu'il y a dans une skill</a:t>
            </a:r>
            <a:endParaRPr lang="fr-FR" sz="4000" dirty="0"/>
          </a:p>
        </p:txBody>
      </p:sp>
      <p:sp>
        <p:nvSpPr>
          <p:cNvPr id="3" name="Shape 1"/>
          <p:cNvSpPr/>
          <p:nvPr/>
        </p:nvSpPr>
        <p:spPr>
          <a:xfrm>
            <a:off x="731520" y="2194560"/>
            <a:ext cx="1463040" cy="1463040"/>
          </a:xfrm>
          <a:prstGeom prst="ellipse">
            <a:avLst/>
          </a:prstGeom>
          <a:solidFill>
            <a:srgbClr val="1B2233"/>
          </a:solidFill>
          <a:ln/>
        </p:spPr>
      </p:sp>
      <p:pic>
        <p:nvPicPr>
          <p:cNvPr id="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97280" y="2560320"/>
            <a:ext cx="731520" cy="731520"/>
          </a:xfrm>
          <a:prstGeom prst="rect">
            <a:avLst/>
          </a:prstGeom>
        </p:spPr>
      </p:pic>
      <p:sp>
        <p:nvSpPr>
          <p:cNvPr id="5" name="Text 2"/>
          <p:cNvSpPr txBox="1"/>
          <p:nvPr/>
        </p:nvSpPr>
        <p:spPr>
          <a:xfrm>
            <a:off x="274320" y="3749040"/>
            <a:ext cx="2377440" cy="457200"/>
          </a:xfrm>
          <a:prstGeom prst="rect">
            <a:avLst/>
          </a:prstGeom>
          <a:noFill/>
          <a:ln/>
        </p:spPr>
        <p:txBody>
          <a:bodyPr wrap="square" lIns="0" tIns="0" rIns="0" bIns="0" rtlCol="0" anchor="t"/>
          <a:lstStyle/>
          <a:p>
            <a:pPr algn="ctr" indent="0" marL="0">
              <a:buNone/>
            </a:pPr>
            <a:r>
              <a:rPr lang="fr-FR" altLang="en-US" sz="2000" b="1" dirty="0">
                <a:solidFill>
                  <a:srgbClr val="1B2233"/>
                </a:solidFill>
                <a:latin typeface="Courier New" pitchFamily="34" charset="0"/>
                <a:ea typeface="Courier New" pitchFamily="34" charset="-122"/>
                <a:cs typeface="Courier New" pitchFamily="34" charset="-120"/>
              </a:rPr>
              <a:t>compte-rendu/</a:t>
            </a:r>
            <a:endParaRPr lang="fr-FR" sz="2000" dirty="0"/>
          </a:p>
        </p:txBody>
      </p:sp>
      <p:pic>
        <p:nvPicPr>
          <p:cNvPr id="6"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14600" y="2697480"/>
            <a:ext cx="457200" cy="457200"/>
          </a:xfrm>
          <a:prstGeom prst="rect">
            <a:avLst/>
          </a:prstGeom>
        </p:spPr>
      </p:pic>
      <p:sp>
        <p:nvSpPr>
          <p:cNvPr id="7" name="Shape 3"/>
          <p:cNvSpPr/>
          <p:nvPr/>
        </p:nvSpPr>
        <p:spPr>
          <a:xfrm>
            <a:off x="3200400" y="1828800"/>
            <a:ext cx="5120640" cy="4114800"/>
          </a:xfrm>
          <a:prstGeom prst="roundRect">
            <a:avLst>
              <a:gd name="adj" fmla="val 2667"/>
            </a:avLst>
          </a:prstGeom>
          <a:solidFill>
            <a:srgbClr val="FFFFFF"/>
          </a:solidFill>
          <a:ln w="25400">
            <a:solidFill>
              <a:srgbClr val="1B2233"/>
            </a:solidFill>
            <a:prstDash val="solid"/>
          </a:ln>
        </p:spPr>
      </p:sp>
      <p:sp>
        <p:nvSpPr>
          <p:cNvPr id="8" name="Shape 4"/>
          <p:cNvSpPr/>
          <p:nvPr/>
        </p:nvSpPr>
        <p:spPr>
          <a:xfrm>
            <a:off x="3200400" y="1828800"/>
            <a:ext cx="5120640" cy="502920"/>
          </a:xfrm>
          <a:prstGeom prst="rect">
            <a:avLst/>
          </a:prstGeom>
          <a:solidFill>
            <a:srgbClr val="1B2233"/>
          </a:solidFill>
          <a:ln/>
        </p:spPr>
      </p:sp>
      <p:sp>
        <p:nvSpPr>
          <p:cNvPr id="9" name="Text 5"/>
          <p:cNvSpPr txBox="1"/>
          <p:nvPr/>
        </p:nvSpPr>
        <p:spPr>
          <a:xfrm>
            <a:off x="3383280" y="1828800"/>
            <a:ext cx="4572000" cy="502920"/>
          </a:xfrm>
          <a:prstGeom prst="rect">
            <a:avLst/>
          </a:prstGeom>
          <a:noFill/>
          <a:ln/>
        </p:spPr>
        <p:txBody>
          <a:bodyPr wrap="square" lIns="0" tIns="0" rIns="0" bIns="0" rtlCol="0" anchor="ctr"/>
          <a:lstStyle/>
          <a:p>
            <a:pPr indent="0" marL="0">
              <a:buNone/>
            </a:pPr>
            <a:r>
              <a:rPr lang="fr-FR" altLang="en-US" sz="2000" b="1" dirty="0">
                <a:solidFill>
                  <a:srgbClr val="FFFFFF"/>
                </a:solidFill>
                <a:latin typeface="Courier New" pitchFamily="34" charset="0"/>
                <a:ea typeface="Courier New" pitchFamily="34" charset="-122"/>
                <a:cs typeface="Courier New" pitchFamily="34" charset="-120"/>
              </a:rPr>
              <a:t>SKILL.md</a:t>
            </a:r>
            <a:endParaRPr lang="fr-FR" sz="2000" dirty="0"/>
          </a:p>
        </p:txBody>
      </p:sp>
      <p:sp>
        <p:nvSpPr>
          <p:cNvPr id="10" name="Shape 6"/>
          <p:cNvSpPr/>
          <p:nvPr/>
        </p:nvSpPr>
        <p:spPr>
          <a:xfrm>
            <a:off x="3429000" y="2560320"/>
            <a:ext cx="4663440" cy="457200"/>
          </a:xfrm>
          <a:prstGeom prst="roundRect">
            <a:avLst>
              <a:gd name="adj" fmla="val 30000"/>
            </a:avLst>
          </a:prstGeom>
          <a:solidFill>
            <a:srgbClr val="E6EDFA"/>
          </a:solidFill>
          <a:ln/>
        </p:spPr>
      </p:sp>
      <p:sp>
        <p:nvSpPr>
          <p:cNvPr id="11" name="Text 7"/>
          <p:cNvSpPr txBox="1"/>
          <p:nvPr/>
        </p:nvSpPr>
        <p:spPr>
          <a:xfrm>
            <a:off x="3611880" y="2560320"/>
            <a:ext cx="4389120" cy="457200"/>
          </a:xfrm>
          <a:prstGeom prst="rect">
            <a:avLst/>
          </a:prstGeom>
          <a:noFill/>
          <a:ln/>
        </p:spPr>
        <p:txBody>
          <a:bodyPr wrap="square" lIns="0" tIns="0" rIns="0" bIns="0" rtlCol="0" anchor="ctr"/>
          <a:lstStyle/>
          <a:p>
            <a:pPr indent="0" marL="0">
              <a:buNone/>
            </a:pPr>
            <a:r>
              <a:rPr lang="fr-FR" altLang="en-US" sz="1700" dirty="0">
                <a:solidFill>
                  <a:srgbClr val="1B2233"/>
                </a:solidFill>
                <a:latin typeface="Courier New" pitchFamily="34" charset="0"/>
                <a:ea typeface="Courier New" pitchFamily="34" charset="-122"/>
                <a:cs typeface="Courier New" pitchFamily="34" charset="-120"/>
              </a:rPr>
              <a:t>name: compte-rendu</a:t>
            </a:r>
            <a:endParaRPr lang="fr-FR" sz="1700" dirty="0"/>
          </a:p>
        </p:txBody>
      </p:sp>
      <p:sp>
        <p:nvSpPr>
          <p:cNvPr id="12" name="Shape 8"/>
          <p:cNvSpPr/>
          <p:nvPr/>
        </p:nvSpPr>
        <p:spPr>
          <a:xfrm>
            <a:off x="3429000" y="3154680"/>
            <a:ext cx="4663440" cy="868680"/>
          </a:xfrm>
          <a:prstGeom prst="roundRect">
            <a:avLst>
              <a:gd name="adj" fmla="val 15789"/>
            </a:avLst>
          </a:prstGeom>
          <a:solidFill>
            <a:srgbClr val="FBE7EF"/>
          </a:solidFill>
          <a:ln/>
        </p:spPr>
      </p:sp>
      <p:sp>
        <p:nvSpPr>
          <p:cNvPr id="13" name="Text 9"/>
          <p:cNvSpPr txBox="1"/>
          <p:nvPr/>
        </p:nvSpPr>
        <p:spPr>
          <a:xfrm>
            <a:off x="3611880" y="3154680"/>
            <a:ext cx="4389120" cy="868680"/>
          </a:xfrm>
          <a:prstGeom prst="rect">
            <a:avLst/>
          </a:prstGeom>
          <a:noFill/>
          <a:ln/>
        </p:spPr>
        <p:txBody>
          <a:bodyPr wrap="square" lIns="0" tIns="0" rIns="0" bIns="0" rtlCol="0" anchor="ctr"/>
          <a:lstStyle/>
          <a:p>
            <a:pPr indent="0" marL="0">
              <a:buNone/>
            </a:pPr>
            <a:r>
              <a:rPr lang="fr-FR" altLang="en-US" sz="1700" dirty="0">
                <a:solidFill>
                  <a:srgbClr val="1B2233"/>
                </a:solidFill>
                <a:latin typeface="Courier New" pitchFamily="34" charset="0"/>
                <a:ea typeface="Courier New" pitchFamily="34" charset="-122"/>
                <a:cs typeface="Courier New" pitchFamily="34" charset="-120"/>
              </a:rPr>
              <a:t>description: Rédige un compte</a:t>
            </a:r>
            <a:endParaRPr lang="fr-FR" sz="1700" dirty="0"/>
          </a:p>
          <a:p>
            <a:pPr indent="0" marL="0">
              <a:buNone/>
            </a:pPr>
            <a:r>
              <a:rPr lang="fr-FR" altLang="en-US" sz="1700" dirty="0">
                <a:solidFill>
                  <a:srgbClr val="1B2233"/>
                </a:solidFill>
                <a:latin typeface="Courier New" pitchFamily="34" charset="0"/>
                <a:ea typeface="Courier New" pitchFamily="34" charset="-122"/>
                <a:cs typeface="Courier New" pitchFamily="34" charset="-120"/>
              </a:rPr>
              <a:t>rendu… Utiliser quand…</a:t>
            </a:r>
            <a:endParaRPr lang="fr-FR" sz="1700" dirty="0"/>
          </a:p>
        </p:txBody>
      </p:sp>
      <p:sp>
        <p:nvSpPr>
          <p:cNvPr id="14" name="Shape 10"/>
          <p:cNvSpPr/>
          <p:nvPr/>
        </p:nvSpPr>
        <p:spPr>
          <a:xfrm>
            <a:off x="3429000" y="4160520"/>
            <a:ext cx="4663440" cy="1508760"/>
          </a:xfrm>
          <a:prstGeom prst="roundRect">
            <a:avLst>
              <a:gd name="adj" fmla="val 9091"/>
            </a:avLst>
          </a:prstGeom>
          <a:solidFill>
            <a:srgbClr val="E2F2EA"/>
          </a:solidFill>
          <a:ln/>
        </p:spPr>
      </p:sp>
      <p:sp>
        <p:nvSpPr>
          <p:cNvPr id="15" name="Text 11"/>
          <p:cNvSpPr txBox="1"/>
          <p:nvPr/>
        </p:nvSpPr>
        <p:spPr>
          <a:xfrm>
            <a:off x="3611880" y="4160520"/>
            <a:ext cx="4389120" cy="1508760"/>
          </a:xfrm>
          <a:prstGeom prst="rect">
            <a:avLst/>
          </a:prstGeom>
          <a:noFill/>
          <a:ln/>
        </p:spPr>
        <p:txBody>
          <a:bodyPr wrap="square" lIns="0" tIns="0" rIns="0" bIns="0" rtlCol="0" anchor="ctr"/>
          <a:lstStyle/>
          <a:p>
            <a:pPr indent="0" marL="0">
              <a:buNone/>
            </a:pPr>
            <a:r>
              <a:rPr lang="fr-FR" altLang="en-US" sz="1700" dirty="0">
                <a:solidFill>
                  <a:srgbClr val="1B2233"/>
                </a:solidFill>
                <a:latin typeface="Courier New" pitchFamily="34" charset="0"/>
                <a:ea typeface="Courier New" pitchFamily="34" charset="-122"/>
                <a:cs typeface="Courier New" pitchFamily="34" charset="-120"/>
              </a:rPr>
              <a:t>1. Lister les décisions</a:t>
            </a:r>
            <a:endParaRPr lang="fr-FR" sz="1700" dirty="0"/>
          </a:p>
          <a:p>
            <a:pPr indent="0" marL="0">
              <a:buNone/>
            </a:pPr>
            <a:r>
              <a:rPr lang="fr-FR" altLang="en-US" sz="1700" dirty="0">
                <a:solidFill>
                  <a:srgbClr val="1B2233"/>
                </a:solidFill>
                <a:latin typeface="Courier New" pitchFamily="34" charset="0"/>
                <a:ea typeface="Courier New" pitchFamily="34" charset="-122"/>
                <a:cs typeface="Courier New" pitchFamily="34" charset="-120"/>
              </a:rPr>
              <a:t>2. Tableau qui / quoi / quand</a:t>
            </a:r>
            <a:endParaRPr lang="fr-FR" sz="1700" dirty="0"/>
          </a:p>
          <a:p>
            <a:pPr indent="0" marL="0">
              <a:buNone/>
            </a:pPr>
            <a:r>
              <a:rPr lang="fr-FR" altLang="en-US" sz="1700" dirty="0">
                <a:solidFill>
                  <a:srgbClr val="1B2233"/>
                </a:solidFill>
                <a:latin typeface="Courier New" pitchFamily="34" charset="0"/>
                <a:ea typeface="Courier New" pitchFamily="34" charset="-122"/>
                <a:cs typeface="Courier New" pitchFamily="34" charset="-120"/>
              </a:rPr>
              <a:t>3. Une page maximum</a:t>
            </a:r>
            <a:endParaRPr lang="fr-FR" sz="1700" dirty="0"/>
          </a:p>
        </p:txBody>
      </p:sp>
      <p:sp>
        <p:nvSpPr>
          <p:cNvPr id="16" name="Shape 12"/>
          <p:cNvSpPr/>
          <p:nvPr/>
        </p:nvSpPr>
        <p:spPr>
          <a:xfrm>
            <a:off x="8321040" y="2788920"/>
            <a:ext cx="457200" cy="0"/>
          </a:xfrm>
          <a:prstGeom prst="line">
            <a:avLst/>
          </a:prstGeom>
          <a:noFill/>
          <a:ln w="25400">
            <a:solidFill>
              <a:srgbClr val="2F5FC4"/>
            </a:solidFill>
            <a:prstDash val="solid"/>
          </a:ln>
        </p:spPr>
      </p:sp>
      <p:sp>
        <p:nvSpPr>
          <p:cNvPr id="17" name="Text 13"/>
          <p:cNvSpPr txBox="1"/>
          <p:nvPr/>
        </p:nvSpPr>
        <p:spPr>
          <a:xfrm>
            <a:off x="8915400" y="2560320"/>
            <a:ext cx="2926080" cy="457200"/>
          </a:xfrm>
          <a:prstGeom prst="rect">
            <a:avLst/>
          </a:prstGeom>
          <a:noFill/>
          <a:ln/>
        </p:spPr>
        <p:txBody>
          <a:bodyPr wrap="square" lIns="0" tIns="0" rIns="0" bIns="0" rtlCol="0" anchor="ctr"/>
          <a:lstStyle/>
          <a:p>
            <a:pPr indent="0" marL="0">
              <a:buNone/>
            </a:pPr>
            <a:r>
              <a:rPr lang="fr-FR" altLang="en-US" sz="2200" b="1" dirty="0">
                <a:solidFill>
                  <a:srgbClr val="2F5FC4"/>
                </a:solidFill>
                <a:latin typeface="Calibri" pitchFamily="34" charset="0"/>
                <a:ea typeface="Calibri" pitchFamily="34" charset="-122"/>
                <a:cs typeface="Calibri" pitchFamily="34" charset="-120"/>
              </a:rPr>
              <a:t>Le nom</a:t>
            </a:r>
            <a:endParaRPr lang="fr-FR" sz="2200" dirty="0"/>
          </a:p>
        </p:txBody>
      </p:sp>
      <p:sp>
        <p:nvSpPr>
          <p:cNvPr id="18" name="Shape 14"/>
          <p:cNvSpPr/>
          <p:nvPr/>
        </p:nvSpPr>
        <p:spPr>
          <a:xfrm>
            <a:off x="8321040" y="3566160"/>
            <a:ext cx="457200" cy="0"/>
          </a:xfrm>
          <a:prstGeom prst="line">
            <a:avLst/>
          </a:prstGeom>
          <a:noFill/>
          <a:ln w="25400">
            <a:solidFill>
              <a:srgbClr val="B8235A"/>
            </a:solidFill>
            <a:prstDash val="solid"/>
          </a:ln>
        </p:spPr>
      </p:sp>
      <p:sp>
        <p:nvSpPr>
          <p:cNvPr id="19" name="Text 15"/>
          <p:cNvSpPr txBox="1"/>
          <p:nvPr/>
        </p:nvSpPr>
        <p:spPr>
          <a:xfrm>
            <a:off x="8915400" y="3337560"/>
            <a:ext cx="2926080" cy="457200"/>
          </a:xfrm>
          <a:prstGeom prst="rect">
            <a:avLst/>
          </a:prstGeom>
          <a:noFill/>
          <a:ln/>
        </p:spPr>
        <p:txBody>
          <a:bodyPr wrap="square" lIns="0" tIns="0" rIns="0" bIns="0" rtlCol="0" anchor="ctr"/>
          <a:lstStyle/>
          <a:p>
            <a:pPr indent="0" marL="0">
              <a:buNone/>
            </a:pPr>
            <a:r>
              <a:rPr lang="fr-FR" altLang="en-US" sz="2200" b="1" dirty="0">
                <a:solidFill>
                  <a:srgbClr val="B8235A"/>
                </a:solidFill>
                <a:latin typeface="Calibri" pitchFamily="34" charset="0"/>
                <a:ea typeface="Calibri" pitchFamily="34" charset="-122"/>
                <a:cs typeface="Calibri" pitchFamily="34" charset="-120"/>
              </a:rPr>
              <a:t>QUAND l'utiliser</a:t>
            </a:r>
            <a:endParaRPr lang="fr-FR" sz="2200" dirty="0"/>
          </a:p>
        </p:txBody>
      </p:sp>
      <p:sp>
        <p:nvSpPr>
          <p:cNvPr id="20" name="Shape 16"/>
          <p:cNvSpPr/>
          <p:nvPr/>
        </p:nvSpPr>
        <p:spPr>
          <a:xfrm>
            <a:off x="8321040" y="4892040"/>
            <a:ext cx="457200" cy="0"/>
          </a:xfrm>
          <a:prstGeom prst="line">
            <a:avLst/>
          </a:prstGeom>
          <a:noFill/>
          <a:ln w="25400">
            <a:solidFill>
              <a:srgbClr val="1F7A50"/>
            </a:solidFill>
            <a:prstDash val="solid"/>
          </a:ln>
        </p:spPr>
      </p:sp>
      <p:sp>
        <p:nvSpPr>
          <p:cNvPr id="21" name="Text 17"/>
          <p:cNvSpPr txBox="1"/>
          <p:nvPr/>
        </p:nvSpPr>
        <p:spPr>
          <a:xfrm>
            <a:off x="8915400" y="4663440"/>
            <a:ext cx="2926080" cy="457200"/>
          </a:xfrm>
          <a:prstGeom prst="rect">
            <a:avLst/>
          </a:prstGeom>
          <a:noFill/>
          <a:ln/>
        </p:spPr>
        <p:txBody>
          <a:bodyPr wrap="square" lIns="0" tIns="0" rIns="0" bIns="0" rtlCol="0" anchor="ctr"/>
          <a:lstStyle/>
          <a:p>
            <a:pPr indent="0" marL="0">
              <a:buNone/>
            </a:pPr>
            <a:r>
              <a:rPr lang="fr-FR" altLang="en-US" sz="2200" b="1" dirty="0">
                <a:solidFill>
                  <a:srgbClr val="1F7A50"/>
                </a:solidFill>
                <a:latin typeface="Calibri" pitchFamily="34" charset="0"/>
                <a:ea typeface="Calibri" pitchFamily="34" charset="-122"/>
                <a:cs typeface="Calibri" pitchFamily="34" charset="-120"/>
              </a:rPr>
              <a:t>COMMENT faire</a:t>
            </a:r>
            <a:endParaRPr lang="fr-FR" sz="2200" dirty="0"/>
          </a:p>
        </p:txBody>
      </p:sp>
      <p:pic>
        <p:nvPicPr>
          <p:cNvPr id="2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915400" y="5486400"/>
            <a:ext cx="320040" cy="320040"/>
          </a:xfrm>
          <a:prstGeom prst="rect">
            <a:avLst/>
          </a:prstGeom>
        </p:spPr>
      </p:pic>
      <p:sp>
        <p:nvSpPr>
          <p:cNvPr id="23" name="Text 18"/>
          <p:cNvSpPr txBox="1"/>
          <p:nvPr/>
        </p:nvSpPr>
        <p:spPr>
          <a:xfrm>
            <a:off x="9326880" y="5440680"/>
            <a:ext cx="2743200" cy="411480"/>
          </a:xfrm>
          <a:prstGeom prst="rect">
            <a:avLst/>
          </a:prstGeom>
          <a:noFill/>
          <a:ln/>
        </p:spPr>
        <p:txBody>
          <a:bodyPr wrap="square" lIns="0" tIns="0" rIns="0" bIns="0" rtlCol="0" anchor="ctr"/>
          <a:lstStyle/>
          <a:p>
            <a:pPr indent="0" marL="0">
              <a:buNone/>
            </a:pPr>
            <a:r>
              <a:rPr lang="fr-FR" altLang="en-US" sz="1600" dirty="0">
                <a:solidFill>
                  <a:srgbClr val="566070"/>
                </a:solidFill>
                <a:latin typeface="Calibri" pitchFamily="34" charset="0"/>
                <a:ea typeface="Calibri" pitchFamily="34" charset="-122"/>
                <a:cs typeface="Calibri" pitchFamily="34" charset="-120"/>
              </a:rPr>
              <a:t>+ modèles, exemples (option)</a:t>
            </a:r>
            <a:endParaRPr lang="fr-FR" sz="1600" dirty="0"/>
          </a:p>
        </p:txBody>
      </p:sp>
      <p:sp>
        <p:nvSpPr>
          <p:cNvPr id="24" name="Text 19"/>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1 · Comprendre</a:t>
            </a:r>
            <a:endParaRPr lang="fr-FR" sz="1400" dirty="0"/>
          </a:p>
        </p:txBody>
      </p:sp>
      <p:sp>
        <p:nvSpPr>
          <p:cNvPr id="25" name="Text 20"/>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6</a:t>
            </a:r>
            <a:endParaRPr lang="fr-F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Même demande, autre résultat</a:t>
            </a:r>
            <a:endParaRPr lang="fr-FR" sz="4000" dirty="0"/>
          </a:p>
        </p:txBody>
      </p:sp>
      <p:sp>
        <p:nvSpPr>
          <p:cNvPr id="3" name="Shape 1"/>
          <p:cNvSpPr/>
          <p:nvPr/>
        </p:nvSpPr>
        <p:spPr>
          <a:xfrm>
            <a:off x="457200" y="1783080"/>
            <a:ext cx="11277295" cy="640080"/>
          </a:xfrm>
          <a:prstGeom prst="roundRect">
            <a:avLst>
              <a:gd name="adj" fmla="val 21429"/>
            </a:avLst>
          </a:prstGeom>
          <a:solidFill>
            <a:srgbClr val="F1F3F6"/>
          </a:solidFill>
          <a:ln/>
        </p:spPr>
      </p:sp>
      <p:pic>
        <p:nvPicPr>
          <p:cNvPr id="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31520" y="1920240"/>
            <a:ext cx="365760" cy="365760"/>
          </a:xfrm>
          <a:prstGeom prst="rect">
            <a:avLst/>
          </a:prstGeom>
        </p:spPr>
      </p:pic>
      <p:sp>
        <p:nvSpPr>
          <p:cNvPr id="5" name="Text 2"/>
          <p:cNvSpPr txBox="1"/>
          <p:nvPr/>
        </p:nvSpPr>
        <p:spPr>
          <a:xfrm>
            <a:off x="1280160" y="1783080"/>
            <a:ext cx="9144000" cy="640080"/>
          </a:xfrm>
          <a:prstGeom prst="rect">
            <a:avLst/>
          </a:prstGeom>
          <a:noFill/>
          <a:ln/>
        </p:spPr>
        <p:txBody>
          <a:bodyPr wrap="square" lIns="0" tIns="0" rIns="0" bIns="0" rtlCol="0" anchor="ctr"/>
          <a:lstStyle/>
          <a:p>
            <a:pPr indent="0" marL="0">
              <a:buNone/>
            </a:pPr>
            <a:r>
              <a:rPr lang="fr-FR" altLang="en-US" sz="2200" i="1" dirty="0">
                <a:solidFill>
                  <a:srgbClr val="1B2233"/>
                </a:solidFill>
                <a:latin typeface="Calibri" pitchFamily="34" charset="0"/>
                <a:ea typeface="Calibri" pitchFamily="34" charset="-122"/>
                <a:cs typeface="Calibri" pitchFamily="34" charset="-120"/>
              </a:rPr>
              <a:t>« Fais le compte rendu de la réunion »</a:t>
            </a:r>
            <a:endParaRPr lang="fr-FR" sz="2200" dirty="0"/>
          </a:p>
        </p:txBody>
      </p:sp>
      <p:sp>
        <p:nvSpPr>
          <p:cNvPr id="6" name="Shape 3"/>
          <p:cNvSpPr/>
          <p:nvPr/>
        </p:nvSpPr>
        <p:spPr>
          <a:xfrm>
            <a:off x="1097280" y="2743200"/>
            <a:ext cx="4206240" cy="3291840"/>
          </a:xfrm>
          <a:prstGeom prst="roundRect">
            <a:avLst>
              <a:gd name="adj" fmla="val 2778"/>
            </a:avLst>
          </a:prstGeom>
          <a:solidFill>
            <a:srgbClr val="FFFFFF"/>
          </a:solidFill>
          <a:ln w="15875">
            <a:solidFill>
              <a:srgbClr val="D5D9E0"/>
            </a:solidFill>
            <a:prstDash val="solid"/>
          </a:ln>
        </p:spPr>
      </p:sp>
      <p:sp>
        <p:nvSpPr>
          <p:cNvPr id="7" name="Shape 4"/>
          <p:cNvSpPr/>
          <p:nvPr/>
        </p:nvSpPr>
        <p:spPr>
          <a:xfrm>
            <a:off x="1417320" y="3108960"/>
            <a:ext cx="2103120" cy="237744"/>
          </a:xfrm>
          <a:prstGeom prst="roundRect">
            <a:avLst>
              <a:gd name="adj" fmla="val 30769"/>
            </a:avLst>
          </a:prstGeom>
          <a:solidFill>
            <a:srgbClr val="C3C9D2"/>
          </a:solidFill>
          <a:ln/>
        </p:spPr>
      </p:sp>
      <p:sp>
        <p:nvSpPr>
          <p:cNvPr id="8" name="Shape 5"/>
          <p:cNvSpPr/>
          <p:nvPr/>
        </p:nvSpPr>
        <p:spPr>
          <a:xfrm>
            <a:off x="1417320" y="3611880"/>
            <a:ext cx="3566160" cy="146304"/>
          </a:xfrm>
          <a:prstGeom prst="roundRect">
            <a:avLst>
              <a:gd name="adj" fmla="val 50000"/>
            </a:avLst>
          </a:prstGeom>
          <a:solidFill>
            <a:srgbClr val="E1E5EB"/>
          </a:solidFill>
          <a:ln/>
        </p:spPr>
      </p:sp>
      <p:sp>
        <p:nvSpPr>
          <p:cNvPr id="9" name="Shape 6"/>
          <p:cNvSpPr/>
          <p:nvPr/>
        </p:nvSpPr>
        <p:spPr>
          <a:xfrm>
            <a:off x="1417320" y="3886200"/>
            <a:ext cx="3280867" cy="146304"/>
          </a:xfrm>
          <a:prstGeom prst="roundRect">
            <a:avLst>
              <a:gd name="adj" fmla="val 50000"/>
            </a:avLst>
          </a:prstGeom>
          <a:solidFill>
            <a:srgbClr val="E1E5EB"/>
          </a:solidFill>
          <a:ln/>
        </p:spPr>
      </p:sp>
      <p:sp>
        <p:nvSpPr>
          <p:cNvPr id="10" name="Shape 7"/>
          <p:cNvSpPr/>
          <p:nvPr/>
        </p:nvSpPr>
        <p:spPr>
          <a:xfrm>
            <a:off x="1417320" y="4160520"/>
            <a:ext cx="3459175" cy="146304"/>
          </a:xfrm>
          <a:prstGeom prst="roundRect">
            <a:avLst>
              <a:gd name="adj" fmla="val 50000"/>
            </a:avLst>
          </a:prstGeom>
          <a:solidFill>
            <a:srgbClr val="E1E5EB"/>
          </a:solidFill>
          <a:ln/>
        </p:spPr>
      </p:sp>
      <p:sp>
        <p:nvSpPr>
          <p:cNvPr id="11" name="Shape 8"/>
          <p:cNvSpPr/>
          <p:nvPr/>
        </p:nvSpPr>
        <p:spPr>
          <a:xfrm>
            <a:off x="1417320" y="4434840"/>
            <a:ext cx="2852928" cy="146304"/>
          </a:xfrm>
          <a:prstGeom prst="roundRect">
            <a:avLst>
              <a:gd name="adj" fmla="val 50000"/>
            </a:avLst>
          </a:prstGeom>
          <a:solidFill>
            <a:srgbClr val="E1E5EB"/>
          </a:solidFill>
          <a:ln/>
        </p:spPr>
      </p:sp>
      <p:sp>
        <p:nvSpPr>
          <p:cNvPr id="12" name="Shape 9"/>
          <p:cNvSpPr/>
          <p:nvPr/>
        </p:nvSpPr>
        <p:spPr>
          <a:xfrm>
            <a:off x="1417320" y="4709160"/>
            <a:ext cx="3566160" cy="146304"/>
          </a:xfrm>
          <a:prstGeom prst="roundRect">
            <a:avLst>
              <a:gd name="adj" fmla="val 50000"/>
            </a:avLst>
          </a:prstGeom>
          <a:solidFill>
            <a:srgbClr val="E1E5EB"/>
          </a:solidFill>
          <a:ln/>
        </p:spPr>
      </p:sp>
      <p:sp>
        <p:nvSpPr>
          <p:cNvPr id="13" name="Shape 10"/>
          <p:cNvSpPr/>
          <p:nvPr/>
        </p:nvSpPr>
        <p:spPr>
          <a:xfrm>
            <a:off x="1417320" y="4983480"/>
            <a:ext cx="3209544" cy="146304"/>
          </a:xfrm>
          <a:prstGeom prst="roundRect">
            <a:avLst>
              <a:gd name="adj" fmla="val 50000"/>
            </a:avLst>
          </a:prstGeom>
          <a:solidFill>
            <a:srgbClr val="E1E5EB"/>
          </a:solidFill>
          <a:ln/>
        </p:spPr>
      </p:sp>
      <p:sp>
        <p:nvSpPr>
          <p:cNvPr id="14" name="Shape 11"/>
          <p:cNvSpPr/>
          <p:nvPr/>
        </p:nvSpPr>
        <p:spPr>
          <a:xfrm>
            <a:off x="1417320" y="5257800"/>
            <a:ext cx="3387852" cy="146304"/>
          </a:xfrm>
          <a:prstGeom prst="roundRect">
            <a:avLst>
              <a:gd name="adj" fmla="val 50000"/>
            </a:avLst>
          </a:prstGeom>
          <a:solidFill>
            <a:srgbClr val="E1E5EB"/>
          </a:solidFill>
          <a:ln/>
        </p:spPr>
      </p:sp>
      <p:sp>
        <p:nvSpPr>
          <p:cNvPr id="15" name="Shape 12"/>
          <p:cNvSpPr/>
          <p:nvPr/>
        </p:nvSpPr>
        <p:spPr>
          <a:xfrm>
            <a:off x="1417320" y="5532120"/>
            <a:ext cx="2496312" cy="146304"/>
          </a:xfrm>
          <a:prstGeom prst="roundRect">
            <a:avLst>
              <a:gd name="adj" fmla="val 50000"/>
            </a:avLst>
          </a:prstGeom>
          <a:solidFill>
            <a:srgbClr val="E1E5EB"/>
          </a:solidFill>
          <a:ln/>
        </p:spPr>
      </p:sp>
      <p:sp>
        <p:nvSpPr>
          <p:cNvPr id="16" name="Shape 13"/>
          <p:cNvSpPr/>
          <p:nvPr/>
        </p:nvSpPr>
        <p:spPr>
          <a:xfrm>
            <a:off x="6858000" y="2743200"/>
            <a:ext cx="4206240" cy="3291840"/>
          </a:xfrm>
          <a:prstGeom prst="roundRect">
            <a:avLst>
              <a:gd name="adj" fmla="val 2778"/>
            </a:avLst>
          </a:prstGeom>
          <a:solidFill>
            <a:srgbClr val="FFFFFF"/>
          </a:solidFill>
          <a:ln w="31750">
            <a:solidFill>
              <a:srgbClr val="1F7A50"/>
            </a:solidFill>
            <a:prstDash val="solid"/>
          </a:ln>
        </p:spPr>
      </p:sp>
      <p:sp>
        <p:nvSpPr>
          <p:cNvPr id="17" name="Shape 14"/>
          <p:cNvSpPr/>
          <p:nvPr/>
        </p:nvSpPr>
        <p:spPr>
          <a:xfrm>
            <a:off x="7178040" y="3035808"/>
            <a:ext cx="384048" cy="384048"/>
          </a:xfrm>
          <a:prstGeom prst="ellipse">
            <a:avLst/>
          </a:prstGeom>
          <a:solidFill>
            <a:srgbClr val="B8235A"/>
          </a:solidFill>
          <a:ln/>
        </p:spPr>
      </p:sp>
      <p:sp>
        <p:nvSpPr>
          <p:cNvPr id="18" name="Shape 15"/>
          <p:cNvSpPr/>
          <p:nvPr/>
        </p:nvSpPr>
        <p:spPr>
          <a:xfrm>
            <a:off x="7726680" y="3108960"/>
            <a:ext cx="1892808" cy="237744"/>
          </a:xfrm>
          <a:prstGeom prst="roundRect">
            <a:avLst>
              <a:gd name="adj" fmla="val 30769"/>
            </a:avLst>
          </a:prstGeom>
          <a:solidFill>
            <a:srgbClr val="1B2233"/>
          </a:solidFill>
          <a:ln/>
        </p:spPr>
      </p:sp>
      <p:sp>
        <p:nvSpPr>
          <p:cNvPr id="19" name="Shape 16"/>
          <p:cNvSpPr/>
          <p:nvPr/>
        </p:nvSpPr>
        <p:spPr>
          <a:xfrm>
            <a:off x="7178040" y="3657600"/>
            <a:ext cx="1472184" cy="182880"/>
          </a:xfrm>
          <a:prstGeom prst="roundRect">
            <a:avLst>
              <a:gd name="adj" fmla="val 40000"/>
            </a:avLst>
          </a:prstGeom>
          <a:solidFill>
            <a:srgbClr val="1F7A50"/>
          </a:solidFill>
          <a:ln/>
        </p:spPr>
      </p:sp>
      <p:sp>
        <p:nvSpPr>
          <p:cNvPr id="20" name="Shape 17"/>
          <p:cNvSpPr/>
          <p:nvPr/>
        </p:nvSpPr>
        <p:spPr>
          <a:xfrm>
            <a:off x="7178040" y="3977640"/>
            <a:ext cx="3387852" cy="146304"/>
          </a:xfrm>
          <a:prstGeom prst="roundRect">
            <a:avLst>
              <a:gd name="adj" fmla="val 50000"/>
            </a:avLst>
          </a:prstGeom>
          <a:solidFill>
            <a:srgbClr val="E1E5EB"/>
          </a:solidFill>
          <a:ln/>
        </p:spPr>
      </p:sp>
      <p:sp>
        <p:nvSpPr>
          <p:cNvPr id="21" name="Shape 18"/>
          <p:cNvSpPr/>
          <p:nvPr/>
        </p:nvSpPr>
        <p:spPr>
          <a:xfrm>
            <a:off x="7178040" y="4251960"/>
            <a:ext cx="2674620" cy="146304"/>
          </a:xfrm>
          <a:prstGeom prst="roundRect">
            <a:avLst>
              <a:gd name="adj" fmla="val 50000"/>
            </a:avLst>
          </a:prstGeom>
          <a:solidFill>
            <a:srgbClr val="E1E5EB"/>
          </a:solidFill>
          <a:ln/>
        </p:spPr>
      </p:sp>
      <p:sp>
        <p:nvSpPr>
          <p:cNvPr id="22" name="Shape 19"/>
          <p:cNvSpPr/>
          <p:nvPr/>
        </p:nvSpPr>
        <p:spPr>
          <a:xfrm>
            <a:off x="7178040" y="4709160"/>
            <a:ext cx="3566160" cy="365760"/>
          </a:xfrm>
          <a:prstGeom prst="rect">
            <a:avLst/>
          </a:prstGeom>
          <a:solidFill>
            <a:srgbClr val="1F7A50"/>
          </a:solidFill>
          <a:ln/>
        </p:spPr>
      </p:sp>
      <p:sp>
        <p:nvSpPr>
          <p:cNvPr id="23" name="Text 20"/>
          <p:cNvSpPr txBox="1"/>
          <p:nvPr/>
        </p:nvSpPr>
        <p:spPr>
          <a:xfrm>
            <a:off x="7269480" y="4709160"/>
            <a:ext cx="3566160" cy="365760"/>
          </a:xfrm>
          <a:prstGeom prst="rect">
            <a:avLst/>
          </a:prstGeom>
          <a:noFill/>
          <a:ln/>
        </p:spPr>
        <p:txBody>
          <a:bodyPr wrap="square" lIns="0" tIns="0" rIns="0" bIns="0" rtlCol="0" anchor="ctr"/>
          <a:lstStyle/>
          <a:p>
            <a:pPr indent="0" marL="0">
              <a:buNone/>
            </a:pPr>
            <a:r>
              <a:rPr lang="fr-FR" altLang="en-US" sz="1600" b="1" dirty="0">
                <a:solidFill>
                  <a:srgbClr val="FFFFFF"/>
                </a:solidFill>
                <a:latin typeface="Calibri" pitchFamily="34" charset="0"/>
                <a:ea typeface="Calibri" pitchFamily="34" charset="-122"/>
                <a:cs typeface="Calibri" pitchFamily="34" charset="-120"/>
              </a:rPr>
              <a:t>Qui · Quoi · Quand</a:t>
            </a:r>
            <a:endParaRPr lang="fr-FR" sz="1600" dirty="0"/>
          </a:p>
        </p:txBody>
      </p:sp>
      <p:sp>
        <p:nvSpPr>
          <p:cNvPr id="24" name="Shape 21"/>
          <p:cNvSpPr/>
          <p:nvPr/>
        </p:nvSpPr>
        <p:spPr>
          <a:xfrm>
            <a:off x="7178040" y="5038344"/>
            <a:ext cx="3566160" cy="310896"/>
          </a:xfrm>
          <a:prstGeom prst="rect">
            <a:avLst/>
          </a:prstGeom>
          <a:solidFill>
            <a:srgbClr val="E2F2EA"/>
          </a:solidFill>
          <a:ln w="6350">
            <a:solidFill>
              <a:srgbClr val="D5D9E0"/>
            </a:solidFill>
            <a:prstDash val="solid"/>
          </a:ln>
        </p:spPr>
      </p:sp>
      <p:sp>
        <p:nvSpPr>
          <p:cNvPr id="25" name="Shape 22"/>
          <p:cNvSpPr/>
          <p:nvPr/>
        </p:nvSpPr>
        <p:spPr>
          <a:xfrm>
            <a:off x="7178040" y="5349240"/>
            <a:ext cx="3566160" cy="310896"/>
          </a:xfrm>
          <a:prstGeom prst="rect">
            <a:avLst/>
          </a:prstGeom>
          <a:solidFill>
            <a:srgbClr val="FFFFFF"/>
          </a:solidFill>
          <a:ln w="6350">
            <a:solidFill>
              <a:srgbClr val="D5D9E0"/>
            </a:solidFill>
            <a:prstDash val="solid"/>
          </a:ln>
        </p:spPr>
      </p:sp>
      <p:sp>
        <p:nvSpPr>
          <p:cNvPr id="26" name="Shape 23"/>
          <p:cNvSpPr/>
          <p:nvPr/>
        </p:nvSpPr>
        <p:spPr>
          <a:xfrm>
            <a:off x="7178040" y="5660136"/>
            <a:ext cx="3566160" cy="310896"/>
          </a:xfrm>
          <a:prstGeom prst="rect">
            <a:avLst/>
          </a:prstGeom>
          <a:solidFill>
            <a:srgbClr val="E2F2EA"/>
          </a:solidFill>
          <a:ln w="6350">
            <a:solidFill>
              <a:srgbClr val="D5D9E0"/>
            </a:solidFill>
            <a:prstDash val="solid"/>
          </a:ln>
        </p:spPr>
      </p:sp>
      <p:sp>
        <p:nvSpPr>
          <p:cNvPr id="27" name="Text 24"/>
          <p:cNvSpPr txBox="1"/>
          <p:nvPr/>
        </p:nvSpPr>
        <p:spPr>
          <a:xfrm>
            <a:off x="1097280" y="6080760"/>
            <a:ext cx="4206240" cy="365760"/>
          </a:xfrm>
          <a:prstGeom prst="rect">
            <a:avLst/>
          </a:prstGeom>
          <a:noFill/>
          <a:ln/>
        </p:spPr>
        <p:txBody>
          <a:bodyPr wrap="square" lIns="0" tIns="0" rIns="0" bIns="0" rtlCol="0" anchor="t"/>
          <a:lstStyle/>
          <a:p>
            <a:pPr algn="ctr" indent="0" marL="0">
              <a:buNone/>
            </a:pPr>
            <a:r>
              <a:rPr lang="fr-FR" altLang="en-US" sz="2000" b="1" dirty="0">
                <a:solidFill>
                  <a:srgbClr val="566070"/>
                </a:solidFill>
                <a:latin typeface="Calibri" pitchFamily="34" charset="0"/>
                <a:ea typeface="Calibri" pitchFamily="34" charset="-122"/>
                <a:cs typeface="Calibri" pitchFamily="34" charset="-120"/>
              </a:rPr>
              <a:t>Sans skill</a:t>
            </a:r>
            <a:endParaRPr lang="fr-FR" sz="2000" dirty="0"/>
          </a:p>
        </p:txBody>
      </p:sp>
      <p:sp>
        <p:nvSpPr>
          <p:cNvPr id="28" name="Text 25"/>
          <p:cNvSpPr txBox="1"/>
          <p:nvPr/>
        </p:nvSpPr>
        <p:spPr>
          <a:xfrm>
            <a:off x="6858000" y="6080760"/>
            <a:ext cx="4206240" cy="365760"/>
          </a:xfrm>
          <a:prstGeom prst="rect">
            <a:avLst/>
          </a:prstGeom>
          <a:noFill/>
          <a:ln/>
        </p:spPr>
        <p:txBody>
          <a:bodyPr wrap="square" lIns="0" tIns="0" rIns="0" bIns="0" rtlCol="0" anchor="t"/>
          <a:lstStyle/>
          <a:p>
            <a:pPr algn="ctr" indent="0" marL="0">
              <a:buNone/>
            </a:pPr>
            <a:r>
              <a:rPr lang="fr-FR" altLang="en-US" sz="2000" b="1" dirty="0">
                <a:solidFill>
                  <a:srgbClr val="1F7A50"/>
                </a:solidFill>
                <a:latin typeface="Calibri" pitchFamily="34" charset="0"/>
                <a:ea typeface="Calibri" pitchFamily="34" charset="-122"/>
                <a:cs typeface="Calibri" pitchFamily="34" charset="-120"/>
              </a:rPr>
              <a:t>Avec la skill</a:t>
            </a:r>
            <a:endParaRPr lang="fr-FR" sz="2000" dirty="0"/>
          </a:p>
        </p:txBody>
      </p:sp>
      <p:pic>
        <p:nvPicPr>
          <p:cNvPr id="2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60720" y="4114800"/>
            <a:ext cx="640080" cy="640080"/>
          </a:xfrm>
          <a:prstGeom prst="rect">
            <a:avLst/>
          </a:prstGeom>
        </p:spPr>
      </p:pic>
      <p:sp>
        <p:nvSpPr>
          <p:cNvPr id="30" name="Text 26"/>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1 · Comprendre</a:t>
            </a:r>
            <a:endParaRPr lang="fr-FR" sz="1400" dirty="0"/>
          </a:p>
        </p:txBody>
      </p:sp>
      <p:sp>
        <p:nvSpPr>
          <p:cNvPr id="31" name="Text 27"/>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7</a:t>
            </a:r>
            <a:endParaRPr lang="fr-F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B8235A"/>
        </a:solidFill>
      </p:bgPr>
    </p:bg>
    <p:spTree>
      <p:nvGrpSpPr>
        <p:cNvPr id="1" name=""/>
        <p:cNvGrpSpPr/>
        <p:nvPr/>
      </p:nvGrpSpPr>
      <p:grpSpPr>
        <a:xfrm>
          <a:off x="0" y="0"/>
          <a:ext cx="0" cy="0"/>
          <a:chOff x="0" y="0"/>
          <a:chExt cx="0" cy="0"/>
        </a:xfrm>
      </p:grpSpPr>
      <p:sp>
        <p:nvSpPr>
          <p:cNvPr id="4" name="Titre"/>
          <p:cNvSpPr>
            <a:spLocks noGrp="1"/>
          </p:cNvSpPr>
          <p:nvPr>
            <p:ph type="title"/>
          </p:nvPr>
        </p:nvSpPr>
        <p:spPr>
          <a:xfrm>
            <a:off x="4846320" y="2880360"/>
            <a:ext cx="6858000" cy="1097280"/>
          </a:xfrm>
          <a:prstGeom prst="rect">
            <a:avLst/>
          </a:prstGeom>
          <a:noFill/>
          <a:ln/>
        </p:spPr>
        <p:txBody>
          <a:bodyPr wrap="square" lIns="0" tIns="0" rIns="0" bIns="0" rtlCol="0" anchor="ctr"/>
          <a:lstStyle/>
          <a:p>
            <a:pPr algn="l" indent="0" marL="0">
              <a:buNone/>
            </a:pPr>
            <a:r>
              <a:rPr lang="fr-FR" altLang="en-US" sz="5400" b="1" dirty="0">
                <a:solidFill>
                  <a:srgbClr val="FFFFFF"/>
                </a:solidFill>
                <a:latin typeface="Calibri" pitchFamily="34" charset="0"/>
                <a:ea typeface="Calibri" pitchFamily="34" charset="-122"/>
                <a:cs typeface="Calibri" pitchFamily="34" charset="-120"/>
              </a:rPr>
              <a:t>Projet ou skill</a:t>
            </a:r>
            <a:endParaRPr lang="fr-FR" sz="5400" dirty="0"/>
          </a:p>
        </p:txBody>
      </p:sp>
      <p:sp>
        <p:nvSpPr>
          <p:cNvPr id="2" name="Text 0"/>
          <p:cNvSpPr txBox="1"/>
          <p:nvPr/>
        </p:nvSpPr>
        <p:spPr>
          <a:xfrm>
            <a:off x="548640" y="822960"/>
            <a:ext cx="3840480" cy="4754880"/>
          </a:xfrm>
          <a:prstGeom prst="rect">
            <a:avLst/>
          </a:prstGeom>
          <a:noFill/>
          <a:ln/>
        </p:spPr>
        <p:txBody>
          <a:bodyPr wrap="square" lIns="0" tIns="0" rIns="0" bIns="0" rtlCol="0" anchor="ctr"/>
          <a:lstStyle/>
          <a:p>
            <a:pPr algn="ctr" indent="0" marL="0">
              <a:buNone/>
            </a:pPr>
            <a:r>
              <a:rPr lang="fr-FR" altLang="en-US" sz="28000" b="1" dirty="0">
                <a:solidFill>
                  <a:srgbClr val="FFFFFF"/>
                </a:solidFill>
                <a:latin typeface="Calibri" pitchFamily="34" charset="0"/>
                <a:ea typeface="Calibri" pitchFamily="34" charset="-122"/>
                <a:cs typeface="Calibri" pitchFamily="34" charset="-120"/>
              </a:rPr>
              <a:t>2</a:t>
            </a:r>
            <a:endParaRPr lang="fr-FR" sz="28000" dirty="0"/>
          </a:p>
        </p:txBody>
      </p:sp>
      <p:pic>
        <p:nvPicPr>
          <p:cNvPr id="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4846320" y="2057400"/>
            <a:ext cx="731520" cy="731520"/>
          </a:xfrm>
          <a:prstGeom prst="rect">
            <a:avLst/>
          </a:prstGeom>
        </p:spPr>
      </p:pic>
      <p:sp>
        <p:nvSpPr>
          <p:cNvPr id="5" name="Text 2"/>
          <p:cNvSpPr txBox="1"/>
          <p:nvPr/>
        </p:nvSpPr>
        <p:spPr>
          <a:xfrm>
            <a:off x="4846320" y="3977640"/>
            <a:ext cx="6858000" cy="731520"/>
          </a:xfrm>
          <a:prstGeom prst="rect">
            <a:avLst/>
          </a:prstGeom>
          <a:noFill/>
          <a:ln/>
        </p:spPr>
        <p:txBody>
          <a:bodyPr wrap="square" lIns="0" tIns="0" rIns="0" bIns="0" rtlCol="0" anchor="t"/>
          <a:lstStyle/>
          <a:p>
            <a:pPr algn="l" indent="0" marL="0">
              <a:buNone/>
            </a:pPr>
            <a:r>
              <a:rPr lang="fr-FR" altLang="en-US" sz="2800" dirty="0">
                <a:solidFill>
                  <a:srgbClr val="FFFFFF"/>
                </a:solidFill>
                <a:latin typeface="Calibri" pitchFamily="34" charset="0"/>
                <a:ea typeface="Calibri" pitchFamily="34" charset="-122"/>
                <a:cs typeface="Calibri" pitchFamily="34" charset="-120"/>
              </a:rPr>
              <a:t>Deux outils, deux usages</a:t>
            </a:r>
            <a:endParaRPr lang="fr-FR"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Projet ou skill ?</a:t>
            </a:r>
            <a:endParaRPr lang="fr-FR" sz="4000" dirty="0"/>
          </a:p>
        </p:txBody>
      </p:sp>
      <p:sp>
        <p:nvSpPr>
          <p:cNvPr id="3" name="Shape 1"/>
          <p:cNvSpPr/>
          <p:nvPr/>
        </p:nvSpPr>
        <p:spPr>
          <a:xfrm>
            <a:off x="822960" y="1828800"/>
            <a:ext cx="5029200" cy="3566160"/>
          </a:xfrm>
          <a:prstGeom prst="roundRect">
            <a:avLst>
              <a:gd name="adj" fmla="val 3846"/>
            </a:avLst>
          </a:prstGeom>
          <a:solidFill>
            <a:srgbClr val="F1F3F6"/>
          </a:solidFill>
          <a:ln/>
        </p:spPr>
      </p:sp>
      <p:sp>
        <p:nvSpPr>
          <p:cNvPr id="4" name="Shape 2"/>
          <p:cNvSpPr/>
          <p:nvPr/>
        </p:nvSpPr>
        <p:spPr>
          <a:xfrm>
            <a:off x="1188720" y="2148840"/>
            <a:ext cx="1188720" cy="1188720"/>
          </a:xfrm>
          <a:prstGeom prst="ellipse">
            <a:avLst/>
          </a:prstGeom>
          <a:solidFill>
            <a:srgbClr val="2F5FC4"/>
          </a:solidFill>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485900" y="2446020"/>
            <a:ext cx="594360" cy="594360"/>
          </a:xfrm>
          <a:prstGeom prst="rect">
            <a:avLst/>
          </a:prstGeom>
        </p:spPr>
      </p:pic>
      <p:sp>
        <p:nvSpPr>
          <p:cNvPr id="6" name="Text 3"/>
          <p:cNvSpPr txBox="1"/>
          <p:nvPr/>
        </p:nvSpPr>
        <p:spPr>
          <a:xfrm>
            <a:off x="2606040" y="2194560"/>
            <a:ext cx="3017520" cy="640080"/>
          </a:xfrm>
          <a:prstGeom prst="rect">
            <a:avLst/>
          </a:prstGeom>
          <a:noFill/>
          <a:ln/>
        </p:spPr>
        <p:txBody>
          <a:bodyPr wrap="square" lIns="0" tIns="0" rIns="0" bIns="0" rtlCol="0" anchor="ctr"/>
          <a:lstStyle/>
          <a:p>
            <a:pPr indent="0" marL="0">
              <a:buNone/>
            </a:pPr>
            <a:r>
              <a:rPr lang="fr-FR" altLang="en-US" sz="3600" b="1" dirty="0">
                <a:solidFill>
                  <a:srgbClr val="2F5FC4"/>
                </a:solidFill>
                <a:latin typeface="Calibri" pitchFamily="34" charset="0"/>
                <a:ea typeface="Calibri" pitchFamily="34" charset="-122"/>
                <a:cs typeface="Calibri" pitchFamily="34" charset="-120"/>
              </a:rPr>
              <a:t>Projet</a:t>
            </a:r>
            <a:endParaRPr lang="fr-FR" sz="3600" dirty="0"/>
          </a:p>
        </p:txBody>
      </p:sp>
      <p:sp>
        <p:nvSpPr>
          <p:cNvPr id="7" name="Text 4"/>
          <p:cNvSpPr txBox="1"/>
          <p:nvPr/>
        </p:nvSpPr>
        <p:spPr>
          <a:xfrm>
            <a:off x="2606040" y="2788920"/>
            <a:ext cx="3108960" cy="457200"/>
          </a:xfrm>
          <a:prstGeom prst="rect">
            <a:avLst/>
          </a:prstGeom>
          <a:noFill/>
          <a:ln/>
        </p:spPr>
        <p:txBody>
          <a:bodyPr wrap="square" lIns="0" tIns="0" rIns="0" bIns="0" rtlCol="0" anchor="t"/>
          <a:lstStyle/>
          <a:p>
            <a:pPr indent="0" marL="0">
              <a:buNone/>
            </a:pPr>
            <a:r>
              <a:rPr lang="fr-FR" altLang="en-US" sz="2000" dirty="0">
                <a:solidFill>
                  <a:srgbClr val="1B2233"/>
                </a:solidFill>
                <a:latin typeface="Calibri" pitchFamily="34" charset="0"/>
                <a:ea typeface="Calibri" pitchFamily="34" charset="-122"/>
                <a:cs typeface="Calibri" pitchFamily="34" charset="-120"/>
              </a:rPr>
              <a:t>Un bureau pour UN sujet</a:t>
            </a:r>
            <a:endParaRPr lang="fr-FR" sz="2000" dirty="0"/>
          </a:p>
        </p:txBody>
      </p:sp>
      <p:sp>
        <p:nvSpPr>
          <p:cNvPr id="8" name="Text 5"/>
          <p:cNvSpPr txBox="1"/>
          <p:nvPr/>
        </p:nvSpPr>
        <p:spPr>
          <a:xfrm>
            <a:off x="1280160" y="3749040"/>
            <a:ext cx="4389120" cy="1280160"/>
          </a:xfrm>
          <a:prstGeom prst="rect">
            <a:avLst/>
          </a:prstGeom>
          <a:noFill/>
          <a:ln/>
        </p:spPr>
        <p:txBody>
          <a:bodyPr wrap="square" lIns="0" tIns="0" rIns="0" bIns="0" rtlCol="0" anchor="t"/>
          <a:lstStyle/>
          <a:p>
            <a:pPr marL="228600" indent="-228600">
              <a:spcAft>
                <a:spcPts val="800"/>
              </a:spcAft>
              <a:buSzPct val="100000"/>
              <a:buChar char="•"/>
            </a:pPr>
            <a:r>
              <a:rPr lang="fr-FR" altLang="en-US" sz="2400" dirty="0">
                <a:solidFill>
                  <a:srgbClr val="1B2233"/>
                </a:solidFill>
                <a:latin typeface="Calibri" pitchFamily="34" charset="0"/>
                <a:ea typeface="Calibri" pitchFamily="34" charset="-122"/>
                <a:cs typeface="Calibri" pitchFamily="34" charset="-120"/>
              </a:rPr>
              <a:t>documents + consignes</a:t>
            </a:r>
            <a:endParaRPr lang="fr-FR" sz="2400" dirty="0"/>
          </a:p>
          <a:p>
            <a:pPr marL="228600" indent="-228600">
              <a:spcAft>
                <a:spcPts val="800"/>
              </a:spcAft>
              <a:buSzPct val="100000"/>
              <a:buChar char="•"/>
            </a:pPr>
            <a:r>
              <a:rPr lang="fr-FR" altLang="en-US" sz="2400" dirty="0">
                <a:solidFill>
                  <a:srgbClr val="1B2233"/>
                </a:solidFill>
                <a:latin typeface="Calibri" pitchFamily="34" charset="0"/>
                <a:ea typeface="Calibri" pitchFamily="34" charset="-122"/>
                <a:cs typeface="Calibri" pitchFamily="34" charset="-120"/>
              </a:rPr>
              <a:t>reste dans son bureau</a:t>
            </a:r>
            <a:endParaRPr lang="fr-FR" sz="2400" dirty="0"/>
          </a:p>
        </p:txBody>
      </p:sp>
      <p:sp>
        <p:nvSpPr>
          <p:cNvPr id="9" name="Shape 6"/>
          <p:cNvSpPr/>
          <p:nvPr/>
        </p:nvSpPr>
        <p:spPr>
          <a:xfrm>
            <a:off x="6400800" y="1828800"/>
            <a:ext cx="5029200" cy="3566160"/>
          </a:xfrm>
          <a:prstGeom prst="roundRect">
            <a:avLst>
              <a:gd name="adj" fmla="val 3846"/>
            </a:avLst>
          </a:prstGeom>
          <a:solidFill>
            <a:srgbClr val="F1F3F6"/>
          </a:solidFill>
          <a:ln/>
        </p:spPr>
      </p:sp>
      <p:sp>
        <p:nvSpPr>
          <p:cNvPr id="10" name="Shape 7"/>
          <p:cNvSpPr/>
          <p:nvPr/>
        </p:nvSpPr>
        <p:spPr>
          <a:xfrm>
            <a:off x="6766560" y="2148840"/>
            <a:ext cx="1188720" cy="1188720"/>
          </a:xfrm>
          <a:prstGeom prst="ellipse">
            <a:avLst/>
          </a:prstGeom>
          <a:solidFill>
            <a:srgbClr val="B8235A"/>
          </a:solidFill>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063740" y="2446020"/>
            <a:ext cx="594360" cy="594360"/>
          </a:xfrm>
          <a:prstGeom prst="rect">
            <a:avLst/>
          </a:prstGeom>
        </p:spPr>
      </p:pic>
      <p:sp>
        <p:nvSpPr>
          <p:cNvPr id="12" name="Text 8"/>
          <p:cNvSpPr txBox="1"/>
          <p:nvPr/>
        </p:nvSpPr>
        <p:spPr>
          <a:xfrm>
            <a:off x="8183880" y="2194560"/>
            <a:ext cx="3017520" cy="640080"/>
          </a:xfrm>
          <a:prstGeom prst="rect">
            <a:avLst/>
          </a:prstGeom>
          <a:noFill/>
          <a:ln/>
        </p:spPr>
        <p:txBody>
          <a:bodyPr wrap="square" lIns="0" tIns="0" rIns="0" bIns="0" rtlCol="0" anchor="ctr"/>
          <a:lstStyle/>
          <a:p>
            <a:pPr indent="0" marL="0">
              <a:buNone/>
            </a:pPr>
            <a:r>
              <a:rPr lang="fr-FR" altLang="en-US" sz="3600" b="1" dirty="0">
                <a:solidFill>
                  <a:srgbClr val="B8235A"/>
                </a:solidFill>
                <a:latin typeface="Calibri" pitchFamily="34" charset="0"/>
                <a:ea typeface="Calibri" pitchFamily="34" charset="-122"/>
                <a:cs typeface="Calibri" pitchFamily="34" charset="-120"/>
              </a:rPr>
              <a:t>Skill</a:t>
            </a:r>
            <a:endParaRPr lang="fr-FR" sz="3600" dirty="0"/>
          </a:p>
        </p:txBody>
      </p:sp>
      <p:sp>
        <p:nvSpPr>
          <p:cNvPr id="13" name="Text 9"/>
          <p:cNvSpPr txBox="1"/>
          <p:nvPr/>
        </p:nvSpPr>
        <p:spPr>
          <a:xfrm>
            <a:off x="8183880" y="2788920"/>
            <a:ext cx="3108960" cy="457200"/>
          </a:xfrm>
          <a:prstGeom prst="rect">
            <a:avLst/>
          </a:prstGeom>
          <a:noFill/>
          <a:ln/>
        </p:spPr>
        <p:txBody>
          <a:bodyPr wrap="square" lIns="0" tIns="0" rIns="0" bIns="0" rtlCol="0" anchor="t"/>
          <a:lstStyle/>
          <a:p>
            <a:pPr indent="0" marL="0">
              <a:buNone/>
            </a:pPr>
            <a:r>
              <a:rPr lang="fr-FR" altLang="en-US" sz="2000" dirty="0">
                <a:solidFill>
                  <a:srgbClr val="1B2233"/>
                </a:solidFill>
                <a:latin typeface="Calibri" pitchFamily="34" charset="0"/>
                <a:ea typeface="Calibri" pitchFamily="34" charset="-122"/>
                <a:cs typeface="Calibri" pitchFamily="34" charset="-120"/>
              </a:rPr>
              <a:t>Un savoir-faire</a:t>
            </a:r>
            <a:endParaRPr lang="fr-FR" sz="2000" dirty="0"/>
          </a:p>
        </p:txBody>
      </p:sp>
      <p:sp>
        <p:nvSpPr>
          <p:cNvPr id="14" name="Text 10"/>
          <p:cNvSpPr txBox="1"/>
          <p:nvPr/>
        </p:nvSpPr>
        <p:spPr>
          <a:xfrm>
            <a:off x="6858000" y="3749040"/>
            <a:ext cx="4389120" cy="1280160"/>
          </a:xfrm>
          <a:prstGeom prst="rect">
            <a:avLst/>
          </a:prstGeom>
          <a:noFill/>
          <a:ln/>
        </p:spPr>
        <p:txBody>
          <a:bodyPr wrap="square" lIns="0" tIns="0" rIns="0" bIns="0" rtlCol="0" anchor="t"/>
          <a:lstStyle/>
          <a:p>
            <a:pPr marL="228600" indent="-228600">
              <a:spcAft>
                <a:spcPts val="800"/>
              </a:spcAft>
              <a:buSzPct val="100000"/>
              <a:buChar char="•"/>
            </a:pPr>
            <a:r>
              <a:rPr lang="fr-FR" altLang="en-US" sz="2400" dirty="0">
                <a:solidFill>
                  <a:srgbClr val="1B2233"/>
                </a:solidFill>
                <a:latin typeface="Calibri" pitchFamily="34" charset="0"/>
                <a:ea typeface="Calibri" pitchFamily="34" charset="-122"/>
                <a:cs typeface="Calibri" pitchFamily="34" charset="-120"/>
              </a:rPr>
              <a:t>méthode + exemples</a:t>
            </a:r>
            <a:endParaRPr lang="fr-FR" sz="2400" dirty="0"/>
          </a:p>
          <a:p>
            <a:pPr marL="228600" indent="-228600">
              <a:spcAft>
                <a:spcPts val="800"/>
              </a:spcAft>
              <a:buSzPct val="100000"/>
              <a:buChar char="•"/>
            </a:pPr>
            <a:r>
              <a:rPr lang="fr-FR" altLang="en-US" sz="2400" dirty="0">
                <a:solidFill>
                  <a:srgbClr val="1B2233"/>
                </a:solidFill>
                <a:latin typeface="Calibri" pitchFamily="34" charset="0"/>
                <a:ea typeface="Calibri" pitchFamily="34" charset="-122"/>
                <a:cs typeface="Calibri" pitchFamily="34" charset="-120"/>
              </a:rPr>
              <a:t>vous suit partout</a:t>
            </a:r>
            <a:endParaRPr lang="fr-FR" sz="2400" dirty="0"/>
          </a:p>
        </p:txBody>
      </p:sp>
      <p:sp>
        <p:nvSpPr>
          <p:cNvPr id="15" name="Text 11"/>
          <p:cNvSpPr txBox="1"/>
          <p:nvPr/>
        </p:nvSpPr>
        <p:spPr>
          <a:xfrm>
            <a:off x="5577840" y="3017520"/>
            <a:ext cx="1005840" cy="914400"/>
          </a:xfrm>
          <a:prstGeom prst="rect">
            <a:avLst/>
          </a:prstGeom>
          <a:noFill/>
          <a:ln/>
        </p:spPr>
        <p:txBody>
          <a:bodyPr wrap="square" lIns="0" tIns="0" rIns="0" bIns="0" rtlCol="0" anchor="ctr"/>
          <a:lstStyle/>
          <a:p>
            <a:pPr algn="ctr" indent="0" marL="0">
              <a:buNone/>
            </a:pPr>
            <a:r>
              <a:rPr lang="fr-FR" altLang="en-US" sz="6000" b="1" dirty="0">
                <a:solidFill>
                  <a:srgbClr val="566070"/>
                </a:solidFill>
                <a:latin typeface="Calibri" pitchFamily="34" charset="0"/>
                <a:ea typeface="Calibri" pitchFamily="34" charset="-122"/>
                <a:cs typeface="Calibri" pitchFamily="34" charset="-120"/>
              </a:rPr>
              <a:t>≠</a:t>
            </a:r>
            <a:endParaRPr lang="fr-FR" sz="6000" dirty="0"/>
          </a:p>
        </p:txBody>
      </p:sp>
      <p:sp>
        <p:nvSpPr>
          <p:cNvPr id="16" name="Text 12"/>
          <p:cNvSpPr txBox="1"/>
          <p:nvPr/>
        </p:nvSpPr>
        <p:spPr>
          <a:xfrm>
            <a:off x="457200" y="5623560"/>
            <a:ext cx="11277295" cy="548640"/>
          </a:xfrm>
          <a:prstGeom prst="rect">
            <a:avLst/>
          </a:prstGeom>
          <a:noFill/>
          <a:ln/>
        </p:spPr>
        <p:txBody>
          <a:bodyPr wrap="square" lIns="0" tIns="0" rIns="0" bIns="0" rtlCol="0" anchor="t"/>
          <a:lstStyle/>
          <a:p>
            <a:pPr algn="ctr" indent="0" marL="0">
              <a:buNone/>
            </a:pPr>
            <a:r>
              <a:rPr lang="fr-FR" altLang="en-US" sz="2800" dirty="0">
                <a:solidFill>
                  <a:srgbClr val="1B2233"/>
                </a:solidFill>
                <a:latin typeface="Calibri" pitchFamily="34" charset="0"/>
                <a:ea typeface="Calibri" pitchFamily="34" charset="-122"/>
                <a:cs typeface="Calibri" pitchFamily="34" charset="-120"/>
              </a:rPr>
              <a:t>Le projet sait </a:t>
            </a:r>
            <a:pPr algn="ctr" indent="0" marL="0">
              <a:buNone/>
            </a:pPr>
            <a:r>
              <a:rPr lang="fr-FR" altLang="en-US" sz="2800" b="1" dirty="0">
                <a:solidFill>
                  <a:srgbClr val="2F5FC4"/>
                </a:solidFill>
                <a:latin typeface="Calibri" pitchFamily="34" charset="0"/>
                <a:ea typeface="Calibri" pitchFamily="34" charset="-122"/>
                <a:cs typeface="Calibri" pitchFamily="34" charset="-120"/>
              </a:rPr>
              <a:t>QUOI</a:t>
            </a:r>
            <a:pPr algn="ctr" indent="0" marL="0">
              <a:buNone/>
            </a:pPr>
            <a:r>
              <a:rPr lang="fr-FR" altLang="en-US" sz="2800" dirty="0">
                <a:solidFill>
                  <a:srgbClr val="1B2233"/>
                </a:solidFill>
                <a:latin typeface="Calibri" pitchFamily="34" charset="0"/>
                <a:ea typeface="Calibri" pitchFamily="34" charset="-122"/>
                <a:cs typeface="Calibri" pitchFamily="34" charset="-120"/>
              </a:rPr>
              <a:t>. La skill sait </a:t>
            </a:r>
            <a:pPr algn="ctr" indent="0" marL="0">
              <a:buNone/>
            </a:pPr>
            <a:r>
              <a:rPr lang="fr-FR" altLang="en-US" sz="2800" b="1" dirty="0">
                <a:solidFill>
                  <a:srgbClr val="B8235A"/>
                </a:solidFill>
                <a:latin typeface="Calibri" pitchFamily="34" charset="0"/>
                <a:ea typeface="Calibri" pitchFamily="34" charset="-122"/>
                <a:cs typeface="Calibri" pitchFamily="34" charset="-120"/>
              </a:rPr>
              <a:t>COMMENT</a:t>
            </a:r>
            <a:pPr algn="ctr" indent="0" marL="0">
              <a:buNone/>
            </a:pPr>
            <a:r>
              <a:rPr lang="fr-FR" altLang="en-US" sz="2800" dirty="0">
                <a:solidFill>
                  <a:srgbClr val="1B2233"/>
                </a:solidFill>
                <a:latin typeface="Calibri" pitchFamily="34" charset="0"/>
                <a:ea typeface="Calibri" pitchFamily="34" charset="-122"/>
                <a:cs typeface="Calibri" pitchFamily="34" charset="-120"/>
              </a:rPr>
              <a:t>.</a:t>
            </a:r>
            <a:endParaRPr lang="fr-FR" sz="2800" dirty="0"/>
          </a:p>
        </p:txBody>
      </p:sp>
      <p:sp>
        <p:nvSpPr>
          <p:cNvPr id="17" name="Text 13"/>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2 · Projet ou skill</a:t>
            </a:r>
            <a:endParaRPr lang="fr-FR" sz="1400" dirty="0"/>
          </a:p>
        </p:txBody>
      </p:sp>
      <p:sp>
        <p:nvSpPr>
          <p:cNvPr id="18" name="Text 14"/>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9</a:t>
            </a:r>
            <a:endParaRPr lang="fr-FR"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Projet ou skill ? À vous !</a:t>
            </a:r>
            <a:endParaRPr lang="fr-FR" sz="4000" dirty="0"/>
          </a:p>
        </p:txBody>
      </p:sp>
      <p:sp>
        <p:nvSpPr>
          <p:cNvPr id="3" name="Shape 1"/>
          <p:cNvSpPr/>
          <p:nvPr/>
        </p:nvSpPr>
        <p:spPr>
          <a:xfrm>
            <a:off x="640080" y="1920240"/>
            <a:ext cx="5303520" cy="1737360"/>
          </a:xfrm>
          <a:prstGeom prst="roundRect">
            <a:avLst>
              <a:gd name="adj" fmla="val 7895"/>
            </a:avLst>
          </a:prstGeom>
          <a:solidFill>
            <a:srgbClr val="F1F3F6"/>
          </a:solidFill>
          <a:ln/>
        </p:spPr>
      </p:sp>
      <p:sp>
        <p:nvSpPr>
          <p:cNvPr id="4" name="Text 2"/>
          <p:cNvSpPr txBox="1"/>
          <p:nvPr/>
        </p:nvSpPr>
        <p:spPr>
          <a:xfrm>
            <a:off x="868680" y="2240280"/>
            <a:ext cx="1097280" cy="1097280"/>
          </a:xfrm>
          <a:prstGeom prst="rect">
            <a:avLst/>
          </a:prstGeom>
          <a:noFill/>
          <a:ln/>
        </p:spPr>
        <p:txBody>
          <a:bodyPr wrap="square" lIns="0" tIns="0" rIns="0" bIns="0" rtlCol="0" anchor="ctr"/>
          <a:lstStyle/>
          <a:p>
            <a:pPr algn="ctr" indent="0" marL="0">
              <a:buNone/>
            </a:pPr>
            <a:r>
              <a:rPr lang="fr-FR" altLang="en-US" sz="6000" b="1" dirty="0">
                <a:solidFill>
                  <a:srgbClr val="B8235A"/>
                </a:solidFill>
                <a:latin typeface="Calibri" pitchFamily="34" charset="0"/>
                <a:ea typeface="Calibri" pitchFamily="34" charset="-122"/>
                <a:cs typeface="Calibri" pitchFamily="34" charset="-120"/>
              </a:rPr>
              <a:t>?</a:t>
            </a:r>
            <a:endParaRPr lang="fr-FR" sz="6000" dirty="0"/>
          </a:p>
        </p:txBody>
      </p:sp>
      <p:sp>
        <p:nvSpPr>
          <p:cNvPr id="5" name="Text 3"/>
          <p:cNvSpPr txBox="1"/>
          <p:nvPr/>
        </p:nvSpPr>
        <p:spPr>
          <a:xfrm>
            <a:off x="2103120" y="1920240"/>
            <a:ext cx="3657600" cy="1737360"/>
          </a:xfrm>
          <a:prstGeom prst="rect">
            <a:avLst/>
          </a:prstGeom>
          <a:noFill/>
          <a:ln/>
        </p:spPr>
        <p:txBody>
          <a:bodyPr wrap="square" lIns="0" tIns="0" rIns="0" bIns="0" rtlCol="0" anchor="ctr"/>
          <a:lstStyle/>
          <a:p>
            <a:pPr indent="0" marL="0">
              <a:buNone/>
            </a:pPr>
            <a:r>
              <a:rPr lang="fr-FR" altLang="en-US" sz="2400" b="1" dirty="0">
                <a:solidFill>
                  <a:srgbClr val="1B2233"/>
                </a:solidFill>
                <a:latin typeface="Calibri" pitchFamily="34" charset="0"/>
                <a:ea typeface="Calibri" pitchFamily="34" charset="-122"/>
                <a:cs typeface="Calibri" pitchFamily="34" charset="-120"/>
              </a:rPr>
              <a:t>Suivre le dossier du client Dupont</a:t>
            </a:r>
            <a:endParaRPr lang="fr-FR" sz="2400" dirty="0"/>
          </a:p>
        </p:txBody>
      </p:sp>
      <p:sp>
        <p:nvSpPr>
          <p:cNvPr id="6" name="Shape 4"/>
          <p:cNvSpPr/>
          <p:nvPr/>
        </p:nvSpPr>
        <p:spPr>
          <a:xfrm>
            <a:off x="6217920" y="1920240"/>
            <a:ext cx="5303520" cy="1737360"/>
          </a:xfrm>
          <a:prstGeom prst="roundRect">
            <a:avLst>
              <a:gd name="adj" fmla="val 7895"/>
            </a:avLst>
          </a:prstGeom>
          <a:solidFill>
            <a:srgbClr val="F1F3F6"/>
          </a:solidFill>
          <a:ln/>
        </p:spPr>
      </p:sp>
      <p:sp>
        <p:nvSpPr>
          <p:cNvPr id="7" name="Text 5"/>
          <p:cNvSpPr txBox="1"/>
          <p:nvPr/>
        </p:nvSpPr>
        <p:spPr>
          <a:xfrm>
            <a:off x="6446520" y="2240280"/>
            <a:ext cx="1097280" cy="1097280"/>
          </a:xfrm>
          <a:prstGeom prst="rect">
            <a:avLst/>
          </a:prstGeom>
          <a:noFill/>
          <a:ln/>
        </p:spPr>
        <p:txBody>
          <a:bodyPr wrap="square" lIns="0" tIns="0" rIns="0" bIns="0" rtlCol="0" anchor="ctr"/>
          <a:lstStyle/>
          <a:p>
            <a:pPr algn="ctr" indent="0" marL="0">
              <a:buNone/>
            </a:pPr>
            <a:r>
              <a:rPr lang="fr-FR" altLang="en-US" sz="6000" b="1" dirty="0">
                <a:solidFill>
                  <a:srgbClr val="B8235A"/>
                </a:solidFill>
                <a:latin typeface="Calibri" pitchFamily="34" charset="0"/>
                <a:ea typeface="Calibri" pitchFamily="34" charset="-122"/>
                <a:cs typeface="Calibri" pitchFamily="34" charset="-120"/>
              </a:rPr>
              <a:t>?</a:t>
            </a:r>
            <a:endParaRPr lang="fr-FR" sz="6000" dirty="0"/>
          </a:p>
        </p:txBody>
      </p:sp>
      <p:sp>
        <p:nvSpPr>
          <p:cNvPr id="8" name="Text 6"/>
          <p:cNvSpPr txBox="1"/>
          <p:nvPr/>
        </p:nvSpPr>
        <p:spPr>
          <a:xfrm>
            <a:off x="7680960" y="1920240"/>
            <a:ext cx="3657600" cy="1737360"/>
          </a:xfrm>
          <a:prstGeom prst="rect">
            <a:avLst/>
          </a:prstGeom>
          <a:noFill/>
          <a:ln/>
        </p:spPr>
        <p:txBody>
          <a:bodyPr wrap="square" lIns="0" tIns="0" rIns="0" bIns="0" rtlCol="0" anchor="ctr"/>
          <a:lstStyle/>
          <a:p>
            <a:pPr indent="0" marL="0">
              <a:buNone/>
            </a:pPr>
            <a:r>
              <a:rPr lang="fr-FR" altLang="en-US" sz="2400" b="1" dirty="0">
                <a:solidFill>
                  <a:srgbClr val="1B2233"/>
                </a:solidFill>
                <a:latin typeface="Calibri" pitchFamily="34" charset="0"/>
                <a:ea typeface="Calibri" pitchFamily="34" charset="-122"/>
                <a:cs typeface="Calibri" pitchFamily="34" charset="-120"/>
              </a:rPr>
              <a:t>Appliquer notre charte à chaque document</a:t>
            </a:r>
            <a:endParaRPr lang="fr-FR" sz="2400" dirty="0"/>
          </a:p>
        </p:txBody>
      </p:sp>
      <p:sp>
        <p:nvSpPr>
          <p:cNvPr id="9" name="Shape 7"/>
          <p:cNvSpPr/>
          <p:nvPr/>
        </p:nvSpPr>
        <p:spPr>
          <a:xfrm>
            <a:off x="640080" y="3931920"/>
            <a:ext cx="5303520" cy="1737360"/>
          </a:xfrm>
          <a:prstGeom prst="roundRect">
            <a:avLst>
              <a:gd name="adj" fmla="val 7895"/>
            </a:avLst>
          </a:prstGeom>
          <a:solidFill>
            <a:srgbClr val="F1F3F6"/>
          </a:solidFill>
          <a:ln/>
        </p:spPr>
      </p:sp>
      <p:sp>
        <p:nvSpPr>
          <p:cNvPr id="10" name="Text 8"/>
          <p:cNvSpPr txBox="1"/>
          <p:nvPr/>
        </p:nvSpPr>
        <p:spPr>
          <a:xfrm>
            <a:off x="868680" y="4251960"/>
            <a:ext cx="1097280" cy="1097280"/>
          </a:xfrm>
          <a:prstGeom prst="rect">
            <a:avLst/>
          </a:prstGeom>
          <a:noFill/>
          <a:ln/>
        </p:spPr>
        <p:txBody>
          <a:bodyPr wrap="square" lIns="0" tIns="0" rIns="0" bIns="0" rtlCol="0" anchor="ctr"/>
          <a:lstStyle/>
          <a:p>
            <a:pPr algn="ctr" indent="0" marL="0">
              <a:buNone/>
            </a:pPr>
            <a:r>
              <a:rPr lang="fr-FR" altLang="en-US" sz="6000" b="1" dirty="0">
                <a:solidFill>
                  <a:srgbClr val="B8235A"/>
                </a:solidFill>
                <a:latin typeface="Calibri" pitchFamily="34" charset="0"/>
                <a:ea typeface="Calibri" pitchFamily="34" charset="-122"/>
                <a:cs typeface="Calibri" pitchFamily="34" charset="-120"/>
              </a:rPr>
              <a:t>?</a:t>
            </a:r>
            <a:endParaRPr lang="fr-FR" sz="6000" dirty="0"/>
          </a:p>
        </p:txBody>
      </p:sp>
      <p:sp>
        <p:nvSpPr>
          <p:cNvPr id="11" name="Text 9"/>
          <p:cNvSpPr txBox="1"/>
          <p:nvPr/>
        </p:nvSpPr>
        <p:spPr>
          <a:xfrm>
            <a:off x="2103120" y="3931920"/>
            <a:ext cx="3657600" cy="1737360"/>
          </a:xfrm>
          <a:prstGeom prst="rect">
            <a:avLst/>
          </a:prstGeom>
          <a:noFill/>
          <a:ln/>
        </p:spPr>
        <p:txBody>
          <a:bodyPr wrap="square" lIns="0" tIns="0" rIns="0" bIns="0" rtlCol="0" anchor="ctr"/>
          <a:lstStyle/>
          <a:p>
            <a:pPr indent="0" marL="0">
              <a:buNone/>
            </a:pPr>
            <a:r>
              <a:rPr lang="fr-FR" altLang="en-US" sz="2400" b="1" dirty="0">
                <a:solidFill>
                  <a:srgbClr val="1B2233"/>
                </a:solidFill>
                <a:latin typeface="Calibri" pitchFamily="34" charset="0"/>
                <a:ea typeface="Calibri" pitchFamily="34" charset="-122"/>
                <a:cs typeface="Calibri" pitchFamily="34" charset="-120"/>
              </a:rPr>
              <a:t>Préparer le salon de mars</a:t>
            </a:r>
            <a:endParaRPr lang="fr-FR" sz="2400" dirty="0"/>
          </a:p>
        </p:txBody>
      </p:sp>
      <p:sp>
        <p:nvSpPr>
          <p:cNvPr id="12" name="Shape 10"/>
          <p:cNvSpPr/>
          <p:nvPr/>
        </p:nvSpPr>
        <p:spPr>
          <a:xfrm>
            <a:off x="6217920" y="3931920"/>
            <a:ext cx="5303520" cy="1737360"/>
          </a:xfrm>
          <a:prstGeom prst="roundRect">
            <a:avLst>
              <a:gd name="adj" fmla="val 7895"/>
            </a:avLst>
          </a:prstGeom>
          <a:solidFill>
            <a:srgbClr val="F1F3F6"/>
          </a:solidFill>
          <a:ln/>
        </p:spPr>
      </p:sp>
      <p:sp>
        <p:nvSpPr>
          <p:cNvPr id="13" name="Text 11"/>
          <p:cNvSpPr txBox="1"/>
          <p:nvPr/>
        </p:nvSpPr>
        <p:spPr>
          <a:xfrm>
            <a:off x="6446520" y="4251960"/>
            <a:ext cx="1097280" cy="1097280"/>
          </a:xfrm>
          <a:prstGeom prst="rect">
            <a:avLst/>
          </a:prstGeom>
          <a:noFill/>
          <a:ln/>
        </p:spPr>
        <p:txBody>
          <a:bodyPr wrap="square" lIns="0" tIns="0" rIns="0" bIns="0" rtlCol="0" anchor="ctr"/>
          <a:lstStyle/>
          <a:p>
            <a:pPr algn="ctr" indent="0" marL="0">
              <a:buNone/>
            </a:pPr>
            <a:r>
              <a:rPr lang="fr-FR" altLang="en-US" sz="6000" b="1" dirty="0">
                <a:solidFill>
                  <a:srgbClr val="B8235A"/>
                </a:solidFill>
                <a:latin typeface="Calibri" pitchFamily="34" charset="0"/>
                <a:ea typeface="Calibri" pitchFamily="34" charset="-122"/>
                <a:cs typeface="Calibri" pitchFamily="34" charset="-120"/>
              </a:rPr>
              <a:t>?</a:t>
            </a:r>
            <a:endParaRPr lang="fr-FR" sz="6000" dirty="0"/>
          </a:p>
        </p:txBody>
      </p:sp>
      <p:sp>
        <p:nvSpPr>
          <p:cNvPr id="14" name="Text 12"/>
          <p:cNvSpPr txBox="1"/>
          <p:nvPr/>
        </p:nvSpPr>
        <p:spPr>
          <a:xfrm>
            <a:off x="7680960" y="3931920"/>
            <a:ext cx="3657600" cy="1737360"/>
          </a:xfrm>
          <a:prstGeom prst="rect">
            <a:avLst/>
          </a:prstGeom>
          <a:noFill/>
          <a:ln/>
        </p:spPr>
        <p:txBody>
          <a:bodyPr wrap="square" lIns="0" tIns="0" rIns="0" bIns="0" rtlCol="0" anchor="ctr"/>
          <a:lstStyle/>
          <a:p>
            <a:pPr indent="0" marL="0">
              <a:buNone/>
            </a:pPr>
            <a:r>
              <a:rPr lang="fr-FR" altLang="en-US" sz="2400" b="1" dirty="0">
                <a:solidFill>
                  <a:srgbClr val="1B2233"/>
                </a:solidFill>
                <a:latin typeface="Calibri" pitchFamily="34" charset="0"/>
                <a:ea typeface="Calibri" pitchFamily="34" charset="-122"/>
                <a:cs typeface="Calibri" pitchFamily="34" charset="-120"/>
              </a:rPr>
              <a:t>Rédiger nos offres d'emploi au même format</a:t>
            </a:r>
            <a:endParaRPr lang="fr-FR" sz="2400" dirty="0"/>
          </a:p>
        </p:txBody>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291840" y="5989320"/>
            <a:ext cx="365760" cy="365760"/>
          </a:xfrm>
          <a:prstGeom prst="rect">
            <a:avLst/>
          </a:prstGeom>
        </p:spPr>
      </p:pic>
      <p:sp>
        <p:nvSpPr>
          <p:cNvPr id="16" name="Text 13"/>
          <p:cNvSpPr txBox="1"/>
          <p:nvPr/>
        </p:nvSpPr>
        <p:spPr>
          <a:xfrm>
            <a:off x="3749040" y="5943600"/>
            <a:ext cx="2377440" cy="457200"/>
          </a:xfrm>
          <a:prstGeom prst="rect">
            <a:avLst/>
          </a:prstGeom>
          <a:noFill/>
          <a:ln/>
        </p:spPr>
        <p:txBody>
          <a:bodyPr wrap="square" lIns="0" tIns="0" rIns="0" bIns="0" rtlCol="0" anchor="ctr"/>
          <a:lstStyle/>
          <a:p>
            <a:pPr indent="0" marL="0">
              <a:buNone/>
            </a:pPr>
            <a:r>
              <a:rPr lang="fr-FR" altLang="en-US" sz="1800" b="1" dirty="0">
                <a:solidFill>
                  <a:srgbClr val="2F5FC4"/>
                </a:solidFill>
                <a:latin typeface="Calibri" pitchFamily="34" charset="0"/>
                <a:ea typeface="Calibri" pitchFamily="34" charset="-122"/>
                <a:cs typeface="Calibri" pitchFamily="34" charset="-120"/>
              </a:rPr>
              <a:t>gauche = projet</a:t>
            </a:r>
            <a:endParaRPr lang="fr-FR" sz="1800" dirty="0"/>
          </a:p>
        </p:txBody>
      </p:sp>
      <p:pic>
        <p:nvPicPr>
          <p:cNvPr id="17"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309360" y="5989320"/>
            <a:ext cx="365760" cy="365760"/>
          </a:xfrm>
          <a:prstGeom prst="rect">
            <a:avLst/>
          </a:prstGeom>
        </p:spPr>
      </p:pic>
      <p:sp>
        <p:nvSpPr>
          <p:cNvPr id="18" name="Text 14"/>
          <p:cNvSpPr txBox="1"/>
          <p:nvPr/>
        </p:nvSpPr>
        <p:spPr>
          <a:xfrm>
            <a:off x="6766560" y="5943600"/>
            <a:ext cx="2377440" cy="457200"/>
          </a:xfrm>
          <a:prstGeom prst="rect">
            <a:avLst/>
          </a:prstGeom>
          <a:noFill/>
          <a:ln/>
        </p:spPr>
        <p:txBody>
          <a:bodyPr wrap="square" lIns="0" tIns="0" rIns="0" bIns="0" rtlCol="0" anchor="ctr"/>
          <a:lstStyle/>
          <a:p>
            <a:pPr indent="0" marL="0">
              <a:buNone/>
            </a:pPr>
            <a:r>
              <a:rPr lang="fr-FR" altLang="en-US" sz="1800" b="1" dirty="0">
                <a:solidFill>
                  <a:srgbClr val="B8235A"/>
                </a:solidFill>
                <a:latin typeface="Calibri" pitchFamily="34" charset="0"/>
                <a:ea typeface="Calibri" pitchFamily="34" charset="-122"/>
                <a:cs typeface="Calibri" pitchFamily="34" charset="-120"/>
              </a:rPr>
              <a:t>droite = skill</a:t>
            </a:r>
            <a:endParaRPr lang="fr-FR" sz="1800" dirty="0"/>
          </a:p>
        </p:txBody>
      </p:sp>
      <p:sp>
        <p:nvSpPr>
          <p:cNvPr id="19" name="Text 15"/>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2 · Projet ou skill</a:t>
            </a:r>
            <a:endParaRPr lang="fr-FR" sz="1400" dirty="0"/>
          </a:p>
        </p:txBody>
      </p:sp>
      <p:sp>
        <p:nvSpPr>
          <p:cNvPr id="20" name="Text 16"/>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10</a:t>
            </a:r>
            <a:endParaRPr lang="fr-F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8235A"/>
        </a:solidFill>
      </p:bgPr>
    </p:bg>
    <p:spTree>
      <p:nvGrpSpPr>
        <p:cNvPr id="1" name=""/>
        <p:cNvGrpSpPr/>
        <p:nvPr/>
      </p:nvGrpSpPr>
      <p:grpSpPr>
        <a:xfrm>
          <a:off x="0" y="0"/>
          <a:ext cx="0" cy="0"/>
          <a:chOff x="0" y="0"/>
          <a:chExt cx="0" cy="0"/>
        </a:xfrm>
      </p:grpSpPr>
      <p:sp>
        <p:nvSpPr>
          <p:cNvPr id="4" name="Titre"/>
          <p:cNvSpPr>
            <a:spLocks noGrp="1"/>
          </p:cNvSpPr>
          <p:nvPr>
            <p:ph type="title"/>
          </p:nvPr>
        </p:nvSpPr>
        <p:spPr>
          <a:xfrm>
            <a:off x="4846320" y="2880360"/>
            <a:ext cx="6858000" cy="1097280"/>
          </a:xfrm>
          <a:prstGeom prst="rect">
            <a:avLst/>
          </a:prstGeom>
          <a:noFill/>
          <a:ln/>
        </p:spPr>
        <p:txBody>
          <a:bodyPr wrap="square" lIns="0" tIns="0" rIns="0" bIns="0" rtlCol="0" anchor="ctr"/>
          <a:lstStyle/>
          <a:p>
            <a:pPr algn="l" indent="0" marL="0">
              <a:buNone/>
            </a:pPr>
            <a:r>
              <a:rPr lang="fr-FR" altLang="en-US" sz="5400" b="1" dirty="0">
                <a:solidFill>
                  <a:srgbClr val="FFFFFF"/>
                </a:solidFill>
                <a:latin typeface="Calibri" pitchFamily="34" charset="0"/>
                <a:ea typeface="Calibri" pitchFamily="34" charset="-122"/>
                <a:cs typeface="Calibri" pitchFamily="34" charset="-120"/>
              </a:rPr>
              <a:t>Récupérer</a:t>
            </a:r>
            <a:endParaRPr lang="fr-FR" sz="5400" dirty="0"/>
          </a:p>
        </p:txBody>
      </p:sp>
      <p:sp>
        <p:nvSpPr>
          <p:cNvPr id="2" name="Text 0"/>
          <p:cNvSpPr txBox="1"/>
          <p:nvPr/>
        </p:nvSpPr>
        <p:spPr>
          <a:xfrm>
            <a:off x="548640" y="822960"/>
            <a:ext cx="3840480" cy="4754880"/>
          </a:xfrm>
          <a:prstGeom prst="rect">
            <a:avLst/>
          </a:prstGeom>
          <a:noFill/>
          <a:ln/>
        </p:spPr>
        <p:txBody>
          <a:bodyPr wrap="square" lIns="0" tIns="0" rIns="0" bIns="0" rtlCol="0" anchor="ctr"/>
          <a:lstStyle/>
          <a:p>
            <a:pPr algn="ctr" indent="0" marL="0">
              <a:buNone/>
            </a:pPr>
            <a:r>
              <a:rPr lang="fr-FR" altLang="en-US" sz="28000" b="1" dirty="0">
                <a:solidFill>
                  <a:srgbClr val="FFFFFF"/>
                </a:solidFill>
                <a:latin typeface="Calibri" pitchFamily="34" charset="0"/>
                <a:ea typeface="Calibri" pitchFamily="34" charset="-122"/>
                <a:cs typeface="Calibri" pitchFamily="34" charset="-120"/>
              </a:rPr>
              <a:t>3</a:t>
            </a:r>
            <a:endParaRPr lang="fr-FR" sz="28000" dirty="0"/>
          </a:p>
        </p:txBody>
      </p:sp>
      <p:pic>
        <p:nvPicPr>
          <p:cNvPr id="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4846320" y="2057400"/>
            <a:ext cx="731520" cy="731520"/>
          </a:xfrm>
          <a:prstGeom prst="rect">
            <a:avLst/>
          </a:prstGeom>
        </p:spPr>
      </p:pic>
      <p:sp>
        <p:nvSpPr>
          <p:cNvPr id="5" name="Text 2"/>
          <p:cNvSpPr txBox="1"/>
          <p:nvPr/>
        </p:nvSpPr>
        <p:spPr>
          <a:xfrm>
            <a:off x="4846320" y="3977640"/>
            <a:ext cx="6858000" cy="731520"/>
          </a:xfrm>
          <a:prstGeom prst="rect">
            <a:avLst/>
          </a:prstGeom>
          <a:noFill/>
          <a:ln/>
        </p:spPr>
        <p:txBody>
          <a:bodyPr wrap="square" lIns="0" tIns="0" rIns="0" bIns="0" rtlCol="0" anchor="t"/>
          <a:lstStyle/>
          <a:p>
            <a:pPr algn="l" indent="0" marL="0">
              <a:buNone/>
            </a:pPr>
            <a:r>
              <a:rPr lang="fr-FR" altLang="en-US" sz="2800" dirty="0">
                <a:solidFill>
                  <a:srgbClr val="FFFFFF"/>
                </a:solidFill>
                <a:latin typeface="Calibri" pitchFamily="34" charset="0"/>
                <a:ea typeface="Calibri" pitchFamily="34" charset="-122"/>
                <a:cs typeface="Calibri" pitchFamily="34" charset="-120"/>
              </a:rPr>
              <a:t>Catalogue et GitHub</a:t>
            </a:r>
            <a:endParaRPr lang="fr-FR"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Le catalogue : activer en un clic</a:t>
            </a:r>
            <a:endParaRPr lang="fr-FR" sz="4000" dirty="0"/>
          </a:p>
        </p:txBody>
      </p:sp>
      <p:sp>
        <p:nvSpPr>
          <p:cNvPr id="3" name="Shape 1"/>
          <p:cNvSpPr/>
          <p:nvPr/>
        </p:nvSpPr>
        <p:spPr>
          <a:xfrm>
            <a:off x="1097280" y="1828800"/>
            <a:ext cx="9966960" cy="4297680"/>
          </a:xfrm>
          <a:prstGeom prst="roundRect">
            <a:avLst>
              <a:gd name="adj" fmla="val 2553"/>
            </a:avLst>
          </a:prstGeom>
          <a:solidFill>
            <a:srgbClr val="FFFFFF"/>
          </a:solidFill>
          <a:ln w="19050">
            <a:solidFill>
              <a:srgbClr val="D5D9E0"/>
            </a:solidFill>
            <a:prstDash val="solid"/>
          </a:ln>
          <a:effectLst>
            <a:outerShdw sx="100000" sy="100000" kx="0" ky="0" algn="bl" rotWithShape="0" blurRad="127000" dist="38100" dir="5400000">
              <a:srgbClr val="000000">
                <a:alpha val="12000"/>
              </a:srgbClr>
            </a:outerShdw>
          </a:effectLst>
        </p:spPr>
      </p:sp>
      <p:sp>
        <p:nvSpPr>
          <p:cNvPr id="4" name="Shape 2"/>
          <p:cNvSpPr/>
          <p:nvPr/>
        </p:nvSpPr>
        <p:spPr>
          <a:xfrm>
            <a:off x="1097280" y="1938528"/>
            <a:ext cx="2560320" cy="4078224"/>
          </a:xfrm>
          <a:prstGeom prst="rect">
            <a:avLst/>
          </a:prstGeom>
          <a:solidFill>
            <a:srgbClr val="F1F3F6"/>
          </a:solidFill>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417320" y="2249424"/>
            <a:ext cx="292608" cy="292608"/>
          </a:xfrm>
          <a:prstGeom prst="rect">
            <a:avLst/>
          </a:prstGeom>
        </p:spPr>
      </p:pic>
      <p:sp>
        <p:nvSpPr>
          <p:cNvPr id="6" name="Text 3"/>
          <p:cNvSpPr txBox="1"/>
          <p:nvPr/>
        </p:nvSpPr>
        <p:spPr>
          <a:xfrm>
            <a:off x="1828800" y="2121408"/>
            <a:ext cx="1737360" cy="548640"/>
          </a:xfrm>
          <a:prstGeom prst="rect">
            <a:avLst/>
          </a:prstGeom>
          <a:noFill/>
          <a:ln/>
        </p:spPr>
        <p:txBody>
          <a:bodyPr wrap="square" lIns="0" tIns="0" rIns="0" bIns="0" rtlCol="0" anchor="ctr"/>
          <a:lstStyle/>
          <a:p>
            <a:pPr indent="0" marL="0">
              <a:buNone/>
            </a:pPr>
            <a:r>
              <a:rPr lang="fr-FR" altLang="en-US" sz="1800" dirty="0">
                <a:solidFill>
                  <a:srgbClr val="566070"/>
                </a:solidFill>
                <a:latin typeface="Calibri" pitchFamily="34" charset="0"/>
                <a:ea typeface="Calibri" pitchFamily="34" charset="-122"/>
                <a:cs typeface="Calibri" pitchFamily="34" charset="-120"/>
              </a:rPr>
              <a:t>Discussions</a:t>
            </a:r>
            <a:endParaRPr lang="fr-FR" sz="1800" dirty="0"/>
          </a:p>
        </p:txBody>
      </p:sp>
      <p:pic>
        <p:nvPicPr>
          <p:cNvPr id="7"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417320" y="2889504"/>
            <a:ext cx="292608" cy="292608"/>
          </a:xfrm>
          <a:prstGeom prst="rect">
            <a:avLst/>
          </a:prstGeom>
        </p:spPr>
      </p:pic>
      <p:sp>
        <p:nvSpPr>
          <p:cNvPr id="8" name="Text 4"/>
          <p:cNvSpPr txBox="1"/>
          <p:nvPr/>
        </p:nvSpPr>
        <p:spPr>
          <a:xfrm>
            <a:off x="1828800" y="2761488"/>
            <a:ext cx="1737360" cy="548640"/>
          </a:xfrm>
          <a:prstGeom prst="rect">
            <a:avLst/>
          </a:prstGeom>
          <a:noFill/>
          <a:ln/>
        </p:spPr>
        <p:txBody>
          <a:bodyPr wrap="square" lIns="0" tIns="0" rIns="0" bIns="0" rtlCol="0" anchor="ctr"/>
          <a:lstStyle/>
          <a:p>
            <a:pPr indent="0" marL="0">
              <a:buNone/>
            </a:pPr>
            <a:r>
              <a:rPr lang="fr-FR" altLang="en-US" sz="1800" dirty="0">
                <a:solidFill>
                  <a:srgbClr val="566070"/>
                </a:solidFill>
                <a:latin typeface="Calibri" pitchFamily="34" charset="0"/>
                <a:ea typeface="Calibri" pitchFamily="34" charset="-122"/>
                <a:cs typeface="Calibri" pitchFamily="34" charset="-120"/>
              </a:rPr>
              <a:t>Projets</a:t>
            </a:r>
            <a:endParaRPr lang="fr-FR" sz="1800" dirty="0"/>
          </a:p>
        </p:txBody>
      </p:sp>
      <p:sp>
        <p:nvSpPr>
          <p:cNvPr id="9" name="Shape 5"/>
          <p:cNvSpPr/>
          <p:nvPr/>
        </p:nvSpPr>
        <p:spPr>
          <a:xfrm>
            <a:off x="1234440" y="3401568"/>
            <a:ext cx="2286000" cy="548640"/>
          </a:xfrm>
          <a:prstGeom prst="roundRect">
            <a:avLst>
              <a:gd name="adj" fmla="val 25000"/>
            </a:avLst>
          </a:prstGeom>
          <a:solidFill>
            <a:srgbClr val="FBE7EF"/>
          </a:solidFill>
          <a:ln/>
        </p:spPr>
      </p:sp>
      <p:pic>
        <p:nvPicPr>
          <p:cNvPr id="10"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417320" y="3529584"/>
            <a:ext cx="292608" cy="292608"/>
          </a:xfrm>
          <a:prstGeom prst="rect">
            <a:avLst/>
          </a:prstGeom>
        </p:spPr>
      </p:pic>
      <p:sp>
        <p:nvSpPr>
          <p:cNvPr id="11" name="Text 6"/>
          <p:cNvSpPr txBox="1"/>
          <p:nvPr/>
        </p:nvSpPr>
        <p:spPr>
          <a:xfrm>
            <a:off x="1828800" y="3401568"/>
            <a:ext cx="1737360" cy="548640"/>
          </a:xfrm>
          <a:prstGeom prst="rect">
            <a:avLst/>
          </a:prstGeom>
          <a:noFill/>
          <a:ln/>
        </p:spPr>
        <p:txBody>
          <a:bodyPr wrap="square" lIns="0" tIns="0" rIns="0" bIns="0" rtlCol="0" anchor="ctr"/>
          <a:lstStyle/>
          <a:p>
            <a:pPr indent="0" marL="0">
              <a:buNone/>
            </a:pPr>
            <a:r>
              <a:rPr lang="fr-FR" altLang="en-US" sz="1800" b="1" dirty="0">
                <a:solidFill>
                  <a:srgbClr val="B8235A"/>
                </a:solidFill>
                <a:latin typeface="Calibri" pitchFamily="34" charset="0"/>
                <a:ea typeface="Calibri" pitchFamily="34" charset="-122"/>
                <a:cs typeface="Calibri" pitchFamily="34" charset="-120"/>
              </a:rPr>
              <a:t>Personnaliser</a:t>
            </a:r>
            <a:endParaRPr lang="fr-FR" sz="1800" dirty="0"/>
          </a:p>
        </p:txBody>
      </p:sp>
      <p:sp>
        <p:nvSpPr>
          <p:cNvPr id="12" name="Shape 7"/>
          <p:cNvSpPr/>
          <p:nvPr/>
        </p:nvSpPr>
        <p:spPr>
          <a:xfrm>
            <a:off x="3291840" y="3246120"/>
            <a:ext cx="502920" cy="502920"/>
          </a:xfrm>
          <a:prstGeom prst="ellipse">
            <a:avLst/>
          </a:prstGeom>
          <a:solidFill>
            <a:srgbClr val="B8235A"/>
          </a:solidFill>
          <a:ln w="25400">
            <a:solidFill>
              <a:srgbClr val="FFFFFF"/>
            </a:solidFill>
            <a:prstDash val="solid"/>
          </a:ln>
        </p:spPr>
      </p:sp>
      <p:sp>
        <p:nvSpPr>
          <p:cNvPr id="13" name="Text 8"/>
          <p:cNvSpPr txBox="1"/>
          <p:nvPr/>
        </p:nvSpPr>
        <p:spPr>
          <a:xfrm>
            <a:off x="3291840" y="3246120"/>
            <a:ext cx="502920" cy="502920"/>
          </a:xfrm>
          <a:prstGeom prst="rect">
            <a:avLst/>
          </a:prstGeom>
          <a:noFill/>
          <a:ln/>
        </p:spPr>
        <p:txBody>
          <a:bodyPr wrap="square" lIns="0" tIns="0" rIns="0" bIns="0" rtlCol="0" anchor="ctr"/>
          <a:lstStyle/>
          <a:p>
            <a:pPr algn="ctr" indent="0" marL="0">
              <a:buNone/>
            </a:pPr>
            <a:r>
              <a:rPr lang="fr-FR" altLang="en-US" sz="2000" b="1" dirty="0">
                <a:solidFill>
                  <a:srgbClr val="FFFFFF"/>
                </a:solidFill>
                <a:latin typeface="Calibri" pitchFamily="34" charset="0"/>
                <a:ea typeface="Calibri" pitchFamily="34" charset="-122"/>
                <a:cs typeface="Calibri" pitchFamily="34" charset="-120"/>
              </a:rPr>
              <a:t>1</a:t>
            </a:r>
            <a:endParaRPr lang="fr-FR" sz="2000" dirty="0"/>
          </a:p>
        </p:txBody>
      </p:sp>
      <p:sp>
        <p:nvSpPr>
          <p:cNvPr id="14" name="Shape 9"/>
          <p:cNvSpPr/>
          <p:nvPr/>
        </p:nvSpPr>
        <p:spPr>
          <a:xfrm>
            <a:off x="4023360" y="2103120"/>
            <a:ext cx="1554480" cy="457200"/>
          </a:xfrm>
          <a:prstGeom prst="roundRect">
            <a:avLst>
              <a:gd name="adj" fmla="val 50000"/>
            </a:avLst>
          </a:prstGeom>
          <a:solidFill>
            <a:srgbClr val="1B2233"/>
          </a:solidFill>
          <a:ln/>
        </p:spPr>
      </p:sp>
      <p:sp>
        <p:nvSpPr>
          <p:cNvPr id="15" name="Text 10"/>
          <p:cNvSpPr txBox="1"/>
          <p:nvPr/>
        </p:nvSpPr>
        <p:spPr>
          <a:xfrm>
            <a:off x="4023360" y="2103120"/>
            <a:ext cx="1554480" cy="457200"/>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Skills</a:t>
            </a:r>
            <a:endParaRPr lang="fr-FR" sz="1600" dirty="0"/>
          </a:p>
        </p:txBody>
      </p:sp>
      <p:sp>
        <p:nvSpPr>
          <p:cNvPr id="16" name="Shape 11"/>
          <p:cNvSpPr/>
          <p:nvPr/>
        </p:nvSpPr>
        <p:spPr>
          <a:xfrm>
            <a:off x="5760720" y="2103120"/>
            <a:ext cx="1554480" cy="457200"/>
          </a:xfrm>
          <a:prstGeom prst="roundRect">
            <a:avLst>
              <a:gd name="adj" fmla="val 50000"/>
            </a:avLst>
          </a:prstGeom>
          <a:solidFill>
            <a:srgbClr val="F1F3F6"/>
          </a:solidFill>
          <a:ln/>
        </p:spPr>
      </p:sp>
      <p:sp>
        <p:nvSpPr>
          <p:cNvPr id="17" name="Text 12"/>
          <p:cNvSpPr txBox="1"/>
          <p:nvPr/>
        </p:nvSpPr>
        <p:spPr>
          <a:xfrm>
            <a:off x="5760720" y="2103120"/>
            <a:ext cx="1554480" cy="457200"/>
          </a:xfrm>
          <a:prstGeom prst="rect">
            <a:avLst/>
          </a:prstGeom>
          <a:noFill/>
          <a:ln/>
        </p:spPr>
        <p:txBody>
          <a:bodyPr wrap="square" lIns="0" tIns="0" rIns="0" bIns="0" rtlCol="0" anchor="ctr"/>
          <a:lstStyle/>
          <a:p>
            <a:pPr algn="ctr" indent="0" marL="0">
              <a:buNone/>
            </a:pPr>
            <a:r>
              <a:rPr lang="fr-FR" altLang="en-US" sz="1600" b="1" dirty="0">
                <a:solidFill>
                  <a:srgbClr val="566070"/>
                </a:solidFill>
                <a:latin typeface="Calibri" pitchFamily="34" charset="0"/>
                <a:ea typeface="Calibri" pitchFamily="34" charset="-122"/>
                <a:cs typeface="Calibri" pitchFamily="34" charset="-120"/>
              </a:rPr>
              <a:t>Plugins</a:t>
            </a:r>
            <a:endParaRPr lang="fr-FR" sz="1600" dirty="0"/>
          </a:p>
        </p:txBody>
      </p:sp>
      <p:sp>
        <p:nvSpPr>
          <p:cNvPr id="18" name="Shape 13"/>
          <p:cNvSpPr/>
          <p:nvPr/>
        </p:nvSpPr>
        <p:spPr>
          <a:xfrm>
            <a:off x="7498080" y="2103120"/>
            <a:ext cx="1554480" cy="457200"/>
          </a:xfrm>
          <a:prstGeom prst="roundRect">
            <a:avLst>
              <a:gd name="adj" fmla="val 50000"/>
            </a:avLst>
          </a:prstGeom>
          <a:solidFill>
            <a:srgbClr val="F1F3F6"/>
          </a:solidFill>
          <a:ln/>
        </p:spPr>
      </p:sp>
      <p:sp>
        <p:nvSpPr>
          <p:cNvPr id="19" name="Text 14"/>
          <p:cNvSpPr txBox="1"/>
          <p:nvPr/>
        </p:nvSpPr>
        <p:spPr>
          <a:xfrm>
            <a:off x="7498080" y="2103120"/>
            <a:ext cx="1554480" cy="457200"/>
          </a:xfrm>
          <a:prstGeom prst="rect">
            <a:avLst/>
          </a:prstGeom>
          <a:noFill/>
          <a:ln/>
        </p:spPr>
        <p:txBody>
          <a:bodyPr wrap="square" lIns="0" tIns="0" rIns="0" bIns="0" rtlCol="0" anchor="ctr"/>
          <a:lstStyle/>
          <a:p>
            <a:pPr algn="ctr" indent="0" marL="0">
              <a:buNone/>
            </a:pPr>
            <a:r>
              <a:rPr lang="fr-FR" altLang="en-US" sz="1600" b="1" dirty="0">
                <a:solidFill>
                  <a:srgbClr val="566070"/>
                </a:solidFill>
                <a:latin typeface="Calibri" pitchFamily="34" charset="0"/>
                <a:ea typeface="Calibri" pitchFamily="34" charset="-122"/>
                <a:cs typeface="Calibri" pitchFamily="34" charset="-120"/>
              </a:rPr>
              <a:t>Connecteurs</a:t>
            </a:r>
            <a:endParaRPr lang="fr-FR" sz="1600" dirty="0"/>
          </a:p>
        </p:txBody>
      </p:sp>
      <p:sp>
        <p:nvSpPr>
          <p:cNvPr id="20" name="Shape 15"/>
          <p:cNvSpPr/>
          <p:nvPr/>
        </p:nvSpPr>
        <p:spPr>
          <a:xfrm>
            <a:off x="9235440" y="2084832"/>
            <a:ext cx="502920" cy="502920"/>
          </a:xfrm>
          <a:prstGeom prst="ellipse">
            <a:avLst/>
          </a:prstGeom>
          <a:solidFill>
            <a:srgbClr val="B8235A"/>
          </a:solidFill>
          <a:ln w="25400">
            <a:solidFill>
              <a:srgbClr val="FFFFFF"/>
            </a:solidFill>
            <a:prstDash val="solid"/>
          </a:ln>
        </p:spPr>
      </p:sp>
      <p:sp>
        <p:nvSpPr>
          <p:cNvPr id="21" name="Text 16"/>
          <p:cNvSpPr txBox="1"/>
          <p:nvPr/>
        </p:nvSpPr>
        <p:spPr>
          <a:xfrm>
            <a:off x="9235440" y="2084832"/>
            <a:ext cx="502920" cy="502920"/>
          </a:xfrm>
          <a:prstGeom prst="rect">
            <a:avLst/>
          </a:prstGeom>
          <a:noFill/>
          <a:ln/>
        </p:spPr>
        <p:txBody>
          <a:bodyPr wrap="square" lIns="0" tIns="0" rIns="0" bIns="0" rtlCol="0" anchor="ctr"/>
          <a:lstStyle/>
          <a:p>
            <a:pPr algn="ctr" indent="0" marL="0">
              <a:buNone/>
            </a:pPr>
            <a:r>
              <a:rPr lang="fr-FR" altLang="en-US" sz="2000" b="1" dirty="0">
                <a:solidFill>
                  <a:srgbClr val="FFFFFF"/>
                </a:solidFill>
                <a:latin typeface="Calibri" pitchFamily="34" charset="0"/>
                <a:ea typeface="Calibri" pitchFamily="34" charset="-122"/>
                <a:cs typeface="Calibri" pitchFamily="34" charset="-120"/>
              </a:rPr>
              <a:t>2</a:t>
            </a:r>
            <a:endParaRPr lang="fr-FR" sz="2000" dirty="0"/>
          </a:p>
        </p:txBody>
      </p:sp>
      <p:sp>
        <p:nvSpPr>
          <p:cNvPr id="22" name="Shape 17"/>
          <p:cNvSpPr/>
          <p:nvPr/>
        </p:nvSpPr>
        <p:spPr>
          <a:xfrm>
            <a:off x="4023360" y="2834640"/>
            <a:ext cx="6675120" cy="603504"/>
          </a:xfrm>
          <a:prstGeom prst="roundRect">
            <a:avLst>
              <a:gd name="adj" fmla="val 22727"/>
            </a:avLst>
          </a:prstGeom>
          <a:solidFill>
            <a:srgbClr val="F1F3F6"/>
          </a:solidFill>
          <a:ln/>
        </p:spPr>
      </p:sp>
      <p:pic>
        <p:nvPicPr>
          <p:cNvPr id="23"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206240" y="2971800"/>
            <a:ext cx="329184" cy="329184"/>
          </a:xfrm>
          <a:prstGeom prst="rect">
            <a:avLst/>
          </a:prstGeom>
        </p:spPr>
      </p:pic>
      <p:sp>
        <p:nvSpPr>
          <p:cNvPr id="24" name="Text 18"/>
          <p:cNvSpPr txBox="1"/>
          <p:nvPr/>
        </p:nvSpPr>
        <p:spPr>
          <a:xfrm>
            <a:off x="4754880" y="2834640"/>
            <a:ext cx="4114800" cy="603504"/>
          </a:xfrm>
          <a:prstGeom prst="rect">
            <a:avLst/>
          </a:prstGeom>
          <a:noFill/>
          <a:ln/>
        </p:spPr>
        <p:txBody>
          <a:bodyPr wrap="square" lIns="0" tIns="0" rIns="0" bIns="0" rtlCol="0" anchor="ctr"/>
          <a:lstStyle/>
          <a:p>
            <a:pPr indent="0" marL="0">
              <a:buNone/>
            </a:pPr>
            <a:r>
              <a:rPr lang="fr-FR" altLang="en-US" sz="2000" dirty="0">
                <a:solidFill>
                  <a:srgbClr val="1B2233"/>
                </a:solidFill>
                <a:latin typeface="Calibri" pitchFamily="34" charset="0"/>
                <a:ea typeface="Calibri" pitchFamily="34" charset="-122"/>
                <a:cs typeface="Calibri" pitchFamily="34" charset="-120"/>
              </a:rPr>
              <a:t>Documents Word</a:t>
            </a:r>
            <a:endParaRPr lang="fr-FR" sz="2000" dirty="0"/>
          </a:p>
        </p:txBody>
      </p:sp>
      <p:sp>
        <p:nvSpPr>
          <p:cNvPr id="25" name="Shape 19"/>
          <p:cNvSpPr/>
          <p:nvPr/>
        </p:nvSpPr>
        <p:spPr>
          <a:xfrm>
            <a:off x="9692640" y="2980944"/>
            <a:ext cx="731520" cy="329184"/>
          </a:xfrm>
          <a:prstGeom prst="roundRect">
            <a:avLst>
              <a:gd name="adj" fmla="val 50000"/>
            </a:avLst>
          </a:prstGeom>
          <a:solidFill>
            <a:srgbClr val="1F7A50"/>
          </a:solidFill>
          <a:ln/>
        </p:spPr>
      </p:sp>
      <p:sp>
        <p:nvSpPr>
          <p:cNvPr id="26" name="Shape 20"/>
          <p:cNvSpPr/>
          <p:nvPr/>
        </p:nvSpPr>
        <p:spPr>
          <a:xfrm>
            <a:off x="10113264" y="3008376"/>
            <a:ext cx="274320" cy="274320"/>
          </a:xfrm>
          <a:prstGeom prst="ellipse">
            <a:avLst/>
          </a:prstGeom>
          <a:solidFill>
            <a:srgbClr val="FFFFFF"/>
          </a:solidFill>
          <a:ln/>
        </p:spPr>
      </p:sp>
      <p:sp>
        <p:nvSpPr>
          <p:cNvPr id="27" name="Shape 21"/>
          <p:cNvSpPr/>
          <p:nvPr/>
        </p:nvSpPr>
        <p:spPr>
          <a:xfrm>
            <a:off x="4023360" y="3584448"/>
            <a:ext cx="6675120" cy="603504"/>
          </a:xfrm>
          <a:prstGeom prst="roundRect">
            <a:avLst>
              <a:gd name="adj" fmla="val 22727"/>
            </a:avLst>
          </a:prstGeom>
          <a:solidFill>
            <a:srgbClr val="F1F3F6"/>
          </a:solidFill>
          <a:ln/>
        </p:spPr>
      </p:sp>
      <p:pic>
        <p:nvPicPr>
          <p:cNvPr id="28"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206240" y="3721608"/>
            <a:ext cx="329184" cy="329184"/>
          </a:xfrm>
          <a:prstGeom prst="rect">
            <a:avLst/>
          </a:prstGeom>
        </p:spPr>
      </p:pic>
      <p:sp>
        <p:nvSpPr>
          <p:cNvPr id="29" name="Text 22"/>
          <p:cNvSpPr txBox="1"/>
          <p:nvPr/>
        </p:nvSpPr>
        <p:spPr>
          <a:xfrm>
            <a:off x="4754880" y="3584448"/>
            <a:ext cx="4114800" cy="603504"/>
          </a:xfrm>
          <a:prstGeom prst="rect">
            <a:avLst/>
          </a:prstGeom>
          <a:noFill/>
          <a:ln/>
        </p:spPr>
        <p:txBody>
          <a:bodyPr wrap="square" lIns="0" tIns="0" rIns="0" bIns="0" rtlCol="0" anchor="ctr"/>
          <a:lstStyle/>
          <a:p>
            <a:pPr indent="0" marL="0">
              <a:buNone/>
            </a:pPr>
            <a:r>
              <a:rPr lang="fr-FR" altLang="en-US" sz="2000" dirty="0">
                <a:solidFill>
                  <a:srgbClr val="1B2233"/>
                </a:solidFill>
                <a:latin typeface="Calibri" pitchFamily="34" charset="0"/>
                <a:ea typeface="Calibri" pitchFamily="34" charset="-122"/>
                <a:cs typeface="Calibri" pitchFamily="34" charset="-120"/>
              </a:rPr>
              <a:t>Présentations</a:t>
            </a:r>
            <a:endParaRPr lang="fr-FR" sz="2000" dirty="0"/>
          </a:p>
        </p:txBody>
      </p:sp>
      <p:sp>
        <p:nvSpPr>
          <p:cNvPr id="30" name="Shape 23"/>
          <p:cNvSpPr/>
          <p:nvPr/>
        </p:nvSpPr>
        <p:spPr>
          <a:xfrm>
            <a:off x="9692640" y="3730752"/>
            <a:ext cx="731520" cy="329184"/>
          </a:xfrm>
          <a:prstGeom prst="roundRect">
            <a:avLst>
              <a:gd name="adj" fmla="val 50000"/>
            </a:avLst>
          </a:prstGeom>
          <a:solidFill>
            <a:srgbClr val="1F7A50"/>
          </a:solidFill>
          <a:ln/>
        </p:spPr>
      </p:sp>
      <p:sp>
        <p:nvSpPr>
          <p:cNvPr id="31" name="Shape 24"/>
          <p:cNvSpPr/>
          <p:nvPr/>
        </p:nvSpPr>
        <p:spPr>
          <a:xfrm>
            <a:off x="10113264" y="3758184"/>
            <a:ext cx="274320" cy="274320"/>
          </a:xfrm>
          <a:prstGeom prst="ellipse">
            <a:avLst/>
          </a:prstGeom>
          <a:solidFill>
            <a:srgbClr val="FFFFFF"/>
          </a:solidFill>
          <a:ln/>
        </p:spPr>
      </p:sp>
      <p:sp>
        <p:nvSpPr>
          <p:cNvPr id="32" name="Shape 25"/>
          <p:cNvSpPr/>
          <p:nvPr/>
        </p:nvSpPr>
        <p:spPr>
          <a:xfrm>
            <a:off x="4023360" y="4334256"/>
            <a:ext cx="6675120" cy="603504"/>
          </a:xfrm>
          <a:prstGeom prst="roundRect">
            <a:avLst>
              <a:gd name="adj" fmla="val 22727"/>
            </a:avLst>
          </a:prstGeom>
          <a:solidFill>
            <a:srgbClr val="F1F3F6"/>
          </a:solidFill>
          <a:ln/>
        </p:spPr>
      </p:sp>
      <p:pic>
        <p:nvPicPr>
          <p:cNvPr id="33"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206240" y="4471416"/>
            <a:ext cx="329184" cy="329184"/>
          </a:xfrm>
          <a:prstGeom prst="rect">
            <a:avLst/>
          </a:prstGeom>
        </p:spPr>
      </p:pic>
      <p:sp>
        <p:nvSpPr>
          <p:cNvPr id="34" name="Text 26"/>
          <p:cNvSpPr txBox="1"/>
          <p:nvPr/>
        </p:nvSpPr>
        <p:spPr>
          <a:xfrm>
            <a:off x="4754880" y="4334256"/>
            <a:ext cx="4114800" cy="603504"/>
          </a:xfrm>
          <a:prstGeom prst="rect">
            <a:avLst/>
          </a:prstGeom>
          <a:noFill/>
          <a:ln/>
        </p:spPr>
        <p:txBody>
          <a:bodyPr wrap="square" lIns="0" tIns="0" rIns="0" bIns="0" rtlCol="0" anchor="ctr"/>
          <a:lstStyle/>
          <a:p>
            <a:pPr indent="0" marL="0">
              <a:buNone/>
            </a:pPr>
            <a:r>
              <a:rPr lang="fr-FR" altLang="en-US" sz="2000" dirty="0">
                <a:solidFill>
                  <a:srgbClr val="1B2233"/>
                </a:solidFill>
                <a:latin typeface="Calibri" pitchFamily="34" charset="0"/>
                <a:ea typeface="Calibri" pitchFamily="34" charset="-122"/>
                <a:cs typeface="Calibri" pitchFamily="34" charset="-120"/>
              </a:rPr>
              <a:t>Tableurs</a:t>
            </a:r>
            <a:endParaRPr lang="fr-FR" sz="2000" dirty="0"/>
          </a:p>
        </p:txBody>
      </p:sp>
      <p:sp>
        <p:nvSpPr>
          <p:cNvPr id="35" name="Shape 27"/>
          <p:cNvSpPr/>
          <p:nvPr/>
        </p:nvSpPr>
        <p:spPr>
          <a:xfrm>
            <a:off x="9692640" y="4480560"/>
            <a:ext cx="731520" cy="329184"/>
          </a:xfrm>
          <a:prstGeom prst="roundRect">
            <a:avLst>
              <a:gd name="adj" fmla="val 50000"/>
            </a:avLst>
          </a:prstGeom>
          <a:solidFill>
            <a:srgbClr val="C3C9D2"/>
          </a:solidFill>
          <a:ln/>
        </p:spPr>
      </p:sp>
      <p:sp>
        <p:nvSpPr>
          <p:cNvPr id="36" name="Shape 28"/>
          <p:cNvSpPr/>
          <p:nvPr/>
        </p:nvSpPr>
        <p:spPr>
          <a:xfrm>
            <a:off x="9729216" y="4507992"/>
            <a:ext cx="274320" cy="274320"/>
          </a:xfrm>
          <a:prstGeom prst="ellipse">
            <a:avLst/>
          </a:prstGeom>
          <a:solidFill>
            <a:srgbClr val="FFFFFF"/>
          </a:solidFill>
          <a:ln/>
        </p:spPr>
      </p:sp>
      <p:sp>
        <p:nvSpPr>
          <p:cNvPr id="37" name="Shape 29"/>
          <p:cNvSpPr/>
          <p:nvPr/>
        </p:nvSpPr>
        <p:spPr>
          <a:xfrm>
            <a:off x="4023360" y="5084064"/>
            <a:ext cx="6675120" cy="603504"/>
          </a:xfrm>
          <a:prstGeom prst="roundRect">
            <a:avLst>
              <a:gd name="adj" fmla="val 22727"/>
            </a:avLst>
          </a:prstGeom>
          <a:solidFill>
            <a:srgbClr val="F1F3F6"/>
          </a:solidFill>
          <a:ln/>
        </p:spPr>
      </p:sp>
      <p:pic>
        <p:nvPicPr>
          <p:cNvPr id="38"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206240" y="5221224"/>
            <a:ext cx="329184" cy="329184"/>
          </a:xfrm>
          <a:prstGeom prst="rect">
            <a:avLst/>
          </a:prstGeom>
        </p:spPr>
      </p:pic>
      <p:sp>
        <p:nvSpPr>
          <p:cNvPr id="39" name="Text 30"/>
          <p:cNvSpPr txBox="1"/>
          <p:nvPr/>
        </p:nvSpPr>
        <p:spPr>
          <a:xfrm>
            <a:off x="4754880" y="5084064"/>
            <a:ext cx="4114800" cy="603504"/>
          </a:xfrm>
          <a:prstGeom prst="rect">
            <a:avLst/>
          </a:prstGeom>
          <a:noFill/>
          <a:ln/>
        </p:spPr>
        <p:txBody>
          <a:bodyPr wrap="square" lIns="0" tIns="0" rIns="0" bIns="0" rtlCol="0" anchor="ctr"/>
          <a:lstStyle/>
          <a:p>
            <a:pPr indent="0" marL="0">
              <a:buNone/>
            </a:pPr>
            <a:r>
              <a:rPr lang="fr-FR" altLang="en-US" sz="2000" dirty="0">
                <a:solidFill>
                  <a:srgbClr val="1B2233"/>
                </a:solidFill>
                <a:latin typeface="Calibri" pitchFamily="34" charset="0"/>
                <a:ea typeface="Calibri" pitchFamily="34" charset="-122"/>
                <a:cs typeface="Calibri" pitchFamily="34" charset="-120"/>
              </a:rPr>
              <a:t>skill-creator</a:t>
            </a:r>
            <a:endParaRPr lang="fr-FR" sz="2000" dirty="0"/>
          </a:p>
        </p:txBody>
      </p:sp>
      <p:sp>
        <p:nvSpPr>
          <p:cNvPr id="40" name="Shape 31"/>
          <p:cNvSpPr/>
          <p:nvPr/>
        </p:nvSpPr>
        <p:spPr>
          <a:xfrm>
            <a:off x="9692640" y="5230368"/>
            <a:ext cx="731520" cy="329184"/>
          </a:xfrm>
          <a:prstGeom prst="roundRect">
            <a:avLst>
              <a:gd name="adj" fmla="val 50000"/>
            </a:avLst>
          </a:prstGeom>
          <a:solidFill>
            <a:srgbClr val="1F7A50"/>
          </a:solidFill>
          <a:ln/>
        </p:spPr>
      </p:sp>
      <p:sp>
        <p:nvSpPr>
          <p:cNvPr id="41" name="Shape 32"/>
          <p:cNvSpPr/>
          <p:nvPr/>
        </p:nvSpPr>
        <p:spPr>
          <a:xfrm>
            <a:off x="10113264" y="5257800"/>
            <a:ext cx="274320" cy="274320"/>
          </a:xfrm>
          <a:prstGeom prst="ellipse">
            <a:avLst/>
          </a:prstGeom>
          <a:solidFill>
            <a:srgbClr val="FFFFFF"/>
          </a:solidFill>
          <a:ln/>
        </p:spPr>
      </p:sp>
      <p:sp>
        <p:nvSpPr>
          <p:cNvPr id="42" name="Shape 33"/>
          <p:cNvSpPr/>
          <p:nvPr/>
        </p:nvSpPr>
        <p:spPr>
          <a:xfrm>
            <a:off x="10515600" y="2852928"/>
            <a:ext cx="502920" cy="502920"/>
          </a:xfrm>
          <a:prstGeom prst="ellipse">
            <a:avLst/>
          </a:prstGeom>
          <a:solidFill>
            <a:srgbClr val="B8235A"/>
          </a:solidFill>
          <a:ln w="25400">
            <a:solidFill>
              <a:srgbClr val="FFFFFF"/>
            </a:solidFill>
            <a:prstDash val="solid"/>
          </a:ln>
        </p:spPr>
      </p:sp>
      <p:sp>
        <p:nvSpPr>
          <p:cNvPr id="43" name="Text 34"/>
          <p:cNvSpPr txBox="1"/>
          <p:nvPr/>
        </p:nvSpPr>
        <p:spPr>
          <a:xfrm>
            <a:off x="10515600" y="2852928"/>
            <a:ext cx="502920" cy="502920"/>
          </a:xfrm>
          <a:prstGeom prst="rect">
            <a:avLst/>
          </a:prstGeom>
          <a:noFill/>
          <a:ln/>
        </p:spPr>
        <p:txBody>
          <a:bodyPr wrap="square" lIns="0" tIns="0" rIns="0" bIns="0" rtlCol="0" anchor="ctr"/>
          <a:lstStyle/>
          <a:p>
            <a:pPr algn="ctr" indent="0" marL="0">
              <a:buNone/>
            </a:pPr>
            <a:r>
              <a:rPr lang="fr-FR" altLang="en-US" sz="2000" b="1" dirty="0">
                <a:solidFill>
                  <a:srgbClr val="FFFFFF"/>
                </a:solidFill>
                <a:latin typeface="Calibri" pitchFamily="34" charset="0"/>
                <a:ea typeface="Calibri" pitchFamily="34" charset="-122"/>
                <a:cs typeface="Calibri" pitchFamily="34" charset="-120"/>
              </a:rPr>
              <a:t>3</a:t>
            </a:r>
            <a:endParaRPr lang="fr-FR" sz="2000" dirty="0"/>
          </a:p>
        </p:txBody>
      </p:sp>
      <p:sp>
        <p:nvSpPr>
          <p:cNvPr id="44" name="Text 35"/>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3 · Récupérer</a:t>
            </a:r>
            <a:endParaRPr lang="fr-FR" sz="1400" dirty="0"/>
          </a:p>
        </p:txBody>
      </p:sp>
      <p:sp>
        <p:nvSpPr>
          <p:cNvPr id="45" name="Text 36"/>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12</a:t>
            </a:r>
            <a:endParaRPr lang="fr-FR"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Depuis GitHub, en trois gestes</a:t>
            </a:r>
            <a:endParaRPr lang="fr-FR" sz="4000" dirty="0"/>
          </a:p>
        </p:txBody>
      </p:sp>
      <p:sp>
        <p:nvSpPr>
          <p:cNvPr id="3" name="Text 1"/>
          <p:cNvSpPr txBox="1"/>
          <p:nvPr/>
        </p:nvSpPr>
        <p:spPr>
          <a:xfrm>
            <a:off x="548640" y="1645920"/>
            <a:ext cx="1371600" cy="1737360"/>
          </a:xfrm>
          <a:prstGeom prst="rect">
            <a:avLst/>
          </a:prstGeom>
          <a:noFill/>
          <a:ln/>
        </p:spPr>
        <p:txBody>
          <a:bodyPr wrap="square" lIns="0" tIns="0" rIns="0" bIns="0" rtlCol="0" anchor="ctr"/>
          <a:lstStyle/>
          <a:p>
            <a:pPr indent="0" marL="0">
              <a:buNone/>
            </a:pPr>
            <a:r>
              <a:rPr lang="fr-FR" altLang="en-US" sz="12000" b="1" dirty="0">
                <a:solidFill>
                  <a:srgbClr val="1B2233"/>
                </a:solidFill>
                <a:latin typeface="Calibri" pitchFamily="34" charset="0"/>
                <a:ea typeface="Calibri" pitchFamily="34" charset="-122"/>
                <a:cs typeface="Calibri" pitchFamily="34" charset="-120"/>
              </a:rPr>
              <a:t>1</a:t>
            </a:r>
            <a:endParaRPr lang="fr-FR" sz="12000" dirty="0"/>
          </a:p>
        </p:txBody>
      </p:sp>
      <p:pic>
        <p:nvPicPr>
          <p:cNvPr id="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011680" y="2240280"/>
            <a:ext cx="548640" cy="548640"/>
          </a:xfrm>
          <a:prstGeom prst="rect">
            <a:avLst/>
          </a:prstGeom>
        </p:spPr>
      </p:pic>
      <p:sp>
        <p:nvSpPr>
          <p:cNvPr id="5" name="Text 2"/>
          <p:cNvSpPr txBox="1"/>
          <p:nvPr/>
        </p:nvSpPr>
        <p:spPr>
          <a:xfrm>
            <a:off x="548640" y="3520440"/>
            <a:ext cx="3566160" cy="594360"/>
          </a:xfrm>
          <a:prstGeom prst="rect">
            <a:avLst/>
          </a:prstGeom>
          <a:noFill/>
          <a:ln/>
        </p:spPr>
        <p:txBody>
          <a:bodyPr wrap="square" lIns="0" tIns="0" rIns="0" bIns="0" rtlCol="0" anchor="t"/>
          <a:lstStyle/>
          <a:p>
            <a:pPr indent="0" marL="0">
              <a:buNone/>
            </a:pPr>
            <a:r>
              <a:rPr lang="fr-FR" altLang="en-US" sz="3200" b="1" dirty="0">
                <a:solidFill>
                  <a:srgbClr val="1B2233"/>
                </a:solidFill>
                <a:latin typeface="Calibri" pitchFamily="34" charset="0"/>
                <a:ea typeface="Calibri" pitchFamily="34" charset="-122"/>
                <a:cs typeface="Calibri" pitchFamily="34" charset="-120"/>
              </a:rPr>
              <a:t>Trouver</a:t>
            </a:r>
            <a:endParaRPr lang="fr-FR" sz="3200" dirty="0"/>
          </a:p>
        </p:txBody>
      </p:sp>
      <p:sp>
        <p:nvSpPr>
          <p:cNvPr id="6" name="Text 3"/>
          <p:cNvSpPr txBox="1"/>
          <p:nvPr/>
        </p:nvSpPr>
        <p:spPr>
          <a:xfrm>
            <a:off x="548640" y="4114800"/>
            <a:ext cx="3291840" cy="822960"/>
          </a:xfrm>
          <a:prstGeom prst="rect">
            <a:avLst/>
          </a:prstGeom>
          <a:noFill/>
          <a:ln/>
        </p:spPr>
        <p:txBody>
          <a:bodyPr wrap="square" lIns="0" tIns="0" rIns="0" bIns="0" rtlCol="0" anchor="t"/>
          <a:lstStyle/>
          <a:p>
            <a:pPr indent="0" marL="0">
              <a:buNone/>
            </a:pPr>
            <a:r>
              <a:rPr lang="fr-FR" altLang="en-US" sz="2000" dirty="0">
                <a:solidFill>
                  <a:srgbClr val="566070"/>
                </a:solidFill>
                <a:latin typeface="Calibri" pitchFamily="34" charset="0"/>
                <a:ea typeface="Calibri" pitchFamily="34" charset="-122"/>
                <a:cs typeface="Calibri" pitchFamily="34" charset="-120"/>
              </a:rPr>
              <a:t>un dépôt de confiance</a:t>
            </a:r>
            <a:endParaRPr lang="fr-FR" sz="2000" dirty="0"/>
          </a:p>
        </p:txBody>
      </p:sp>
      <p:sp>
        <p:nvSpPr>
          <p:cNvPr id="7" name="Shape 4"/>
          <p:cNvSpPr/>
          <p:nvPr/>
        </p:nvSpPr>
        <p:spPr>
          <a:xfrm>
            <a:off x="4160520" y="1828800"/>
            <a:ext cx="0" cy="3017520"/>
          </a:xfrm>
          <a:prstGeom prst="line">
            <a:avLst/>
          </a:prstGeom>
          <a:noFill/>
          <a:ln w="19050">
            <a:solidFill>
              <a:srgbClr val="D5D9E0"/>
            </a:solidFill>
            <a:prstDash val="solid"/>
          </a:ln>
        </p:spPr>
      </p:sp>
      <p:sp>
        <p:nvSpPr>
          <p:cNvPr id="8" name="Text 5"/>
          <p:cNvSpPr txBox="1"/>
          <p:nvPr/>
        </p:nvSpPr>
        <p:spPr>
          <a:xfrm>
            <a:off x="4389120" y="1645920"/>
            <a:ext cx="1371600" cy="1737360"/>
          </a:xfrm>
          <a:prstGeom prst="rect">
            <a:avLst/>
          </a:prstGeom>
          <a:noFill/>
          <a:ln/>
        </p:spPr>
        <p:txBody>
          <a:bodyPr wrap="square" lIns="0" tIns="0" rIns="0" bIns="0" rtlCol="0" anchor="ctr"/>
          <a:lstStyle/>
          <a:p>
            <a:pPr indent="0" marL="0">
              <a:buNone/>
            </a:pPr>
            <a:r>
              <a:rPr lang="fr-FR" altLang="en-US" sz="12000" b="1" dirty="0">
                <a:solidFill>
                  <a:srgbClr val="1B2233"/>
                </a:solidFill>
                <a:latin typeface="Calibri" pitchFamily="34" charset="0"/>
                <a:ea typeface="Calibri" pitchFamily="34" charset="-122"/>
                <a:cs typeface="Calibri" pitchFamily="34" charset="-120"/>
              </a:rPr>
              <a:t>2</a:t>
            </a:r>
            <a:endParaRPr lang="fr-FR" sz="12000" dirty="0"/>
          </a:p>
        </p:txBody>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52160" y="2240280"/>
            <a:ext cx="548640" cy="548640"/>
          </a:xfrm>
          <a:prstGeom prst="rect">
            <a:avLst/>
          </a:prstGeom>
        </p:spPr>
      </p:pic>
      <p:sp>
        <p:nvSpPr>
          <p:cNvPr id="10" name="Text 6"/>
          <p:cNvSpPr txBox="1"/>
          <p:nvPr/>
        </p:nvSpPr>
        <p:spPr>
          <a:xfrm>
            <a:off x="4389120" y="3520440"/>
            <a:ext cx="3566160" cy="594360"/>
          </a:xfrm>
          <a:prstGeom prst="rect">
            <a:avLst/>
          </a:prstGeom>
          <a:noFill/>
          <a:ln/>
        </p:spPr>
        <p:txBody>
          <a:bodyPr wrap="square" lIns="0" tIns="0" rIns="0" bIns="0" rtlCol="0" anchor="t"/>
          <a:lstStyle/>
          <a:p>
            <a:pPr indent="0" marL="0">
              <a:buNone/>
            </a:pPr>
            <a:r>
              <a:rPr lang="fr-FR" altLang="en-US" sz="3200" b="1" dirty="0">
                <a:solidFill>
                  <a:srgbClr val="1B2233"/>
                </a:solidFill>
                <a:latin typeface="Calibri" pitchFamily="34" charset="0"/>
                <a:ea typeface="Calibri" pitchFamily="34" charset="-122"/>
                <a:cs typeface="Calibri" pitchFamily="34" charset="-120"/>
              </a:rPr>
              <a:t>Télécharger</a:t>
            </a:r>
            <a:endParaRPr lang="fr-FR" sz="3200" dirty="0"/>
          </a:p>
        </p:txBody>
      </p:sp>
      <p:sp>
        <p:nvSpPr>
          <p:cNvPr id="11" name="Text 7"/>
          <p:cNvSpPr txBox="1"/>
          <p:nvPr/>
        </p:nvSpPr>
        <p:spPr>
          <a:xfrm>
            <a:off x="4389120" y="4114800"/>
            <a:ext cx="3291840" cy="822960"/>
          </a:xfrm>
          <a:prstGeom prst="rect">
            <a:avLst/>
          </a:prstGeom>
          <a:noFill/>
          <a:ln/>
        </p:spPr>
        <p:txBody>
          <a:bodyPr wrap="square" lIns="0" tIns="0" rIns="0" bIns="0" rtlCol="0" anchor="t"/>
          <a:lstStyle/>
          <a:p>
            <a:pPr indent="0" marL="0">
              <a:buNone/>
            </a:pPr>
            <a:r>
              <a:rPr lang="fr-FR" altLang="en-US" sz="2000" dirty="0">
                <a:solidFill>
                  <a:srgbClr val="566070"/>
                </a:solidFill>
                <a:latin typeface="Calibri" pitchFamily="34" charset="0"/>
                <a:ea typeface="Calibri" pitchFamily="34" charset="-122"/>
                <a:cs typeface="Calibri" pitchFamily="34" charset="-120"/>
              </a:rPr>
              <a:t>le dossier en .zip</a:t>
            </a:r>
            <a:endParaRPr lang="fr-FR" sz="2000" dirty="0"/>
          </a:p>
        </p:txBody>
      </p:sp>
      <p:sp>
        <p:nvSpPr>
          <p:cNvPr id="12" name="Shape 8"/>
          <p:cNvSpPr/>
          <p:nvPr/>
        </p:nvSpPr>
        <p:spPr>
          <a:xfrm>
            <a:off x="8001000" y="1828800"/>
            <a:ext cx="0" cy="3017520"/>
          </a:xfrm>
          <a:prstGeom prst="line">
            <a:avLst/>
          </a:prstGeom>
          <a:noFill/>
          <a:ln w="19050">
            <a:solidFill>
              <a:srgbClr val="D5D9E0"/>
            </a:solidFill>
            <a:prstDash val="solid"/>
          </a:ln>
        </p:spPr>
      </p:sp>
      <p:sp>
        <p:nvSpPr>
          <p:cNvPr id="13" name="Text 9"/>
          <p:cNvSpPr txBox="1"/>
          <p:nvPr/>
        </p:nvSpPr>
        <p:spPr>
          <a:xfrm>
            <a:off x="8229600" y="1645920"/>
            <a:ext cx="1371600" cy="1737360"/>
          </a:xfrm>
          <a:prstGeom prst="rect">
            <a:avLst/>
          </a:prstGeom>
          <a:noFill/>
          <a:ln/>
        </p:spPr>
        <p:txBody>
          <a:bodyPr wrap="square" lIns="0" tIns="0" rIns="0" bIns="0" rtlCol="0" anchor="ctr"/>
          <a:lstStyle/>
          <a:p>
            <a:pPr indent="0" marL="0">
              <a:buNone/>
            </a:pPr>
            <a:r>
              <a:rPr lang="fr-FR" altLang="en-US" sz="12000" b="1" dirty="0">
                <a:solidFill>
                  <a:srgbClr val="B8235A"/>
                </a:solidFill>
                <a:latin typeface="Calibri" pitchFamily="34" charset="0"/>
                <a:ea typeface="Calibri" pitchFamily="34" charset="-122"/>
                <a:cs typeface="Calibri" pitchFamily="34" charset="-120"/>
              </a:rPr>
              <a:t>3</a:t>
            </a:r>
            <a:endParaRPr lang="fr-FR" sz="12000" dirty="0"/>
          </a:p>
        </p:txBody>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692640" y="2240280"/>
            <a:ext cx="548640" cy="548640"/>
          </a:xfrm>
          <a:prstGeom prst="rect">
            <a:avLst/>
          </a:prstGeom>
        </p:spPr>
      </p:pic>
      <p:sp>
        <p:nvSpPr>
          <p:cNvPr id="15" name="Text 10"/>
          <p:cNvSpPr txBox="1"/>
          <p:nvPr/>
        </p:nvSpPr>
        <p:spPr>
          <a:xfrm>
            <a:off x="8229600" y="3520440"/>
            <a:ext cx="3566160" cy="594360"/>
          </a:xfrm>
          <a:prstGeom prst="rect">
            <a:avLst/>
          </a:prstGeom>
          <a:noFill/>
          <a:ln/>
        </p:spPr>
        <p:txBody>
          <a:bodyPr wrap="square" lIns="0" tIns="0" rIns="0" bIns="0" rtlCol="0" anchor="t"/>
          <a:lstStyle/>
          <a:p>
            <a:pPr indent="0" marL="0">
              <a:buNone/>
            </a:pPr>
            <a:r>
              <a:rPr lang="fr-FR" altLang="en-US" sz="3200" b="1" dirty="0">
                <a:solidFill>
                  <a:srgbClr val="1B2233"/>
                </a:solidFill>
                <a:latin typeface="Calibri" pitchFamily="34" charset="0"/>
                <a:ea typeface="Calibri" pitchFamily="34" charset="-122"/>
                <a:cs typeface="Calibri" pitchFamily="34" charset="-120"/>
              </a:rPr>
              <a:t>Importer</a:t>
            </a:r>
            <a:endParaRPr lang="fr-FR" sz="3200" dirty="0"/>
          </a:p>
        </p:txBody>
      </p:sp>
      <p:sp>
        <p:nvSpPr>
          <p:cNvPr id="16" name="Text 11"/>
          <p:cNvSpPr txBox="1"/>
          <p:nvPr/>
        </p:nvSpPr>
        <p:spPr>
          <a:xfrm>
            <a:off x="8229600" y="4114800"/>
            <a:ext cx="3291840" cy="822960"/>
          </a:xfrm>
          <a:prstGeom prst="rect">
            <a:avLst/>
          </a:prstGeom>
          <a:noFill/>
          <a:ln/>
        </p:spPr>
        <p:txBody>
          <a:bodyPr wrap="square" lIns="0" tIns="0" rIns="0" bIns="0" rtlCol="0" anchor="t"/>
          <a:lstStyle/>
          <a:p>
            <a:pPr indent="0" marL="0">
              <a:buNone/>
            </a:pPr>
            <a:r>
              <a:rPr lang="fr-FR" altLang="en-US" sz="2000" dirty="0">
                <a:solidFill>
                  <a:srgbClr val="566070"/>
                </a:solidFill>
                <a:latin typeface="Calibri" pitchFamily="34" charset="0"/>
                <a:ea typeface="Calibri" pitchFamily="34" charset="-122"/>
                <a:cs typeface="Calibri" pitchFamily="34" charset="-120"/>
              </a:rPr>
              <a:t>Personnaliser › Skills › +</a:t>
            </a:r>
            <a:endParaRPr lang="fr-FR" sz="2000" dirty="0"/>
          </a:p>
        </p:txBody>
      </p:sp>
      <p:sp>
        <p:nvSpPr>
          <p:cNvPr id="17" name="Shape 12"/>
          <p:cNvSpPr/>
          <p:nvPr/>
        </p:nvSpPr>
        <p:spPr>
          <a:xfrm>
            <a:off x="548640" y="5486400"/>
            <a:ext cx="6583680" cy="566928"/>
          </a:xfrm>
          <a:prstGeom prst="roundRect">
            <a:avLst>
              <a:gd name="adj" fmla="val 24194"/>
            </a:avLst>
          </a:prstGeom>
          <a:solidFill>
            <a:srgbClr val="E6EDFA"/>
          </a:solidFill>
          <a:ln/>
        </p:spPr>
      </p:sp>
      <p:sp>
        <p:nvSpPr>
          <p:cNvPr id="18" name="Text 13"/>
          <p:cNvSpPr txBox="1"/>
          <p:nvPr/>
        </p:nvSpPr>
        <p:spPr>
          <a:xfrm>
            <a:off x="777240" y="5486400"/>
            <a:ext cx="6309360" cy="566928"/>
          </a:xfrm>
          <a:prstGeom prst="rect">
            <a:avLst/>
          </a:prstGeom>
          <a:noFill/>
          <a:ln/>
        </p:spPr>
        <p:txBody>
          <a:bodyPr wrap="square" lIns="0" tIns="0" rIns="0" bIns="0" rtlCol="0" anchor="ctr"/>
          <a:lstStyle/>
          <a:p>
            <a:pPr indent="0" marL="0">
              <a:buNone/>
            </a:pPr>
            <a:r>
              <a:rPr lang="fr-FR" altLang="en-US" sz="2000" b="1" dirty="0">
                <a:solidFill>
                  <a:srgbClr val="2F5FC4"/>
                </a:solidFill>
                <a:latin typeface="Calibri" pitchFamily="34" charset="0"/>
                <a:ea typeface="Calibri" pitchFamily="34" charset="-122"/>
                <a:cs typeface="Calibri" pitchFamily="34" charset="-120"/>
              </a:rPr>
              <a:t>Réf. : </a:t>
            </a:r>
            <a:pPr indent="0" marL="0">
              <a:buNone/>
            </a:pPr>
            <a:r>
              <a:rPr lang="fr-FR" altLang="en-US" sz="2000" dirty="0">
                <a:solidFill>
                  <a:srgbClr val="1B2233"/>
                </a:solidFill>
                <a:latin typeface="Courier New" pitchFamily="34" charset="0"/>
                <a:ea typeface="Courier New" pitchFamily="34" charset="-122"/>
                <a:cs typeface="Courier New" pitchFamily="34" charset="-120"/>
              </a:rPr>
              <a:t>github.com/anthropics/skills</a:t>
            </a:r>
            <a:endParaRPr lang="fr-FR" sz="2000" dirty="0"/>
          </a:p>
        </p:txBody>
      </p:sp>
      <p:sp>
        <p:nvSpPr>
          <p:cNvPr id="19" name="Text 14"/>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3 · Récupérer</a:t>
            </a:r>
            <a:endParaRPr lang="fr-FR" sz="1400" dirty="0"/>
          </a:p>
        </p:txBody>
      </p:sp>
      <p:sp>
        <p:nvSpPr>
          <p:cNvPr id="20" name="Text 15"/>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13</a:t>
            </a:r>
            <a:endParaRPr lang="fr-FR"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233"/>
        </a:solidFill>
      </p:bgPr>
    </p:bg>
    <p:spTree>
      <p:nvGrpSpPr>
        <p:cNvPr id="1" name=""/>
        <p:cNvGrpSpPr/>
        <p:nvPr/>
      </p:nvGrpSpPr>
      <p:grpSpPr>
        <a:xfrm>
          <a:off x="0" y="0"/>
          <a:ext cx="0" cy="0"/>
          <a:chOff x="0" y="0"/>
          <a:chExt cx="0" cy="0"/>
        </a:xfrm>
      </p:grpSpPr>
      <p:sp>
        <p:nvSpPr>
          <p:cNvPr id="4" name="Titre"/>
          <p:cNvSpPr>
            <a:spLocks noGrp="1"/>
          </p:cNvSpPr>
          <p:nvPr>
            <p:ph type="title"/>
          </p:nvPr>
        </p:nvSpPr>
        <p:spPr>
          <a:xfrm>
            <a:off x="4572000" y="1737360"/>
            <a:ext cx="7132320" cy="2011680"/>
          </a:xfrm>
          <a:prstGeom prst="rect">
            <a:avLst/>
          </a:prstGeom>
          <a:noFill/>
          <a:ln/>
        </p:spPr>
        <p:txBody>
          <a:bodyPr wrap="square" lIns="0" tIns="0" rIns="0" bIns="0" rtlCol="0" anchor="ctr"/>
          <a:lstStyle/>
          <a:p>
            <a:pPr algn="l" indent="0" marL="0">
              <a:buNone/>
            </a:pPr>
            <a:r>
              <a:rPr lang="fr-FR" altLang="en-US" sz="4000" b="1" dirty="0">
                <a:solidFill>
                  <a:srgbClr val="FFFFFF"/>
                </a:solidFill>
                <a:latin typeface="Calibri" pitchFamily="34" charset="0"/>
                <a:ea typeface="Calibri" pitchFamily="34" charset="-122"/>
                <a:cs typeface="Calibri" pitchFamily="34" charset="-120"/>
              </a:rPr>
              <a:t>On n'installe pas une skill qu'on n'a pas lue</a:t>
            </a:r>
            <a:endParaRPr lang="fr-FR" sz="4000" dirty="0"/>
          </a:p>
        </p:txBody>
      </p:sp>
      <p:sp>
        <p:nvSpPr>
          <p:cNvPr id="2" name="Shape 0"/>
          <p:cNvSpPr/>
          <p:nvPr/>
        </p:nvSpPr>
        <p:spPr>
          <a:xfrm>
            <a:off x="914400" y="1737360"/>
            <a:ext cx="3108960" cy="3108960"/>
          </a:xfrm>
          <a:prstGeom prst="octagon">
            <a:avLst/>
          </a:prstGeom>
          <a:solidFill>
            <a:srgbClr val="C8373B"/>
          </a:solidFill>
          <a:ln w="50800">
            <a:solidFill>
              <a:srgbClr val="FFFFFF"/>
            </a:solidFill>
            <a:prstDash val="solid"/>
          </a:ln>
        </p:spPr>
      </p:sp>
      <p:sp>
        <p:nvSpPr>
          <p:cNvPr id="3" name="Text 1"/>
          <p:cNvSpPr txBox="1"/>
          <p:nvPr/>
        </p:nvSpPr>
        <p:spPr>
          <a:xfrm>
            <a:off x="914400" y="1737360"/>
            <a:ext cx="3108960" cy="3108960"/>
          </a:xfrm>
          <a:prstGeom prst="rect">
            <a:avLst/>
          </a:prstGeom>
          <a:noFill/>
          <a:ln/>
        </p:spPr>
        <p:txBody>
          <a:bodyPr wrap="square" lIns="0" tIns="0" rIns="0" bIns="0" rtlCol="0" anchor="ctr"/>
          <a:lstStyle/>
          <a:p>
            <a:pPr algn="ctr" indent="0" marL="0">
              <a:buNone/>
            </a:pPr>
            <a:r>
              <a:rPr lang="fr-FR" altLang="en-US" sz="5400" b="1" dirty="0">
                <a:solidFill>
                  <a:srgbClr val="FFFFFF"/>
                </a:solidFill>
                <a:latin typeface="Calibri" pitchFamily="34" charset="0"/>
                <a:ea typeface="Calibri" pitchFamily="34" charset="-122"/>
                <a:cs typeface="Calibri" pitchFamily="34" charset="-120"/>
              </a:rPr>
              <a:t>STOP</a:t>
            </a:r>
            <a:endParaRPr lang="fr-FR" sz="5400" dirty="0"/>
          </a:p>
        </p:txBody>
      </p:sp>
      <p:sp>
        <p:nvSpPr>
          <p:cNvPr id="5" name="Text 3"/>
          <p:cNvSpPr txBox="1"/>
          <p:nvPr/>
        </p:nvSpPr>
        <p:spPr>
          <a:xfrm>
            <a:off x="4572000" y="3840480"/>
            <a:ext cx="6949440" cy="914400"/>
          </a:xfrm>
          <a:prstGeom prst="rect">
            <a:avLst/>
          </a:prstGeom>
          <a:noFill/>
          <a:ln/>
        </p:spPr>
        <p:txBody>
          <a:bodyPr wrap="square" lIns="0" tIns="0" rIns="0" bIns="0" rtlCol="0" anchor="t"/>
          <a:lstStyle/>
          <a:p>
            <a:pPr indent="0" marL="0">
              <a:buNone/>
            </a:pPr>
            <a:r>
              <a:rPr lang="fr-FR" altLang="en-US" sz="2400" dirty="0">
                <a:solidFill>
                  <a:srgbClr val="C9CFDA"/>
                </a:solidFill>
                <a:latin typeface="Calibri" pitchFamily="34" charset="0"/>
                <a:ea typeface="Calibri" pitchFamily="34" charset="-122"/>
                <a:cs typeface="Calibri" pitchFamily="34" charset="-120"/>
              </a:rPr>
              <a:t>Une skill donne des ordres à Claude, et peut contenir des scripts.</a:t>
            </a:r>
            <a:endParaRPr lang="fr-FR" sz="2400" dirty="0"/>
          </a:p>
        </p:txBody>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4572000" y="5120640"/>
            <a:ext cx="365760" cy="365760"/>
          </a:xfrm>
          <a:prstGeom prst="rect">
            <a:avLst/>
          </a:prstGeom>
        </p:spPr>
      </p:pic>
      <p:sp>
        <p:nvSpPr>
          <p:cNvPr id="7" name="Text 4"/>
          <p:cNvSpPr txBox="1"/>
          <p:nvPr/>
        </p:nvSpPr>
        <p:spPr>
          <a:xfrm>
            <a:off x="5029200" y="5074920"/>
            <a:ext cx="1920240" cy="457200"/>
          </a:xfrm>
          <a:prstGeom prst="rect">
            <a:avLst/>
          </a:prstGeom>
          <a:noFill/>
          <a:ln/>
        </p:spPr>
        <p:txBody>
          <a:bodyPr wrap="square" lIns="0" tIns="0" rIns="0" bIns="0" rtlCol="0" anchor="ctr"/>
          <a:lstStyle/>
          <a:p>
            <a:pPr indent="0" marL="0">
              <a:buNone/>
            </a:pPr>
            <a:r>
              <a:rPr lang="fr-FR" altLang="en-US" sz="1800" b="1" dirty="0">
                <a:solidFill>
                  <a:srgbClr val="FFFFFF"/>
                </a:solidFill>
                <a:latin typeface="Calibri" pitchFamily="34" charset="0"/>
                <a:ea typeface="Calibri" pitchFamily="34" charset="-122"/>
                <a:cs typeface="Calibri" pitchFamily="34" charset="-120"/>
              </a:rPr>
              <a:t>Auteur connu</a:t>
            </a:r>
            <a:endParaRPr lang="fr-FR" sz="1800" dirty="0"/>
          </a:p>
        </p:txBody>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49440" y="5120640"/>
            <a:ext cx="365760" cy="365760"/>
          </a:xfrm>
          <a:prstGeom prst="rect">
            <a:avLst/>
          </a:prstGeom>
        </p:spPr>
      </p:pic>
      <p:sp>
        <p:nvSpPr>
          <p:cNvPr id="9" name="Text 5"/>
          <p:cNvSpPr txBox="1"/>
          <p:nvPr/>
        </p:nvSpPr>
        <p:spPr>
          <a:xfrm>
            <a:off x="7406640" y="5074920"/>
            <a:ext cx="1920240" cy="457200"/>
          </a:xfrm>
          <a:prstGeom prst="rect">
            <a:avLst/>
          </a:prstGeom>
          <a:noFill/>
          <a:ln/>
        </p:spPr>
        <p:txBody>
          <a:bodyPr wrap="square" lIns="0" tIns="0" rIns="0" bIns="0" rtlCol="0" anchor="ctr"/>
          <a:lstStyle/>
          <a:p>
            <a:pPr indent="0" marL="0">
              <a:buNone/>
            </a:pPr>
            <a:r>
              <a:rPr lang="fr-FR" altLang="en-US" sz="1800" b="1" dirty="0">
                <a:solidFill>
                  <a:srgbClr val="FFFFFF"/>
                </a:solidFill>
                <a:latin typeface="Calibri" pitchFamily="34" charset="0"/>
                <a:ea typeface="Calibri" pitchFamily="34" charset="-122"/>
                <a:cs typeface="Calibri" pitchFamily="34" charset="-120"/>
              </a:rPr>
              <a:t>SKILL.md lu</a:t>
            </a:r>
            <a:endParaRPr lang="fr-FR" sz="1800" dirty="0"/>
          </a:p>
        </p:txBody>
      </p:sp>
      <p:pic>
        <p:nvPicPr>
          <p:cNvPr id="10"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326880" y="5120640"/>
            <a:ext cx="365760" cy="365760"/>
          </a:xfrm>
          <a:prstGeom prst="rect">
            <a:avLst/>
          </a:prstGeom>
        </p:spPr>
      </p:pic>
      <p:sp>
        <p:nvSpPr>
          <p:cNvPr id="11" name="Text 6"/>
          <p:cNvSpPr txBox="1"/>
          <p:nvPr/>
        </p:nvSpPr>
        <p:spPr>
          <a:xfrm>
            <a:off x="9784080" y="5074920"/>
            <a:ext cx="1920240" cy="457200"/>
          </a:xfrm>
          <a:prstGeom prst="rect">
            <a:avLst/>
          </a:prstGeom>
          <a:noFill/>
          <a:ln/>
        </p:spPr>
        <p:txBody>
          <a:bodyPr wrap="square" lIns="0" tIns="0" rIns="0" bIns="0" rtlCol="0" anchor="ctr"/>
          <a:lstStyle/>
          <a:p>
            <a:pPr indent="0" marL="0">
              <a:buNone/>
            </a:pPr>
            <a:r>
              <a:rPr lang="fr-FR" altLang="en-US" sz="1800" b="1" dirty="0">
                <a:solidFill>
                  <a:srgbClr val="FFFFFF"/>
                </a:solidFill>
                <a:latin typeface="Calibri" pitchFamily="34" charset="0"/>
                <a:ea typeface="Calibri" pitchFamily="34" charset="-122"/>
                <a:cs typeface="Calibri" pitchFamily="34" charset="-120"/>
              </a:rPr>
              <a:t>Scripts compris</a:t>
            </a:r>
            <a:endParaRPr lang="fr-FR" sz="1800" dirty="0"/>
          </a:p>
        </p:txBody>
      </p:sp>
      <p:sp>
        <p:nvSpPr>
          <p:cNvPr id="12" name="Text 7"/>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3 · Récupérer</a:t>
            </a:r>
            <a:endParaRPr lang="fr-FR" sz="1400" dirty="0"/>
          </a:p>
        </p:txBody>
      </p:sp>
      <p:sp>
        <p:nvSpPr>
          <p:cNvPr id="13" name="Text 8"/>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14</a:t>
            </a:r>
            <a:endParaRPr lang="fr-F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8235A"/>
        </a:solidFill>
      </p:bgPr>
    </p:bg>
    <p:spTree>
      <p:nvGrpSpPr>
        <p:cNvPr id="1" name=""/>
        <p:cNvGrpSpPr/>
        <p:nvPr/>
      </p:nvGrpSpPr>
      <p:grpSpPr>
        <a:xfrm>
          <a:off x="0" y="0"/>
          <a:ext cx="0" cy="0"/>
          <a:chOff x="0" y="0"/>
          <a:chExt cx="0" cy="0"/>
        </a:xfrm>
      </p:grpSpPr>
      <p:sp>
        <p:nvSpPr>
          <p:cNvPr id="4" name="Titre"/>
          <p:cNvSpPr>
            <a:spLocks noGrp="1"/>
          </p:cNvSpPr>
          <p:nvPr>
            <p:ph type="title"/>
          </p:nvPr>
        </p:nvSpPr>
        <p:spPr>
          <a:xfrm>
            <a:off x="4846320" y="2880360"/>
            <a:ext cx="6858000" cy="1097280"/>
          </a:xfrm>
          <a:prstGeom prst="rect">
            <a:avLst/>
          </a:prstGeom>
          <a:noFill/>
          <a:ln/>
        </p:spPr>
        <p:txBody>
          <a:bodyPr wrap="square" lIns="0" tIns="0" rIns="0" bIns="0" rtlCol="0" anchor="ctr"/>
          <a:lstStyle/>
          <a:p>
            <a:pPr algn="l" indent="0" marL="0">
              <a:buNone/>
            </a:pPr>
            <a:r>
              <a:rPr lang="fr-FR" altLang="en-US" sz="5400" b="1" dirty="0">
                <a:solidFill>
                  <a:srgbClr val="FFFFFF"/>
                </a:solidFill>
                <a:latin typeface="Calibri" pitchFamily="34" charset="0"/>
                <a:ea typeface="Calibri" pitchFamily="34" charset="-122"/>
                <a:cs typeface="Calibri" pitchFamily="34" charset="-120"/>
              </a:rPr>
              <a:t>Où créer</a:t>
            </a:r>
            <a:endParaRPr lang="fr-FR" sz="5400" dirty="0"/>
          </a:p>
        </p:txBody>
      </p:sp>
      <p:sp>
        <p:nvSpPr>
          <p:cNvPr id="2" name="Text 0"/>
          <p:cNvSpPr txBox="1"/>
          <p:nvPr/>
        </p:nvSpPr>
        <p:spPr>
          <a:xfrm>
            <a:off x="548640" y="822960"/>
            <a:ext cx="3840480" cy="4754880"/>
          </a:xfrm>
          <a:prstGeom prst="rect">
            <a:avLst/>
          </a:prstGeom>
          <a:noFill/>
          <a:ln/>
        </p:spPr>
        <p:txBody>
          <a:bodyPr wrap="square" lIns="0" tIns="0" rIns="0" bIns="0" rtlCol="0" anchor="ctr"/>
          <a:lstStyle/>
          <a:p>
            <a:pPr algn="ctr" indent="0" marL="0">
              <a:buNone/>
            </a:pPr>
            <a:r>
              <a:rPr lang="fr-FR" altLang="en-US" sz="28000" b="1" dirty="0">
                <a:solidFill>
                  <a:srgbClr val="FFFFFF"/>
                </a:solidFill>
                <a:latin typeface="Calibri" pitchFamily="34" charset="0"/>
                <a:ea typeface="Calibri" pitchFamily="34" charset="-122"/>
                <a:cs typeface="Calibri" pitchFamily="34" charset="-120"/>
              </a:rPr>
              <a:t>4</a:t>
            </a:r>
            <a:endParaRPr lang="fr-FR" sz="28000" dirty="0"/>
          </a:p>
        </p:txBody>
      </p:sp>
      <p:pic>
        <p:nvPicPr>
          <p:cNvPr id="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4846320" y="2057400"/>
            <a:ext cx="731520" cy="731520"/>
          </a:xfrm>
          <a:prstGeom prst="rect">
            <a:avLst/>
          </a:prstGeom>
        </p:spPr>
      </p:pic>
      <p:sp>
        <p:nvSpPr>
          <p:cNvPr id="5" name="Text 2"/>
          <p:cNvSpPr txBox="1"/>
          <p:nvPr/>
        </p:nvSpPr>
        <p:spPr>
          <a:xfrm>
            <a:off x="4846320" y="3977640"/>
            <a:ext cx="6858000" cy="731520"/>
          </a:xfrm>
          <a:prstGeom prst="rect">
            <a:avLst/>
          </a:prstGeom>
          <a:noFill/>
          <a:ln/>
        </p:spPr>
        <p:txBody>
          <a:bodyPr wrap="square" lIns="0" tIns="0" rIns="0" bIns="0" rtlCol="0" anchor="t"/>
          <a:lstStyle/>
          <a:p>
            <a:pPr algn="l" indent="0" marL="0">
              <a:buNone/>
            </a:pPr>
            <a:r>
              <a:rPr lang="fr-FR" altLang="en-US" sz="2800" dirty="0">
                <a:solidFill>
                  <a:srgbClr val="FFFFFF"/>
                </a:solidFill>
                <a:latin typeface="Calibri" pitchFamily="34" charset="0"/>
                <a:ea typeface="Calibri" pitchFamily="34" charset="-122"/>
                <a:cs typeface="Calibri" pitchFamily="34" charset="-120"/>
              </a:rPr>
              <a:t>Chat, Cowork ou Code</a:t>
            </a:r>
            <a:endParaRPr lang="fr-FR"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6035040"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Chat, Cowork ou Code ?</a:t>
            </a:r>
            <a:endParaRPr lang="fr-FR" sz="4000" dirty="0"/>
          </a:p>
        </p:txBody>
      </p:sp>
      <p:sp>
        <p:nvSpPr>
          <p:cNvPr id="3" name="Shape 1"/>
          <p:cNvSpPr/>
          <p:nvPr/>
        </p:nvSpPr>
        <p:spPr>
          <a:xfrm>
            <a:off x="6675120" y="749808"/>
            <a:ext cx="5029200" cy="420624"/>
          </a:xfrm>
          <a:prstGeom prst="roundRect">
            <a:avLst>
              <a:gd name="adj" fmla="val 50000"/>
            </a:avLst>
          </a:prstGeom>
          <a:solidFill>
            <a:srgbClr val="E6EDFA"/>
          </a:solidFill>
          <a:ln/>
        </p:spPr>
      </p:sp>
      <p:pic>
        <p:nvPicPr>
          <p:cNvPr id="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39712" y="832104"/>
            <a:ext cx="256032" cy="256032"/>
          </a:xfrm>
          <a:prstGeom prst="rect">
            <a:avLst/>
          </a:prstGeom>
        </p:spPr>
      </p:pic>
      <p:sp>
        <p:nvSpPr>
          <p:cNvPr id="5" name="Text 2"/>
          <p:cNvSpPr txBox="1"/>
          <p:nvPr/>
        </p:nvSpPr>
        <p:spPr>
          <a:xfrm>
            <a:off x="7187184" y="749808"/>
            <a:ext cx="4480560" cy="420624"/>
          </a:xfrm>
          <a:prstGeom prst="rect">
            <a:avLst/>
          </a:prstGeom>
          <a:noFill/>
          <a:ln/>
        </p:spPr>
        <p:txBody>
          <a:bodyPr wrap="square" lIns="0" tIns="0" rIns="0" bIns="0" rtlCol="0" anchor="ctr"/>
          <a:lstStyle/>
          <a:p>
            <a:pPr indent="0" marL="0">
              <a:buNone/>
            </a:pPr>
            <a:r>
              <a:rPr lang="fr-FR" altLang="en-US" sz="1600" b="1" dirty="0">
                <a:solidFill>
                  <a:srgbClr val="2F5FC4"/>
                </a:solidFill>
                <a:latin typeface="Calibri" pitchFamily="34" charset="0"/>
                <a:ea typeface="Calibri" pitchFamily="34" charset="-122"/>
                <a:cs typeface="Calibri" pitchFamily="34" charset="-120"/>
              </a:rPr>
              <a:t>Chat et Cowork réunis</a:t>
            </a:r>
            <a:endParaRPr lang="fr-FR" sz="1600" dirty="0"/>
          </a:p>
        </p:txBody>
      </p:sp>
      <p:sp>
        <p:nvSpPr>
          <p:cNvPr id="6" name="Shape 3"/>
          <p:cNvSpPr/>
          <p:nvPr/>
        </p:nvSpPr>
        <p:spPr>
          <a:xfrm>
            <a:off x="731520" y="1920240"/>
            <a:ext cx="3337560" cy="3977640"/>
          </a:xfrm>
          <a:prstGeom prst="roundRect">
            <a:avLst>
              <a:gd name="adj" fmla="val 5479"/>
            </a:avLst>
          </a:prstGeom>
          <a:solidFill>
            <a:srgbClr val="F1F3F6"/>
          </a:solidFill>
          <a:ln w="31750">
            <a:solidFill>
              <a:srgbClr val="B8235A"/>
            </a:solidFill>
            <a:prstDash val="solid"/>
          </a:ln>
        </p:spPr>
      </p:sp>
      <p:sp>
        <p:nvSpPr>
          <p:cNvPr id="7" name="Shape 4"/>
          <p:cNvSpPr/>
          <p:nvPr/>
        </p:nvSpPr>
        <p:spPr>
          <a:xfrm>
            <a:off x="1394460" y="1691640"/>
            <a:ext cx="2011680" cy="411480"/>
          </a:xfrm>
          <a:prstGeom prst="roundRect">
            <a:avLst>
              <a:gd name="adj" fmla="val 48889"/>
            </a:avLst>
          </a:prstGeom>
          <a:solidFill>
            <a:srgbClr val="B8235A"/>
          </a:solidFill>
          <a:ln/>
        </p:spPr>
      </p:sp>
      <p:sp>
        <p:nvSpPr>
          <p:cNvPr id="8" name="Text 5"/>
          <p:cNvSpPr txBox="1"/>
          <p:nvPr/>
        </p:nvSpPr>
        <p:spPr>
          <a:xfrm>
            <a:off x="1394460" y="1691640"/>
            <a:ext cx="2011680" cy="411480"/>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Le plus simple</a:t>
            </a:r>
            <a:endParaRPr lang="fr-FR" sz="1600" dirty="0"/>
          </a:p>
        </p:txBody>
      </p:sp>
      <p:sp>
        <p:nvSpPr>
          <p:cNvPr id="9" name="Shape 6"/>
          <p:cNvSpPr/>
          <p:nvPr/>
        </p:nvSpPr>
        <p:spPr>
          <a:xfrm>
            <a:off x="1668780" y="2331720"/>
            <a:ext cx="1463040" cy="1463040"/>
          </a:xfrm>
          <a:prstGeom prst="ellipse">
            <a:avLst/>
          </a:prstGeom>
          <a:solidFill>
            <a:srgbClr val="B8235A"/>
          </a:solidFill>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034540" y="2697480"/>
            <a:ext cx="731520" cy="731520"/>
          </a:xfrm>
          <a:prstGeom prst="rect">
            <a:avLst/>
          </a:prstGeom>
        </p:spPr>
      </p:pic>
      <p:sp>
        <p:nvSpPr>
          <p:cNvPr id="11" name="Text 7"/>
          <p:cNvSpPr txBox="1"/>
          <p:nvPr/>
        </p:nvSpPr>
        <p:spPr>
          <a:xfrm>
            <a:off x="731520" y="3931920"/>
            <a:ext cx="3337560" cy="548640"/>
          </a:xfrm>
          <a:prstGeom prst="rect">
            <a:avLst/>
          </a:prstGeom>
          <a:noFill/>
          <a:ln/>
        </p:spPr>
        <p:txBody>
          <a:bodyPr wrap="square" lIns="0" tIns="0" rIns="0" bIns="0" rtlCol="0" anchor="t"/>
          <a:lstStyle/>
          <a:p>
            <a:pPr algn="ctr" indent="0" marL="0">
              <a:buNone/>
            </a:pPr>
            <a:r>
              <a:rPr lang="fr-FR" altLang="en-US" sz="3200" b="1" dirty="0">
                <a:solidFill>
                  <a:srgbClr val="B8235A"/>
                </a:solidFill>
                <a:latin typeface="Calibri" pitchFamily="34" charset="0"/>
                <a:ea typeface="Calibri" pitchFamily="34" charset="-122"/>
                <a:cs typeface="Calibri" pitchFamily="34" charset="-120"/>
              </a:rPr>
              <a:t>Chat</a:t>
            </a:r>
            <a:endParaRPr lang="fr-FR" sz="3200" dirty="0"/>
          </a:p>
        </p:txBody>
      </p:sp>
      <p:sp>
        <p:nvSpPr>
          <p:cNvPr id="12" name="Text 8"/>
          <p:cNvSpPr txBox="1"/>
          <p:nvPr/>
        </p:nvSpPr>
        <p:spPr>
          <a:xfrm>
            <a:off x="1005840" y="4572000"/>
            <a:ext cx="2788920" cy="822960"/>
          </a:xfrm>
          <a:prstGeom prst="rect">
            <a:avLst/>
          </a:prstGeom>
          <a:noFill/>
          <a:ln/>
        </p:spPr>
        <p:txBody>
          <a:bodyPr wrap="square" lIns="0" tIns="0" rIns="0" bIns="0" rtlCol="0" anchor="t"/>
          <a:lstStyle/>
          <a:p>
            <a:pPr algn="ctr" indent="0" marL="0">
              <a:buNone/>
            </a:pPr>
            <a:r>
              <a:rPr lang="fr-FR" altLang="en-US" sz="1900" dirty="0">
                <a:solidFill>
                  <a:srgbClr val="1B2233"/>
                </a:solidFill>
                <a:latin typeface="Calibri" pitchFamily="34" charset="0"/>
                <a:ea typeface="Calibri" pitchFamily="34" charset="-122"/>
                <a:cs typeface="Calibri" pitchFamily="34" charset="-120"/>
              </a:rPr>
              <a:t>Je décris, Claude rédige</a:t>
            </a:r>
            <a:endParaRPr lang="fr-FR" sz="1900" dirty="0"/>
          </a:p>
        </p:txBody>
      </p:sp>
      <p:sp>
        <p:nvSpPr>
          <p:cNvPr id="13" name="Shape 9"/>
          <p:cNvSpPr/>
          <p:nvPr/>
        </p:nvSpPr>
        <p:spPr>
          <a:xfrm>
            <a:off x="4434840" y="1920240"/>
            <a:ext cx="3337560" cy="3977640"/>
          </a:xfrm>
          <a:prstGeom prst="roundRect">
            <a:avLst>
              <a:gd name="adj" fmla="val 5479"/>
            </a:avLst>
          </a:prstGeom>
          <a:solidFill>
            <a:srgbClr val="F1F3F6"/>
          </a:solidFill>
          <a:ln w="31750">
            <a:solidFill>
              <a:srgbClr val="2F5FC4"/>
            </a:solidFill>
            <a:prstDash val="solid"/>
          </a:ln>
        </p:spPr>
      </p:sp>
      <p:sp>
        <p:nvSpPr>
          <p:cNvPr id="14" name="Shape 10"/>
          <p:cNvSpPr/>
          <p:nvPr/>
        </p:nvSpPr>
        <p:spPr>
          <a:xfrm>
            <a:off x="5097780" y="1691640"/>
            <a:ext cx="2011680" cy="411480"/>
          </a:xfrm>
          <a:prstGeom prst="roundRect">
            <a:avLst>
              <a:gd name="adj" fmla="val 48889"/>
            </a:avLst>
          </a:prstGeom>
          <a:solidFill>
            <a:srgbClr val="2F5FC4"/>
          </a:solidFill>
          <a:ln/>
        </p:spPr>
      </p:sp>
      <p:sp>
        <p:nvSpPr>
          <p:cNvPr id="15" name="Text 11"/>
          <p:cNvSpPr txBox="1"/>
          <p:nvPr/>
        </p:nvSpPr>
        <p:spPr>
          <a:xfrm>
            <a:off x="5097780" y="1691640"/>
            <a:ext cx="2011680" cy="411480"/>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Avec mes fichiers</a:t>
            </a:r>
            <a:endParaRPr lang="fr-FR" sz="1600" dirty="0"/>
          </a:p>
        </p:txBody>
      </p:sp>
      <p:sp>
        <p:nvSpPr>
          <p:cNvPr id="16" name="Shape 12"/>
          <p:cNvSpPr/>
          <p:nvPr/>
        </p:nvSpPr>
        <p:spPr>
          <a:xfrm>
            <a:off x="5372100" y="2331720"/>
            <a:ext cx="1463040" cy="1463040"/>
          </a:xfrm>
          <a:prstGeom prst="ellipse">
            <a:avLst/>
          </a:prstGeom>
          <a:solidFill>
            <a:srgbClr val="2F5FC4"/>
          </a:solidFill>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737860" y="2697480"/>
            <a:ext cx="731520" cy="731520"/>
          </a:xfrm>
          <a:prstGeom prst="rect">
            <a:avLst/>
          </a:prstGeom>
        </p:spPr>
      </p:pic>
      <p:sp>
        <p:nvSpPr>
          <p:cNvPr id="18" name="Text 13"/>
          <p:cNvSpPr txBox="1"/>
          <p:nvPr/>
        </p:nvSpPr>
        <p:spPr>
          <a:xfrm>
            <a:off x="4434840" y="3931920"/>
            <a:ext cx="3337560" cy="548640"/>
          </a:xfrm>
          <a:prstGeom prst="rect">
            <a:avLst/>
          </a:prstGeom>
          <a:noFill/>
          <a:ln/>
        </p:spPr>
        <p:txBody>
          <a:bodyPr wrap="square" lIns="0" tIns="0" rIns="0" bIns="0" rtlCol="0" anchor="t"/>
          <a:lstStyle/>
          <a:p>
            <a:pPr algn="ctr" indent="0" marL="0">
              <a:buNone/>
            </a:pPr>
            <a:r>
              <a:rPr lang="fr-FR" altLang="en-US" sz="3200" b="1" dirty="0">
                <a:solidFill>
                  <a:srgbClr val="2F5FC4"/>
                </a:solidFill>
                <a:latin typeface="Calibri" pitchFamily="34" charset="0"/>
                <a:ea typeface="Calibri" pitchFamily="34" charset="-122"/>
                <a:cs typeface="Calibri" pitchFamily="34" charset="-120"/>
              </a:rPr>
              <a:t>Cowork</a:t>
            </a:r>
            <a:endParaRPr lang="fr-FR" sz="3200" dirty="0"/>
          </a:p>
        </p:txBody>
      </p:sp>
      <p:sp>
        <p:nvSpPr>
          <p:cNvPr id="19" name="Text 14"/>
          <p:cNvSpPr txBox="1"/>
          <p:nvPr/>
        </p:nvSpPr>
        <p:spPr>
          <a:xfrm>
            <a:off x="4709160" y="4572000"/>
            <a:ext cx="2788920" cy="822960"/>
          </a:xfrm>
          <a:prstGeom prst="rect">
            <a:avLst/>
          </a:prstGeom>
          <a:noFill/>
          <a:ln/>
        </p:spPr>
        <p:txBody>
          <a:bodyPr wrap="square" lIns="0" tIns="0" rIns="0" bIns="0" rtlCol="0" anchor="t"/>
          <a:lstStyle/>
          <a:p>
            <a:pPr algn="ctr" indent="0" marL="0">
              <a:buNone/>
            </a:pPr>
            <a:r>
              <a:rPr lang="fr-FR" altLang="en-US" sz="1900" dirty="0">
                <a:solidFill>
                  <a:srgbClr val="1B2233"/>
                </a:solidFill>
                <a:latin typeface="Calibri" pitchFamily="34" charset="0"/>
                <a:ea typeface="Calibri" pitchFamily="34" charset="-122"/>
                <a:cs typeface="Calibri" pitchFamily="34" charset="-120"/>
              </a:rPr>
              <a:t>Claude agit sur mes fichiers</a:t>
            </a:r>
            <a:endParaRPr lang="fr-FR" sz="1900" dirty="0"/>
          </a:p>
        </p:txBody>
      </p:sp>
      <p:sp>
        <p:nvSpPr>
          <p:cNvPr id="20" name="Shape 15"/>
          <p:cNvSpPr/>
          <p:nvPr/>
        </p:nvSpPr>
        <p:spPr>
          <a:xfrm>
            <a:off x="8138160" y="1920240"/>
            <a:ext cx="3337560" cy="3977640"/>
          </a:xfrm>
          <a:prstGeom prst="roundRect">
            <a:avLst>
              <a:gd name="adj" fmla="val 5479"/>
            </a:avLst>
          </a:prstGeom>
          <a:solidFill>
            <a:srgbClr val="F1F3F6"/>
          </a:solidFill>
          <a:ln w="31750">
            <a:solidFill>
              <a:srgbClr val="1B2233"/>
            </a:solidFill>
            <a:prstDash val="solid"/>
          </a:ln>
        </p:spPr>
      </p:sp>
      <p:sp>
        <p:nvSpPr>
          <p:cNvPr id="21" name="Shape 16"/>
          <p:cNvSpPr/>
          <p:nvPr/>
        </p:nvSpPr>
        <p:spPr>
          <a:xfrm>
            <a:off x="8801100" y="1691640"/>
            <a:ext cx="2011680" cy="411480"/>
          </a:xfrm>
          <a:prstGeom prst="roundRect">
            <a:avLst>
              <a:gd name="adj" fmla="val 48889"/>
            </a:avLst>
          </a:prstGeom>
          <a:solidFill>
            <a:srgbClr val="1B2233"/>
          </a:solidFill>
          <a:ln/>
        </p:spPr>
      </p:sp>
      <p:sp>
        <p:nvSpPr>
          <p:cNvPr id="22" name="Text 17"/>
          <p:cNvSpPr txBox="1"/>
          <p:nvPr/>
        </p:nvSpPr>
        <p:spPr>
          <a:xfrm>
            <a:off x="8801100" y="1691640"/>
            <a:ext cx="2011680" cy="411480"/>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Le plus complet</a:t>
            </a:r>
            <a:endParaRPr lang="fr-FR" sz="1600" dirty="0"/>
          </a:p>
        </p:txBody>
      </p:sp>
      <p:sp>
        <p:nvSpPr>
          <p:cNvPr id="23" name="Shape 18"/>
          <p:cNvSpPr/>
          <p:nvPr/>
        </p:nvSpPr>
        <p:spPr>
          <a:xfrm>
            <a:off x="9075420" y="2331720"/>
            <a:ext cx="1463040" cy="1463040"/>
          </a:xfrm>
          <a:prstGeom prst="ellipse">
            <a:avLst/>
          </a:prstGeom>
          <a:solidFill>
            <a:srgbClr val="1B2233"/>
          </a:solidFill>
          <a:ln/>
        </p:spPr>
      </p:sp>
      <p:pic>
        <p:nvPicPr>
          <p:cNvPr id="24"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441180" y="2697480"/>
            <a:ext cx="731520" cy="731520"/>
          </a:xfrm>
          <a:prstGeom prst="rect">
            <a:avLst/>
          </a:prstGeom>
        </p:spPr>
      </p:pic>
      <p:sp>
        <p:nvSpPr>
          <p:cNvPr id="25" name="Text 19"/>
          <p:cNvSpPr txBox="1"/>
          <p:nvPr/>
        </p:nvSpPr>
        <p:spPr>
          <a:xfrm>
            <a:off x="8138160" y="3931920"/>
            <a:ext cx="3337560" cy="548640"/>
          </a:xfrm>
          <a:prstGeom prst="rect">
            <a:avLst/>
          </a:prstGeom>
          <a:noFill/>
          <a:ln/>
        </p:spPr>
        <p:txBody>
          <a:bodyPr wrap="square" lIns="0" tIns="0" rIns="0" bIns="0" rtlCol="0" anchor="t"/>
          <a:lstStyle/>
          <a:p>
            <a:pPr algn="ctr" indent="0" marL="0">
              <a:buNone/>
            </a:pPr>
            <a:r>
              <a:rPr lang="fr-FR" altLang="en-US" sz="3200" b="1" dirty="0">
                <a:solidFill>
                  <a:srgbClr val="1B2233"/>
                </a:solidFill>
                <a:latin typeface="Calibri" pitchFamily="34" charset="0"/>
                <a:ea typeface="Calibri" pitchFamily="34" charset="-122"/>
                <a:cs typeface="Calibri" pitchFamily="34" charset="-120"/>
              </a:rPr>
              <a:t>Code</a:t>
            </a:r>
            <a:endParaRPr lang="fr-FR" sz="3200" dirty="0"/>
          </a:p>
        </p:txBody>
      </p:sp>
      <p:sp>
        <p:nvSpPr>
          <p:cNvPr id="26" name="Text 20"/>
          <p:cNvSpPr txBox="1"/>
          <p:nvPr/>
        </p:nvSpPr>
        <p:spPr>
          <a:xfrm>
            <a:off x="8412480" y="4572000"/>
            <a:ext cx="2788920" cy="822960"/>
          </a:xfrm>
          <a:prstGeom prst="rect">
            <a:avLst/>
          </a:prstGeom>
          <a:noFill/>
          <a:ln/>
        </p:spPr>
        <p:txBody>
          <a:bodyPr wrap="square" lIns="0" tIns="0" rIns="0" bIns="0" rtlCol="0" anchor="t"/>
          <a:lstStyle/>
          <a:p>
            <a:pPr algn="ctr" indent="0" marL="0">
              <a:buNone/>
            </a:pPr>
            <a:r>
              <a:rPr lang="fr-FR" altLang="en-US" sz="1900" dirty="0">
                <a:solidFill>
                  <a:srgbClr val="1B2233"/>
                </a:solidFill>
                <a:latin typeface="Calibri" pitchFamily="34" charset="0"/>
                <a:ea typeface="Calibri" pitchFamily="34" charset="-122"/>
                <a:cs typeface="Calibri" pitchFamily="34" charset="-120"/>
              </a:rPr>
              <a:t>Claude agit dans un dossier</a:t>
            </a:r>
            <a:endParaRPr lang="fr-FR" sz="1900" dirty="0"/>
          </a:p>
        </p:txBody>
      </p:sp>
      <p:sp>
        <p:nvSpPr>
          <p:cNvPr id="27" name="Text 21"/>
          <p:cNvSpPr txBox="1"/>
          <p:nvPr/>
        </p:nvSpPr>
        <p:spPr>
          <a:xfrm>
            <a:off x="457200" y="6035040"/>
            <a:ext cx="11277295" cy="365760"/>
          </a:xfrm>
          <a:prstGeom prst="rect">
            <a:avLst/>
          </a:prstGeom>
          <a:noFill/>
          <a:ln/>
        </p:spPr>
        <p:txBody>
          <a:bodyPr wrap="square" lIns="0" tIns="0" rIns="0" bIns="0" rtlCol="0" anchor="t"/>
          <a:lstStyle/>
          <a:p>
            <a:pPr algn="ctr" indent="0" marL="0">
              <a:buNone/>
            </a:pPr>
            <a:r>
              <a:rPr lang="fr-FR" altLang="en-US" sz="1800" i="1" dirty="0">
                <a:solidFill>
                  <a:srgbClr val="566070"/>
                </a:solidFill>
                <a:latin typeface="Calibri" pitchFamily="34" charset="0"/>
                <a:ea typeface="Calibri" pitchFamily="34" charset="-122"/>
                <a:cs typeface="Calibri" pitchFamily="34" charset="-120"/>
              </a:rPr>
              <a:t>Skill du compte, disponible partout.</a:t>
            </a:r>
            <a:endParaRPr lang="fr-FR" sz="1800" dirty="0"/>
          </a:p>
        </p:txBody>
      </p:sp>
      <p:sp>
        <p:nvSpPr>
          <p:cNvPr id="28" name="Text 22"/>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4 · Où créer</a:t>
            </a:r>
            <a:endParaRPr lang="fr-FR" sz="1400" dirty="0"/>
          </a:p>
        </p:txBody>
      </p:sp>
      <p:sp>
        <p:nvSpPr>
          <p:cNvPr id="29" name="Text 23"/>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16</a:t>
            </a:r>
            <a:endParaRPr lang="fr-FR"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Avantages et limites</a:t>
            </a:r>
            <a:endParaRPr lang="fr-FR" sz="4000" dirty="0"/>
          </a:p>
        </p:txBody>
      </p:sp>
      <p:sp>
        <p:nvSpPr>
          <p:cNvPr id="3" name="Shape 1"/>
          <p:cNvSpPr/>
          <p:nvPr/>
        </p:nvSpPr>
        <p:spPr>
          <a:xfrm>
            <a:off x="548640" y="1828800"/>
            <a:ext cx="3566160" cy="4343400"/>
          </a:xfrm>
          <a:prstGeom prst="roundRect">
            <a:avLst>
              <a:gd name="adj" fmla="val 3846"/>
            </a:avLst>
          </a:prstGeom>
          <a:solidFill>
            <a:srgbClr val="F1F3F6"/>
          </a:solidFill>
          <a:ln/>
        </p:spPr>
      </p:sp>
      <p:sp>
        <p:nvSpPr>
          <p:cNvPr id="4" name="Shape 2"/>
          <p:cNvSpPr/>
          <p:nvPr/>
        </p:nvSpPr>
        <p:spPr>
          <a:xfrm>
            <a:off x="777240" y="2011680"/>
            <a:ext cx="731520" cy="731520"/>
          </a:xfrm>
          <a:prstGeom prst="ellipse">
            <a:avLst/>
          </a:prstGeom>
          <a:solidFill>
            <a:srgbClr val="B8235A"/>
          </a:solidFill>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60120" y="2194560"/>
            <a:ext cx="365760" cy="365760"/>
          </a:xfrm>
          <a:prstGeom prst="rect">
            <a:avLst/>
          </a:prstGeom>
        </p:spPr>
      </p:pic>
      <p:sp>
        <p:nvSpPr>
          <p:cNvPr id="6" name="Text 3"/>
          <p:cNvSpPr txBox="1"/>
          <p:nvPr/>
        </p:nvSpPr>
        <p:spPr>
          <a:xfrm>
            <a:off x="1645920" y="2011680"/>
            <a:ext cx="2286000" cy="731520"/>
          </a:xfrm>
          <a:prstGeom prst="rect">
            <a:avLst/>
          </a:prstGeom>
          <a:noFill/>
          <a:ln/>
        </p:spPr>
        <p:txBody>
          <a:bodyPr wrap="square" lIns="0" tIns="0" rIns="0" bIns="0" rtlCol="0" anchor="ctr"/>
          <a:lstStyle/>
          <a:p>
            <a:pPr indent="0" marL="0">
              <a:buNone/>
            </a:pPr>
            <a:r>
              <a:rPr lang="fr-FR" altLang="en-US" sz="3000" b="1" dirty="0">
                <a:solidFill>
                  <a:srgbClr val="B8235A"/>
                </a:solidFill>
                <a:latin typeface="Calibri" pitchFamily="34" charset="0"/>
                <a:ea typeface="Calibri" pitchFamily="34" charset="-122"/>
                <a:cs typeface="Calibri" pitchFamily="34" charset="-120"/>
              </a:rPr>
              <a:t>Chat</a:t>
            </a:r>
            <a:endParaRPr lang="fr-FR" sz="3000" dirty="0"/>
          </a:p>
        </p:txBody>
      </p:sp>
      <p:pic>
        <p:nvPicPr>
          <p:cNvPr id="7"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2960" y="2990088"/>
            <a:ext cx="310896" cy="310896"/>
          </a:xfrm>
          <a:prstGeom prst="rect">
            <a:avLst/>
          </a:prstGeom>
        </p:spPr>
      </p:pic>
      <p:sp>
        <p:nvSpPr>
          <p:cNvPr id="8" name="Text 4"/>
          <p:cNvSpPr txBox="1"/>
          <p:nvPr/>
        </p:nvSpPr>
        <p:spPr>
          <a:xfrm>
            <a:off x="1280160" y="2926080"/>
            <a:ext cx="2651760" cy="4572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Rien à installer</a:t>
            </a:r>
            <a:endParaRPr lang="fr-FR" sz="1800" dirty="0"/>
          </a:p>
        </p:txBody>
      </p:sp>
      <p:pic>
        <p:nvPicPr>
          <p:cNvPr id="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2960" y="3520440"/>
            <a:ext cx="310896" cy="310896"/>
          </a:xfrm>
          <a:prstGeom prst="rect">
            <a:avLst/>
          </a:prstGeom>
        </p:spPr>
      </p:pic>
      <p:sp>
        <p:nvSpPr>
          <p:cNvPr id="10" name="Text 5"/>
          <p:cNvSpPr txBox="1"/>
          <p:nvPr/>
        </p:nvSpPr>
        <p:spPr>
          <a:xfrm>
            <a:off x="1280160" y="3456432"/>
            <a:ext cx="2651760" cy="4572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Guidé pas à pas</a:t>
            </a:r>
            <a:endParaRPr lang="fr-FR" sz="1800" dirty="0"/>
          </a:p>
        </p:txBody>
      </p:sp>
      <p:pic>
        <p:nvPicPr>
          <p:cNvPr id="11"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2960" y="4050792"/>
            <a:ext cx="310896" cy="310896"/>
          </a:xfrm>
          <a:prstGeom prst="rect">
            <a:avLst/>
          </a:prstGeom>
        </p:spPr>
      </p:pic>
      <p:sp>
        <p:nvSpPr>
          <p:cNvPr id="12" name="Text 6"/>
          <p:cNvSpPr txBox="1"/>
          <p:nvPr/>
        </p:nvSpPr>
        <p:spPr>
          <a:xfrm>
            <a:off x="1280160" y="3986784"/>
            <a:ext cx="2651760" cy="4572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Fichier de skill prêt</a:t>
            </a:r>
            <a:endParaRPr lang="fr-FR" sz="1800" dirty="0"/>
          </a:p>
        </p:txBody>
      </p:sp>
      <p:sp>
        <p:nvSpPr>
          <p:cNvPr id="13" name="Shape 7"/>
          <p:cNvSpPr/>
          <p:nvPr/>
        </p:nvSpPr>
        <p:spPr>
          <a:xfrm>
            <a:off x="822960" y="4590288"/>
            <a:ext cx="3017520" cy="0"/>
          </a:xfrm>
          <a:prstGeom prst="line">
            <a:avLst/>
          </a:prstGeom>
          <a:noFill/>
          <a:ln w="12700">
            <a:solidFill>
              <a:srgbClr val="D5D9E0"/>
            </a:solidFill>
            <a:prstDash val="solid"/>
          </a:ln>
        </p:spPr>
      </p:sp>
      <p:pic>
        <p:nvPicPr>
          <p:cNvPr id="14"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2960" y="4809744"/>
            <a:ext cx="310896" cy="310896"/>
          </a:xfrm>
          <a:prstGeom prst="rect">
            <a:avLst/>
          </a:prstGeom>
        </p:spPr>
      </p:pic>
      <p:sp>
        <p:nvSpPr>
          <p:cNvPr id="15" name="Text 8"/>
          <p:cNvSpPr txBox="1"/>
          <p:nvPr/>
        </p:nvSpPr>
        <p:spPr>
          <a:xfrm>
            <a:off x="1280160" y="4745736"/>
            <a:ext cx="2651760" cy="457200"/>
          </a:xfrm>
          <a:prstGeom prst="rect">
            <a:avLst/>
          </a:prstGeom>
          <a:noFill/>
          <a:ln/>
        </p:spPr>
        <p:txBody>
          <a:bodyPr wrap="square" lIns="0" tIns="0" rIns="0" bIns="0" rtlCol="0" anchor="ctr"/>
          <a:lstStyle/>
          <a:p>
            <a:pPr indent="0" marL="0">
              <a:buNone/>
            </a:pPr>
            <a:r>
              <a:rPr lang="fr-FR" altLang="en-US" sz="1800" dirty="0">
                <a:solidFill>
                  <a:srgbClr val="566070"/>
                </a:solidFill>
                <a:latin typeface="Calibri" pitchFamily="34" charset="0"/>
                <a:ea typeface="Calibri" pitchFamily="34" charset="-122"/>
                <a:cs typeface="Calibri" pitchFamily="34" charset="-120"/>
              </a:rPr>
              <a:t>Ne voit pas vos dossiers</a:t>
            </a:r>
            <a:endParaRPr lang="fr-FR" sz="1800" dirty="0"/>
          </a:p>
        </p:txBody>
      </p:sp>
      <p:pic>
        <p:nvPicPr>
          <p:cNvPr id="16"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22960" y="5340096"/>
            <a:ext cx="310896" cy="310896"/>
          </a:xfrm>
          <a:prstGeom prst="rect">
            <a:avLst/>
          </a:prstGeom>
        </p:spPr>
      </p:pic>
      <p:sp>
        <p:nvSpPr>
          <p:cNvPr id="17" name="Text 9"/>
          <p:cNvSpPr txBox="1"/>
          <p:nvPr/>
        </p:nvSpPr>
        <p:spPr>
          <a:xfrm>
            <a:off x="1280160" y="5276088"/>
            <a:ext cx="2651760" cy="457200"/>
          </a:xfrm>
          <a:prstGeom prst="rect">
            <a:avLst/>
          </a:prstGeom>
          <a:noFill/>
          <a:ln/>
        </p:spPr>
        <p:txBody>
          <a:bodyPr wrap="square" lIns="0" tIns="0" rIns="0" bIns="0" rtlCol="0" anchor="ctr"/>
          <a:lstStyle/>
          <a:p>
            <a:pPr indent="0" marL="0">
              <a:buNone/>
            </a:pPr>
            <a:r>
              <a:rPr lang="fr-FR" altLang="en-US" sz="1800" dirty="0">
                <a:solidFill>
                  <a:srgbClr val="566070"/>
                </a:solidFill>
                <a:latin typeface="Calibri" pitchFamily="34" charset="0"/>
                <a:ea typeface="Calibri" pitchFamily="34" charset="-122"/>
                <a:cs typeface="Calibri" pitchFamily="34" charset="-120"/>
              </a:rPr>
              <a:t>Fichiers joints un à un</a:t>
            </a:r>
            <a:endParaRPr lang="fr-FR" sz="1800" dirty="0"/>
          </a:p>
        </p:txBody>
      </p:sp>
      <p:sp>
        <p:nvSpPr>
          <p:cNvPr id="18" name="Shape 10"/>
          <p:cNvSpPr/>
          <p:nvPr/>
        </p:nvSpPr>
        <p:spPr>
          <a:xfrm>
            <a:off x="4297680" y="1828800"/>
            <a:ext cx="3566160" cy="4343400"/>
          </a:xfrm>
          <a:prstGeom prst="roundRect">
            <a:avLst>
              <a:gd name="adj" fmla="val 3846"/>
            </a:avLst>
          </a:prstGeom>
          <a:solidFill>
            <a:srgbClr val="F1F3F6"/>
          </a:solidFill>
          <a:ln/>
        </p:spPr>
      </p:sp>
      <p:sp>
        <p:nvSpPr>
          <p:cNvPr id="19" name="Shape 11"/>
          <p:cNvSpPr/>
          <p:nvPr/>
        </p:nvSpPr>
        <p:spPr>
          <a:xfrm>
            <a:off x="4526280" y="2011680"/>
            <a:ext cx="731520" cy="731520"/>
          </a:xfrm>
          <a:prstGeom prst="ellipse">
            <a:avLst/>
          </a:prstGeom>
          <a:solidFill>
            <a:srgbClr val="2F5FC4"/>
          </a:solidFill>
          <a:ln/>
        </p:spPr>
      </p:sp>
      <p:pic>
        <p:nvPicPr>
          <p:cNvPr id="20"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709160" y="2194560"/>
            <a:ext cx="365760" cy="365760"/>
          </a:xfrm>
          <a:prstGeom prst="rect">
            <a:avLst/>
          </a:prstGeom>
        </p:spPr>
      </p:pic>
      <p:sp>
        <p:nvSpPr>
          <p:cNvPr id="21" name="Text 12"/>
          <p:cNvSpPr txBox="1"/>
          <p:nvPr/>
        </p:nvSpPr>
        <p:spPr>
          <a:xfrm>
            <a:off x="5394960" y="2011680"/>
            <a:ext cx="2286000" cy="731520"/>
          </a:xfrm>
          <a:prstGeom prst="rect">
            <a:avLst/>
          </a:prstGeom>
          <a:noFill/>
          <a:ln/>
        </p:spPr>
        <p:txBody>
          <a:bodyPr wrap="square" lIns="0" tIns="0" rIns="0" bIns="0" rtlCol="0" anchor="ctr"/>
          <a:lstStyle/>
          <a:p>
            <a:pPr indent="0" marL="0">
              <a:buNone/>
            </a:pPr>
            <a:r>
              <a:rPr lang="fr-FR" altLang="en-US" sz="3000" b="1" dirty="0">
                <a:solidFill>
                  <a:srgbClr val="2F5FC4"/>
                </a:solidFill>
                <a:latin typeface="Calibri" pitchFamily="34" charset="0"/>
                <a:ea typeface="Calibri" pitchFamily="34" charset="-122"/>
                <a:cs typeface="Calibri" pitchFamily="34" charset="-120"/>
              </a:rPr>
              <a:t>Cowork</a:t>
            </a:r>
            <a:endParaRPr lang="fr-FR" sz="3000" dirty="0"/>
          </a:p>
        </p:txBody>
      </p:sp>
      <p:pic>
        <p:nvPicPr>
          <p:cNvPr id="22" name="Image 7"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572000" y="2990088"/>
            <a:ext cx="310896" cy="310896"/>
          </a:xfrm>
          <a:prstGeom prst="rect">
            <a:avLst/>
          </a:prstGeom>
        </p:spPr>
      </p:pic>
      <p:sp>
        <p:nvSpPr>
          <p:cNvPr id="23" name="Text 13"/>
          <p:cNvSpPr txBox="1"/>
          <p:nvPr/>
        </p:nvSpPr>
        <p:spPr>
          <a:xfrm>
            <a:off x="5029200" y="2926080"/>
            <a:ext cx="2651760" cy="4572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Travaille dans vos dossiers</a:t>
            </a:r>
            <a:endParaRPr lang="fr-FR" sz="1800" dirty="0"/>
          </a:p>
        </p:txBody>
      </p:sp>
      <p:pic>
        <p:nvPicPr>
          <p:cNvPr id="24" name="Image 8"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572000" y="3520440"/>
            <a:ext cx="310896" cy="310896"/>
          </a:xfrm>
          <a:prstGeom prst="rect">
            <a:avLst/>
          </a:prstGeom>
        </p:spPr>
      </p:pic>
      <p:sp>
        <p:nvSpPr>
          <p:cNvPr id="25" name="Text 14"/>
          <p:cNvSpPr txBox="1"/>
          <p:nvPr/>
        </p:nvSpPr>
        <p:spPr>
          <a:xfrm>
            <a:off x="5029200" y="3456432"/>
            <a:ext cx="2651760" cy="4572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Produit de vrais fichiers</a:t>
            </a:r>
            <a:endParaRPr lang="fr-FR" sz="1800" dirty="0"/>
          </a:p>
        </p:txBody>
      </p:sp>
      <p:pic>
        <p:nvPicPr>
          <p:cNvPr id="26" name="Image 9"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4572000" y="4050792"/>
            <a:ext cx="310896" cy="310896"/>
          </a:xfrm>
          <a:prstGeom prst="rect">
            <a:avLst/>
          </a:prstGeom>
        </p:spPr>
      </p:pic>
      <p:sp>
        <p:nvSpPr>
          <p:cNvPr id="27" name="Text 15"/>
          <p:cNvSpPr txBox="1"/>
          <p:nvPr/>
        </p:nvSpPr>
        <p:spPr>
          <a:xfrm>
            <a:off x="5029200" y="3986784"/>
            <a:ext cx="2651760" cy="4572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Idéal avec des modèles</a:t>
            </a:r>
            <a:endParaRPr lang="fr-FR" sz="1800" dirty="0"/>
          </a:p>
        </p:txBody>
      </p:sp>
      <p:sp>
        <p:nvSpPr>
          <p:cNvPr id="28" name="Shape 16"/>
          <p:cNvSpPr/>
          <p:nvPr/>
        </p:nvSpPr>
        <p:spPr>
          <a:xfrm>
            <a:off x="4572000" y="4590288"/>
            <a:ext cx="3017520" cy="0"/>
          </a:xfrm>
          <a:prstGeom prst="line">
            <a:avLst/>
          </a:prstGeom>
          <a:noFill/>
          <a:ln w="12700">
            <a:solidFill>
              <a:srgbClr val="D5D9E0"/>
            </a:solidFill>
            <a:prstDash val="solid"/>
          </a:ln>
        </p:spPr>
      </p:sp>
      <p:pic>
        <p:nvPicPr>
          <p:cNvPr id="29" name="Image 10"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4572000" y="4809744"/>
            <a:ext cx="310896" cy="310896"/>
          </a:xfrm>
          <a:prstGeom prst="rect">
            <a:avLst/>
          </a:prstGeom>
        </p:spPr>
      </p:pic>
      <p:sp>
        <p:nvSpPr>
          <p:cNvPr id="30" name="Text 17"/>
          <p:cNvSpPr txBox="1"/>
          <p:nvPr/>
        </p:nvSpPr>
        <p:spPr>
          <a:xfrm>
            <a:off x="5029200" y="4745736"/>
            <a:ext cx="2651760" cy="457200"/>
          </a:xfrm>
          <a:prstGeom prst="rect">
            <a:avLst/>
          </a:prstGeom>
          <a:noFill/>
          <a:ln/>
        </p:spPr>
        <p:txBody>
          <a:bodyPr wrap="square" lIns="0" tIns="0" rIns="0" bIns="0" rtlCol="0" anchor="ctr"/>
          <a:lstStyle/>
          <a:p>
            <a:pPr indent="0" marL="0">
              <a:buNone/>
            </a:pPr>
            <a:r>
              <a:rPr lang="fr-FR" altLang="en-US" sz="1800" dirty="0">
                <a:solidFill>
                  <a:srgbClr val="566070"/>
                </a:solidFill>
                <a:latin typeface="Calibri" pitchFamily="34" charset="0"/>
                <a:ea typeface="Calibri" pitchFamily="34" charset="-122"/>
                <a:cs typeface="Calibri" pitchFamily="34" charset="-120"/>
              </a:rPr>
              <a:t>Application de bureau</a:t>
            </a:r>
            <a:endParaRPr lang="fr-FR" sz="1800" dirty="0"/>
          </a:p>
        </p:txBody>
      </p:sp>
      <p:pic>
        <p:nvPicPr>
          <p:cNvPr id="31" name="Image 11" descr="">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4572000" y="5340096"/>
            <a:ext cx="310896" cy="310896"/>
          </a:xfrm>
          <a:prstGeom prst="rect">
            <a:avLst/>
          </a:prstGeom>
        </p:spPr>
      </p:pic>
      <p:sp>
        <p:nvSpPr>
          <p:cNvPr id="32" name="Text 18"/>
          <p:cNvSpPr txBox="1"/>
          <p:nvPr/>
        </p:nvSpPr>
        <p:spPr>
          <a:xfrm>
            <a:off x="5029200" y="5276088"/>
            <a:ext cx="2651760" cy="457200"/>
          </a:xfrm>
          <a:prstGeom prst="rect">
            <a:avLst/>
          </a:prstGeom>
          <a:noFill/>
          <a:ln/>
        </p:spPr>
        <p:txBody>
          <a:bodyPr wrap="square" lIns="0" tIns="0" rIns="0" bIns="0" rtlCol="0" anchor="ctr"/>
          <a:lstStyle/>
          <a:p>
            <a:pPr indent="0" marL="0">
              <a:buNone/>
            </a:pPr>
            <a:r>
              <a:rPr lang="fr-FR" altLang="en-US" sz="1800" dirty="0">
                <a:solidFill>
                  <a:srgbClr val="566070"/>
                </a:solidFill>
                <a:latin typeface="Calibri" pitchFamily="34" charset="0"/>
                <a:ea typeface="Calibri" pitchFamily="34" charset="-122"/>
                <a:cs typeface="Calibri" pitchFamily="34" charset="-120"/>
              </a:rPr>
              <a:t>Dossiers à autoriser</a:t>
            </a:r>
            <a:endParaRPr lang="fr-FR" sz="1800" dirty="0"/>
          </a:p>
        </p:txBody>
      </p:sp>
      <p:sp>
        <p:nvSpPr>
          <p:cNvPr id="33" name="Shape 19"/>
          <p:cNvSpPr/>
          <p:nvPr/>
        </p:nvSpPr>
        <p:spPr>
          <a:xfrm>
            <a:off x="8046720" y="1828800"/>
            <a:ext cx="3566160" cy="4343400"/>
          </a:xfrm>
          <a:prstGeom prst="roundRect">
            <a:avLst>
              <a:gd name="adj" fmla="val 3846"/>
            </a:avLst>
          </a:prstGeom>
          <a:solidFill>
            <a:srgbClr val="F1F3F6"/>
          </a:solidFill>
          <a:ln/>
        </p:spPr>
      </p:sp>
      <p:sp>
        <p:nvSpPr>
          <p:cNvPr id="34" name="Shape 20"/>
          <p:cNvSpPr/>
          <p:nvPr/>
        </p:nvSpPr>
        <p:spPr>
          <a:xfrm>
            <a:off x="8275320" y="2011680"/>
            <a:ext cx="731520" cy="731520"/>
          </a:xfrm>
          <a:prstGeom prst="ellipse">
            <a:avLst/>
          </a:prstGeom>
          <a:solidFill>
            <a:srgbClr val="1B2233"/>
          </a:solidFill>
          <a:ln/>
        </p:spPr>
      </p:sp>
      <p:pic>
        <p:nvPicPr>
          <p:cNvPr id="35" name="Image 12" descr="">
            <a:extLs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8458200" y="2194560"/>
            <a:ext cx="365760" cy="365760"/>
          </a:xfrm>
          <a:prstGeom prst="rect">
            <a:avLst/>
          </a:prstGeom>
        </p:spPr>
      </p:pic>
      <p:sp>
        <p:nvSpPr>
          <p:cNvPr id="36" name="Text 21"/>
          <p:cNvSpPr txBox="1"/>
          <p:nvPr/>
        </p:nvSpPr>
        <p:spPr>
          <a:xfrm>
            <a:off x="9144000" y="2011680"/>
            <a:ext cx="2286000" cy="731520"/>
          </a:xfrm>
          <a:prstGeom prst="rect">
            <a:avLst/>
          </a:prstGeom>
          <a:noFill/>
          <a:ln/>
        </p:spPr>
        <p:txBody>
          <a:bodyPr wrap="square" lIns="0" tIns="0" rIns="0" bIns="0" rtlCol="0" anchor="ctr"/>
          <a:lstStyle/>
          <a:p>
            <a:pPr indent="0" marL="0">
              <a:buNone/>
            </a:pPr>
            <a:r>
              <a:rPr lang="fr-FR" altLang="en-US" sz="3000" b="1" dirty="0">
                <a:solidFill>
                  <a:srgbClr val="1B2233"/>
                </a:solidFill>
                <a:latin typeface="Calibri" pitchFamily="34" charset="0"/>
                <a:ea typeface="Calibri" pitchFamily="34" charset="-122"/>
                <a:cs typeface="Calibri" pitchFamily="34" charset="-120"/>
              </a:rPr>
              <a:t>Code</a:t>
            </a:r>
            <a:endParaRPr lang="fr-FR" sz="3000" dirty="0"/>
          </a:p>
        </p:txBody>
      </p:sp>
      <p:pic>
        <p:nvPicPr>
          <p:cNvPr id="37" name="Image 13" descr="">
            <a:extLs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8321040" y="2990088"/>
            <a:ext cx="310896" cy="310896"/>
          </a:xfrm>
          <a:prstGeom prst="rect">
            <a:avLst/>
          </a:prstGeom>
        </p:spPr>
      </p:pic>
      <p:sp>
        <p:nvSpPr>
          <p:cNvPr id="38" name="Text 22"/>
          <p:cNvSpPr txBox="1"/>
          <p:nvPr/>
        </p:nvSpPr>
        <p:spPr>
          <a:xfrm>
            <a:off x="8778240" y="2926080"/>
            <a:ext cx="2651760" cy="4572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Voit toute la skill</a:t>
            </a:r>
            <a:endParaRPr lang="fr-FR" sz="1800" dirty="0"/>
          </a:p>
        </p:txBody>
      </p:sp>
      <p:pic>
        <p:nvPicPr>
          <p:cNvPr id="39" name="Image 14" descr="">
            <a:extLst>
              <a:ext uri="{C183D7F6-B498-43B3-948B-1728B52AA6E4}">
                <adec:decorative xmlns:adec="http://schemas.microsoft.com/office/drawing/2017/decorative" val="1"/>
              </a:ext>
            </a:extLst>
          </p:cNvPr>
          <p:cNvPicPr>
            <a:picLocks noChangeAspect="1"/>
          </p:cNvPicPr>
          <p:nvPr/>
        </p:nvPicPr>
        <p:blipFill>
          <a:blip r:embed="rId15"/>
          <a:stretch>
            <a:fillRect/>
          </a:stretch>
        </p:blipFill>
        <p:spPr>
          <a:xfrm>
            <a:off x="8321040" y="3520440"/>
            <a:ext cx="310896" cy="310896"/>
          </a:xfrm>
          <a:prstGeom prst="rect">
            <a:avLst/>
          </a:prstGeom>
        </p:spPr>
      </p:pic>
      <p:sp>
        <p:nvSpPr>
          <p:cNvPr id="40" name="Text 23"/>
          <p:cNvSpPr txBox="1"/>
          <p:nvPr/>
        </p:nvSpPr>
        <p:spPr>
          <a:xfrm>
            <a:off x="8778240" y="3456432"/>
            <a:ext cx="2651760" cy="4572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Mode plan : relire avant</a:t>
            </a:r>
            <a:endParaRPr lang="fr-FR" sz="1800" dirty="0"/>
          </a:p>
        </p:txBody>
      </p:sp>
      <p:pic>
        <p:nvPicPr>
          <p:cNvPr id="41" name="Image 15" descr="">
            <a:extLst>
              <a:ext uri="{C183D7F6-B498-43B3-948B-1728B52AA6E4}">
                <adec:decorative xmlns:adec="http://schemas.microsoft.com/office/drawing/2017/decorative" val="1"/>
              </a:ext>
            </a:extLst>
          </p:cNvPr>
          <p:cNvPicPr>
            <a:picLocks noChangeAspect="1"/>
          </p:cNvPicPr>
          <p:nvPr/>
        </p:nvPicPr>
        <p:blipFill>
          <a:blip r:embed="rId16"/>
          <a:stretch>
            <a:fillRect/>
          </a:stretch>
        </p:blipFill>
        <p:spPr>
          <a:xfrm>
            <a:off x="8321040" y="4050792"/>
            <a:ext cx="310896" cy="310896"/>
          </a:xfrm>
          <a:prstGeom prst="rect">
            <a:avLst/>
          </a:prstGeom>
        </p:spPr>
      </p:pic>
      <p:sp>
        <p:nvSpPr>
          <p:cNvPr id="42" name="Text 24"/>
          <p:cNvSpPr txBox="1"/>
          <p:nvPr/>
        </p:nvSpPr>
        <p:spPr>
          <a:xfrm>
            <a:off x="8778240" y="3986784"/>
            <a:ext cx="2651760" cy="4572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Partage d'équipe facile</a:t>
            </a:r>
            <a:endParaRPr lang="fr-FR" sz="1800" dirty="0"/>
          </a:p>
        </p:txBody>
      </p:sp>
      <p:sp>
        <p:nvSpPr>
          <p:cNvPr id="43" name="Shape 25"/>
          <p:cNvSpPr/>
          <p:nvPr/>
        </p:nvSpPr>
        <p:spPr>
          <a:xfrm>
            <a:off x="8321040" y="4590288"/>
            <a:ext cx="3017520" cy="0"/>
          </a:xfrm>
          <a:prstGeom prst="line">
            <a:avLst/>
          </a:prstGeom>
          <a:noFill/>
          <a:ln w="12700">
            <a:solidFill>
              <a:srgbClr val="D5D9E0"/>
            </a:solidFill>
            <a:prstDash val="solid"/>
          </a:ln>
        </p:spPr>
      </p:sp>
      <p:pic>
        <p:nvPicPr>
          <p:cNvPr id="44" name="Image 16" descr="">
            <a:extLst>
              <a:ext uri="{C183D7F6-B498-43B3-948B-1728B52AA6E4}">
                <adec:decorative xmlns:adec="http://schemas.microsoft.com/office/drawing/2017/decorative" val="1"/>
              </a:ext>
            </a:extLst>
          </p:cNvPr>
          <p:cNvPicPr>
            <a:picLocks noChangeAspect="1"/>
          </p:cNvPicPr>
          <p:nvPr/>
        </p:nvPicPr>
        <p:blipFill>
          <a:blip r:embed="rId17"/>
          <a:stretch>
            <a:fillRect/>
          </a:stretch>
        </p:blipFill>
        <p:spPr>
          <a:xfrm>
            <a:off x="8321040" y="4809744"/>
            <a:ext cx="310896" cy="310896"/>
          </a:xfrm>
          <a:prstGeom prst="rect">
            <a:avLst/>
          </a:prstGeom>
        </p:spPr>
      </p:pic>
      <p:sp>
        <p:nvSpPr>
          <p:cNvPr id="45" name="Text 26"/>
          <p:cNvSpPr txBox="1"/>
          <p:nvPr/>
        </p:nvSpPr>
        <p:spPr>
          <a:xfrm>
            <a:off x="8778240" y="4745736"/>
            <a:ext cx="2651760" cy="457200"/>
          </a:xfrm>
          <a:prstGeom prst="rect">
            <a:avLst/>
          </a:prstGeom>
          <a:noFill/>
          <a:ln/>
        </p:spPr>
        <p:txBody>
          <a:bodyPr wrap="square" lIns="0" tIns="0" rIns="0" bIns="0" rtlCol="0" anchor="ctr"/>
          <a:lstStyle/>
          <a:p>
            <a:pPr indent="0" marL="0">
              <a:buNone/>
            </a:pPr>
            <a:r>
              <a:rPr lang="fr-FR" altLang="en-US" sz="1800" dirty="0">
                <a:solidFill>
                  <a:srgbClr val="566070"/>
                </a:solidFill>
                <a:latin typeface="Calibri" pitchFamily="34" charset="0"/>
                <a:ea typeface="Calibri" pitchFamily="34" charset="-122"/>
                <a:cs typeface="Calibri" pitchFamily="34" charset="-120"/>
              </a:rPr>
              <a:t>Intimide au début</a:t>
            </a:r>
            <a:endParaRPr lang="fr-FR" sz="1800" dirty="0"/>
          </a:p>
        </p:txBody>
      </p:sp>
      <p:pic>
        <p:nvPicPr>
          <p:cNvPr id="46" name="Image 17" descr="">
            <a:extLst>
              <a:ext uri="{C183D7F6-B498-43B3-948B-1728B52AA6E4}">
                <adec:decorative xmlns:adec="http://schemas.microsoft.com/office/drawing/2017/decorative" val="1"/>
              </a:ext>
            </a:extLst>
          </p:cNvPr>
          <p:cNvPicPr>
            <a:picLocks noChangeAspect="1"/>
          </p:cNvPicPr>
          <p:nvPr/>
        </p:nvPicPr>
        <p:blipFill>
          <a:blip r:embed="rId18"/>
          <a:stretch>
            <a:fillRect/>
          </a:stretch>
        </p:blipFill>
        <p:spPr>
          <a:xfrm>
            <a:off x="8321040" y="5340096"/>
            <a:ext cx="310896" cy="310896"/>
          </a:xfrm>
          <a:prstGeom prst="rect">
            <a:avLst/>
          </a:prstGeom>
        </p:spPr>
      </p:pic>
      <p:sp>
        <p:nvSpPr>
          <p:cNvPr id="47" name="Text 27"/>
          <p:cNvSpPr txBox="1"/>
          <p:nvPr/>
        </p:nvSpPr>
        <p:spPr>
          <a:xfrm>
            <a:off x="8778240" y="5276088"/>
            <a:ext cx="2651760" cy="457200"/>
          </a:xfrm>
          <a:prstGeom prst="rect">
            <a:avLst/>
          </a:prstGeom>
          <a:noFill/>
          <a:ln/>
        </p:spPr>
        <p:txBody>
          <a:bodyPr wrap="square" lIns="0" tIns="0" rIns="0" bIns="0" rtlCol="0" anchor="ctr"/>
          <a:lstStyle/>
          <a:p>
            <a:pPr indent="0" marL="0">
              <a:buNone/>
            </a:pPr>
            <a:r>
              <a:rPr lang="fr-FR" altLang="en-US" sz="1800" dirty="0">
                <a:solidFill>
                  <a:srgbClr val="566070"/>
                </a:solidFill>
                <a:latin typeface="Calibri" pitchFamily="34" charset="0"/>
                <a:ea typeface="Calibri" pitchFamily="34" charset="-122"/>
                <a:cs typeface="Calibri" pitchFamily="34" charset="-120"/>
              </a:rPr>
              <a:t>Quelques mots nouveaux</a:t>
            </a:r>
            <a:endParaRPr lang="fr-FR" sz="1800" dirty="0"/>
          </a:p>
        </p:txBody>
      </p:sp>
      <p:sp>
        <p:nvSpPr>
          <p:cNvPr id="48" name="Text 2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4 · Où créer</a:t>
            </a:r>
            <a:endParaRPr lang="fr-FR" sz="1400" dirty="0"/>
          </a:p>
        </p:txBody>
      </p:sp>
      <p:sp>
        <p:nvSpPr>
          <p:cNvPr id="49" name="Text 2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17</a:t>
            </a:r>
            <a:endParaRPr lang="fr-FR"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Code ? Même pas peur !</a:t>
            </a:r>
            <a:endParaRPr lang="fr-FR" sz="4000" dirty="0"/>
          </a:p>
        </p:txBody>
      </p:sp>
      <p:sp>
        <p:nvSpPr>
          <p:cNvPr id="3" name="Shape 1"/>
          <p:cNvSpPr/>
          <p:nvPr/>
        </p:nvSpPr>
        <p:spPr>
          <a:xfrm>
            <a:off x="731520" y="1874520"/>
            <a:ext cx="4754880" cy="868680"/>
          </a:xfrm>
          <a:prstGeom prst="roundRect">
            <a:avLst>
              <a:gd name="adj" fmla="val 15789"/>
            </a:avLst>
          </a:prstGeom>
          <a:solidFill>
            <a:srgbClr val="F9E4E4"/>
          </a:solidFill>
          <a:ln/>
        </p:spPr>
      </p:sp>
      <p:pic>
        <p:nvPicPr>
          <p:cNvPr id="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60120" y="2121408"/>
            <a:ext cx="384048" cy="384048"/>
          </a:xfrm>
          <a:prstGeom prst="rect">
            <a:avLst/>
          </a:prstGeom>
        </p:spPr>
      </p:pic>
      <p:sp>
        <p:nvSpPr>
          <p:cNvPr id="5" name="Text 2"/>
          <p:cNvSpPr txBox="1"/>
          <p:nvPr/>
        </p:nvSpPr>
        <p:spPr>
          <a:xfrm>
            <a:off x="1554480" y="1874520"/>
            <a:ext cx="3840480" cy="868680"/>
          </a:xfrm>
          <a:prstGeom prst="rect">
            <a:avLst/>
          </a:prstGeom>
          <a:noFill/>
          <a:ln/>
        </p:spPr>
        <p:txBody>
          <a:bodyPr wrap="square" lIns="0" tIns="0" rIns="0" bIns="0" rtlCol="0" anchor="ctr"/>
          <a:lstStyle/>
          <a:p>
            <a:pPr indent="0" marL="0">
              <a:buNone/>
            </a:pPr>
            <a:r>
              <a:rPr lang="fr-FR" altLang="en-US" sz="2200" strike="sngStrike" dirty="0">
                <a:solidFill>
                  <a:srgbClr val="8C2A2E"/>
                </a:solidFill>
                <a:latin typeface="Calibri" pitchFamily="34" charset="0"/>
                <a:ea typeface="Calibri" pitchFamily="34" charset="-122"/>
                <a:cs typeface="Calibri" pitchFamily="34" charset="-120"/>
              </a:rPr>
              <a:t>Il faut savoir coder</a:t>
            </a:r>
            <a:endParaRPr lang="fr-FR" sz="2200" dirty="0"/>
          </a:p>
        </p:txBody>
      </p:sp>
      <p:pic>
        <p:nvPicPr>
          <p:cNvPr id="6"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60720" y="2075688"/>
            <a:ext cx="457200" cy="457200"/>
          </a:xfrm>
          <a:prstGeom prst="rect">
            <a:avLst/>
          </a:prstGeom>
        </p:spPr>
      </p:pic>
      <p:sp>
        <p:nvSpPr>
          <p:cNvPr id="7" name="Shape 3"/>
          <p:cNvSpPr/>
          <p:nvPr/>
        </p:nvSpPr>
        <p:spPr>
          <a:xfrm>
            <a:off x="6492240" y="1874520"/>
            <a:ext cx="4937760" cy="868680"/>
          </a:xfrm>
          <a:prstGeom prst="roundRect">
            <a:avLst>
              <a:gd name="adj" fmla="val 15789"/>
            </a:avLst>
          </a:prstGeom>
          <a:solidFill>
            <a:srgbClr val="E2F2EA"/>
          </a:solidFill>
          <a:ln/>
        </p:spPr>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720840" y="2121408"/>
            <a:ext cx="384048" cy="384048"/>
          </a:xfrm>
          <a:prstGeom prst="rect">
            <a:avLst/>
          </a:prstGeom>
        </p:spPr>
      </p:pic>
      <p:sp>
        <p:nvSpPr>
          <p:cNvPr id="9" name="Text 4"/>
          <p:cNvSpPr txBox="1"/>
          <p:nvPr/>
        </p:nvSpPr>
        <p:spPr>
          <a:xfrm>
            <a:off x="7315200" y="1874520"/>
            <a:ext cx="4023360" cy="868680"/>
          </a:xfrm>
          <a:prstGeom prst="rect">
            <a:avLst/>
          </a:prstGeom>
          <a:noFill/>
          <a:ln/>
        </p:spPr>
        <p:txBody>
          <a:bodyPr wrap="square" lIns="0" tIns="0" rIns="0" bIns="0" rtlCol="0" anchor="ctr"/>
          <a:lstStyle/>
          <a:p>
            <a:pPr indent="0" marL="0">
              <a:buNone/>
            </a:pPr>
            <a:r>
              <a:rPr lang="fr-FR" altLang="en-US" sz="2200" b="1" dirty="0">
                <a:solidFill>
                  <a:srgbClr val="1B2233"/>
                </a:solidFill>
                <a:latin typeface="Calibri" pitchFamily="34" charset="0"/>
                <a:ea typeface="Calibri" pitchFamily="34" charset="-122"/>
                <a:cs typeface="Calibri" pitchFamily="34" charset="-120"/>
              </a:rPr>
              <a:t>On lui parle en français</a:t>
            </a:r>
            <a:endParaRPr lang="fr-FR" sz="2200" dirty="0"/>
          </a:p>
        </p:txBody>
      </p:sp>
      <p:sp>
        <p:nvSpPr>
          <p:cNvPr id="10" name="Shape 5"/>
          <p:cNvSpPr/>
          <p:nvPr/>
        </p:nvSpPr>
        <p:spPr>
          <a:xfrm>
            <a:off x="731520" y="2953512"/>
            <a:ext cx="4754880" cy="868680"/>
          </a:xfrm>
          <a:prstGeom prst="roundRect">
            <a:avLst>
              <a:gd name="adj" fmla="val 15789"/>
            </a:avLst>
          </a:prstGeom>
          <a:solidFill>
            <a:srgbClr val="F9E4E4"/>
          </a:solidFill>
          <a:ln/>
        </p:spPr>
      </p:sp>
      <p:pic>
        <p:nvPicPr>
          <p:cNvPr id="11"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60120" y="3200400"/>
            <a:ext cx="384048" cy="384048"/>
          </a:xfrm>
          <a:prstGeom prst="rect">
            <a:avLst/>
          </a:prstGeom>
        </p:spPr>
      </p:pic>
      <p:sp>
        <p:nvSpPr>
          <p:cNvPr id="12" name="Text 6"/>
          <p:cNvSpPr txBox="1"/>
          <p:nvPr/>
        </p:nvSpPr>
        <p:spPr>
          <a:xfrm>
            <a:off x="1554480" y="2953512"/>
            <a:ext cx="3840480" cy="868680"/>
          </a:xfrm>
          <a:prstGeom prst="rect">
            <a:avLst/>
          </a:prstGeom>
          <a:noFill/>
          <a:ln/>
        </p:spPr>
        <p:txBody>
          <a:bodyPr wrap="square" lIns="0" tIns="0" rIns="0" bIns="0" rtlCol="0" anchor="ctr"/>
          <a:lstStyle/>
          <a:p>
            <a:pPr indent="0" marL="0">
              <a:buNone/>
            </a:pPr>
            <a:r>
              <a:rPr lang="fr-FR" altLang="en-US" sz="2200" strike="sngStrike" dirty="0">
                <a:solidFill>
                  <a:srgbClr val="8C2A2E"/>
                </a:solidFill>
                <a:latin typeface="Calibri" pitchFamily="34" charset="0"/>
                <a:ea typeface="Calibri" pitchFamily="34" charset="-122"/>
                <a:cs typeface="Calibri" pitchFamily="34" charset="-120"/>
              </a:rPr>
              <a:t>Un écran noir de hacker</a:t>
            </a:r>
            <a:endParaRPr lang="fr-FR" sz="2200" dirty="0"/>
          </a:p>
        </p:txBody>
      </p:sp>
      <p:pic>
        <p:nvPicPr>
          <p:cNvPr id="1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760720" y="3154680"/>
            <a:ext cx="457200" cy="457200"/>
          </a:xfrm>
          <a:prstGeom prst="rect">
            <a:avLst/>
          </a:prstGeom>
        </p:spPr>
      </p:pic>
      <p:sp>
        <p:nvSpPr>
          <p:cNvPr id="14" name="Shape 7"/>
          <p:cNvSpPr/>
          <p:nvPr/>
        </p:nvSpPr>
        <p:spPr>
          <a:xfrm>
            <a:off x="6492240" y="2953512"/>
            <a:ext cx="4937760" cy="868680"/>
          </a:xfrm>
          <a:prstGeom prst="roundRect">
            <a:avLst>
              <a:gd name="adj" fmla="val 15789"/>
            </a:avLst>
          </a:prstGeom>
          <a:solidFill>
            <a:srgbClr val="E2F2EA"/>
          </a:solidFill>
          <a:ln/>
        </p:spPr>
      </p:sp>
      <p:pic>
        <p:nvPicPr>
          <p:cNvPr id="15"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720840" y="3200400"/>
            <a:ext cx="384048" cy="384048"/>
          </a:xfrm>
          <a:prstGeom prst="rect">
            <a:avLst/>
          </a:prstGeom>
        </p:spPr>
      </p:pic>
      <p:sp>
        <p:nvSpPr>
          <p:cNvPr id="16" name="Text 8"/>
          <p:cNvSpPr txBox="1"/>
          <p:nvPr/>
        </p:nvSpPr>
        <p:spPr>
          <a:xfrm>
            <a:off x="7315200" y="2953512"/>
            <a:ext cx="4023360" cy="868680"/>
          </a:xfrm>
          <a:prstGeom prst="rect">
            <a:avLst/>
          </a:prstGeom>
          <a:noFill/>
          <a:ln/>
        </p:spPr>
        <p:txBody>
          <a:bodyPr wrap="square" lIns="0" tIns="0" rIns="0" bIns="0" rtlCol="0" anchor="ctr"/>
          <a:lstStyle/>
          <a:p>
            <a:pPr indent="0" marL="0">
              <a:buNone/>
            </a:pPr>
            <a:r>
              <a:rPr lang="fr-FR" altLang="en-US" sz="2200" b="1" dirty="0">
                <a:solidFill>
                  <a:srgbClr val="1B2233"/>
                </a:solidFill>
                <a:latin typeface="Calibri" pitchFamily="34" charset="0"/>
                <a:ea typeface="Calibri" pitchFamily="34" charset="-122"/>
                <a:cs typeface="Calibri" pitchFamily="34" charset="-120"/>
              </a:rPr>
              <a:t>Un onglet de l'appli Claude</a:t>
            </a:r>
            <a:endParaRPr lang="fr-FR" sz="2200" dirty="0"/>
          </a:p>
        </p:txBody>
      </p:sp>
      <p:sp>
        <p:nvSpPr>
          <p:cNvPr id="17" name="Shape 9"/>
          <p:cNvSpPr/>
          <p:nvPr/>
        </p:nvSpPr>
        <p:spPr>
          <a:xfrm>
            <a:off x="731520" y="4032504"/>
            <a:ext cx="4754880" cy="868680"/>
          </a:xfrm>
          <a:prstGeom prst="roundRect">
            <a:avLst>
              <a:gd name="adj" fmla="val 15789"/>
            </a:avLst>
          </a:prstGeom>
          <a:solidFill>
            <a:srgbClr val="F9E4E4"/>
          </a:solidFill>
          <a:ln/>
        </p:spPr>
      </p:sp>
      <p:pic>
        <p:nvPicPr>
          <p:cNvPr id="18"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60120" y="4279392"/>
            <a:ext cx="384048" cy="384048"/>
          </a:xfrm>
          <a:prstGeom prst="rect">
            <a:avLst/>
          </a:prstGeom>
        </p:spPr>
      </p:pic>
      <p:sp>
        <p:nvSpPr>
          <p:cNvPr id="19" name="Text 10"/>
          <p:cNvSpPr txBox="1"/>
          <p:nvPr/>
        </p:nvSpPr>
        <p:spPr>
          <a:xfrm>
            <a:off x="1554480" y="4032504"/>
            <a:ext cx="3840480" cy="868680"/>
          </a:xfrm>
          <a:prstGeom prst="rect">
            <a:avLst/>
          </a:prstGeom>
          <a:noFill/>
          <a:ln/>
        </p:spPr>
        <p:txBody>
          <a:bodyPr wrap="square" lIns="0" tIns="0" rIns="0" bIns="0" rtlCol="0" anchor="ctr"/>
          <a:lstStyle/>
          <a:p>
            <a:pPr indent="0" marL="0">
              <a:buNone/>
            </a:pPr>
            <a:r>
              <a:rPr lang="fr-FR" altLang="en-US" sz="2200" strike="sngStrike" dirty="0">
                <a:solidFill>
                  <a:srgbClr val="8C2A2E"/>
                </a:solidFill>
                <a:latin typeface="Calibri" pitchFamily="34" charset="0"/>
                <a:ea typeface="Calibri" pitchFamily="34" charset="-122"/>
                <a:cs typeface="Calibri" pitchFamily="34" charset="-120"/>
              </a:rPr>
              <a:t>Je vais tout casser</a:t>
            </a:r>
            <a:endParaRPr lang="fr-FR" sz="2200" dirty="0"/>
          </a:p>
        </p:txBody>
      </p:sp>
      <p:pic>
        <p:nvPicPr>
          <p:cNvPr id="20" name="Image 7"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760720" y="4233672"/>
            <a:ext cx="457200" cy="457200"/>
          </a:xfrm>
          <a:prstGeom prst="rect">
            <a:avLst/>
          </a:prstGeom>
        </p:spPr>
      </p:pic>
      <p:sp>
        <p:nvSpPr>
          <p:cNvPr id="21" name="Shape 11"/>
          <p:cNvSpPr/>
          <p:nvPr/>
        </p:nvSpPr>
        <p:spPr>
          <a:xfrm>
            <a:off x="6492240" y="4032504"/>
            <a:ext cx="4937760" cy="868680"/>
          </a:xfrm>
          <a:prstGeom prst="roundRect">
            <a:avLst>
              <a:gd name="adj" fmla="val 15789"/>
            </a:avLst>
          </a:prstGeom>
          <a:solidFill>
            <a:srgbClr val="E2F2EA"/>
          </a:solidFill>
          <a:ln/>
        </p:spPr>
      </p:sp>
      <p:pic>
        <p:nvPicPr>
          <p:cNvPr id="22" name="Image 8"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720840" y="4279392"/>
            <a:ext cx="384048" cy="384048"/>
          </a:xfrm>
          <a:prstGeom prst="rect">
            <a:avLst/>
          </a:prstGeom>
        </p:spPr>
      </p:pic>
      <p:sp>
        <p:nvSpPr>
          <p:cNvPr id="23" name="Text 12"/>
          <p:cNvSpPr txBox="1"/>
          <p:nvPr/>
        </p:nvSpPr>
        <p:spPr>
          <a:xfrm>
            <a:off x="7315200" y="4032504"/>
            <a:ext cx="4023360" cy="868680"/>
          </a:xfrm>
          <a:prstGeom prst="rect">
            <a:avLst/>
          </a:prstGeom>
          <a:noFill/>
          <a:ln/>
        </p:spPr>
        <p:txBody>
          <a:bodyPr wrap="square" lIns="0" tIns="0" rIns="0" bIns="0" rtlCol="0" anchor="ctr"/>
          <a:lstStyle/>
          <a:p>
            <a:pPr indent="0" marL="0">
              <a:buNone/>
            </a:pPr>
            <a:r>
              <a:rPr lang="fr-FR" altLang="en-US" sz="2200" b="1" dirty="0">
                <a:solidFill>
                  <a:srgbClr val="1B2233"/>
                </a:solidFill>
                <a:latin typeface="Calibri" pitchFamily="34" charset="0"/>
                <a:ea typeface="Calibri" pitchFamily="34" charset="-122"/>
                <a:cs typeface="Calibri" pitchFamily="34" charset="-120"/>
              </a:rPr>
              <a:t>Vous choisissez s'il demande</a:t>
            </a:r>
            <a:endParaRPr lang="fr-FR" sz="2200" dirty="0"/>
          </a:p>
        </p:txBody>
      </p:sp>
      <p:sp>
        <p:nvSpPr>
          <p:cNvPr id="24" name="Shape 13"/>
          <p:cNvSpPr/>
          <p:nvPr/>
        </p:nvSpPr>
        <p:spPr>
          <a:xfrm>
            <a:off x="731520" y="5111496"/>
            <a:ext cx="4754880" cy="868680"/>
          </a:xfrm>
          <a:prstGeom prst="roundRect">
            <a:avLst>
              <a:gd name="adj" fmla="val 15789"/>
            </a:avLst>
          </a:prstGeom>
          <a:solidFill>
            <a:srgbClr val="F9E4E4"/>
          </a:solidFill>
          <a:ln/>
        </p:spPr>
      </p:sp>
      <p:pic>
        <p:nvPicPr>
          <p:cNvPr id="25" name="Image 9"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960120" y="5358384"/>
            <a:ext cx="384048" cy="384048"/>
          </a:xfrm>
          <a:prstGeom prst="rect">
            <a:avLst/>
          </a:prstGeom>
        </p:spPr>
      </p:pic>
      <p:sp>
        <p:nvSpPr>
          <p:cNvPr id="26" name="Text 14"/>
          <p:cNvSpPr txBox="1"/>
          <p:nvPr/>
        </p:nvSpPr>
        <p:spPr>
          <a:xfrm>
            <a:off x="1554480" y="5111496"/>
            <a:ext cx="3840480" cy="868680"/>
          </a:xfrm>
          <a:prstGeom prst="rect">
            <a:avLst/>
          </a:prstGeom>
          <a:noFill/>
          <a:ln/>
        </p:spPr>
        <p:txBody>
          <a:bodyPr wrap="square" lIns="0" tIns="0" rIns="0" bIns="0" rtlCol="0" anchor="ctr"/>
          <a:lstStyle/>
          <a:p>
            <a:pPr indent="0" marL="0">
              <a:buNone/>
            </a:pPr>
            <a:r>
              <a:rPr lang="fr-FR" altLang="en-US" sz="2200" strike="sngStrike" dirty="0">
                <a:solidFill>
                  <a:srgbClr val="8C2A2E"/>
                </a:solidFill>
                <a:latin typeface="Calibri" pitchFamily="34" charset="0"/>
                <a:ea typeface="Calibri" pitchFamily="34" charset="-122"/>
                <a:cs typeface="Calibri" pitchFamily="34" charset="-120"/>
              </a:rPr>
              <a:t>C'est pour les développeurs</a:t>
            </a:r>
            <a:endParaRPr lang="fr-FR" sz="2200" dirty="0"/>
          </a:p>
        </p:txBody>
      </p:sp>
      <p:pic>
        <p:nvPicPr>
          <p:cNvPr id="27" name="Image 10"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5760720" y="5312664"/>
            <a:ext cx="457200" cy="457200"/>
          </a:xfrm>
          <a:prstGeom prst="rect">
            <a:avLst/>
          </a:prstGeom>
        </p:spPr>
      </p:pic>
      <p:sp>
        <p:nvSpPr>
          <p:cNvPr id="28" name="Shape 15"/>
          <p:cNvSpPr/>
          <p:nvPr/>
        </p:nvSpPr>
        <p:spPr>
          <a:xfrm>
            <a:off x="6492240" y="5111496"/>
            <a:ext cx="4937760" cy="868680"/>
          </a:xfrm>
          <a:prstGeom prst="roundRect">
            <a:avLst>
              <a:gd name="adj" fmla="val 15789"/>
            </a:avLst>
          </a:prstGeom>
          <a:solidFill>
            <a:srgbClr val="E2F2EA"/>
          </a:solidFill>
          <a:ln/>
        </p:spPr>
      </p:sp>
      <p:pic>
        <p:nvPicPr>
          <p:cNvPr id="29" name="Image 11" descr="">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6720840" y="5358384"/>
            <a:ext cx="384048" cy="384048"/>
          </a:xfrm>
          <a:prstGeom prst="rect">
            <a:avLst/>
          </a:prstGeom>
        </p:spPr>
      </p:pic>
      <p:sp>
        <p:nvSpPr>
          <p:cNvPr id="30" name="Text 16"/>
          <p:cNvSpPr txBox="1"/>
          <p:nvPr/>
        </p:nvSpPr>
        <p:spPr>
          <a:xfrm>
            <a:off x="7315200" y="5111496"/>
            <a:ext cx="4023360" cy="868680"/>
          </a:xfrm>
          <a:prstGeom prst="rect">
            <a:avLst/>
          </a:prstGeom>
          <a:noFill/>
          <a:ln/>
        </p:spPr>
        <p:txBody>
          <a:bodyPr wrap="square" lIns="0" tIns="0" rIns="0" bIns="0" rtlCol="0" anchor="ctr"/>
          <a:lstStyle/>
          <a:p>
            <a:pPr indent="0" marL="0">
              <a:buNone/>
            </a:pPr>
            <a:r>
              <a:rPr lang="fr-FR" altLang="en-US" sz="2200" b="1" dirty="0">
                <a:solidFill>
                  <a:srgbClr val="1B2233"/>
                </a:solidFill>
                <a:latin typeface="Calibri" pitchFamily="34" charset="0"/>
                <a:ea typeface="Calibri" pitchFamily="34" charset="-122"/>
                <a:cs typeface="Calibri" pitchFamily="34" charset="-120"/>
              </a:rPr>
              <a:t>Un dossier de documents suffit</a:t>
            </a:r>
            <a:endParaRPr lang="fr-FR" sz="2200" dirty="0"/>
          </a:p>
        </p:txBody>
      </p:sp>
      <p:sp>
        <p:nvSpPr>
          <p:cNvPr id="31" name="Text 17"/>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4 · Où créer</a:t>
            </a:r>
            <a:endParaRPr lang="fr-FR" sz="1400" dirty="0"/>
          </a:p>
        </p:txBody>
      </p:sp>
      <p:sp>
        <p:nvSpPr>
          <p:cNvPr id="32" name="Text 18"/>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18</a:t>
            </a:r>
            <a:endParaRPr lang="fr-FR"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Le mode plan : réfléchir avant d'agir</a:t>
            </a:r>
            <a:endParaRPr lang="fr-FR" sz="4000" dirty="0"/>
          </a:p>
        </p:txBody>
      </p:sp>
      <p:pic>
        <p:nvPicPr>
          <p:cNvPr id="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143000" y="1920240"/>
            <a:ext cx="822960" cy="822960"/>
          </a:xfrm>
          <a:prstGeom prst="rect">
            <a:avLst/>
          </a:prstGeom>
        </p:spPr>
      </p:pic>
      <p:sp>
        <p:nvSpPr>
          <p:cNvPr id="4" name="Text 1"/>
          <p:cNvSpPr txBox="1"/>
          <p:nvPr/>
        </p:nvSpPr>
        <p:spPr>
          <a:xfrm>
            <a:off x="411480" y="2926080"/>
            <a:ext cx="2286000" cy="502920"/>
          </a:xfrm>
          <a:prstGeom prst="rect">
            <a:avLst/>
          </a:prstGeom>
          <a:noFill/>
          <a:ln/>
        </p:spPr>
        <p:txBody>
          <a:bodyPr wrap="square" lIns="0" tIns="0" rIns="0" bIns="0" rtlCol="0" anchor="t"/>
          <a:lstStyle/>
          <a:p>
            <a:pPr algn="ctr" indent="0" marL="0">
              <a:buNone/>
            </a:pPr>
            <a:r>
              <a:rPr lang="fr-FR" altLang="en-US" sz="2200" b="1" dirty="0">
                <a:solidFill>
                  <a:srgbClr val="1B2233"/>
                </a:solidFill>
                <a:latin typeface="Calibri" pitchFamily="34" charset="0"/>
                <a:ea typeface="Calibri" pitchFamily="34" charset="-122"/>
                <a:cs typeface="Calibri" pitchFamily="34" charset="-120"/>
              </a:rPr>
              <a:t>Je demande</a:t>
            </a:r>
            <a:endParaRPr lang="fr-FR" sz="2200" dirty="0"/>
          </a:p>
        </p:txBody>
      </p:sp>
      <p:pic>
        <p:nvPicPr>
          <p:cNvPr id="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25230" y="2148840"/>
            <a:ext cx="329184" cy="365760"/>
          </a:xfrm>
          <a:prstGeom prst="rect">
            <a:avLst/>
          </a:prstGeom>
        </p:spPr>
      </p:pic>
      <p:pic>
        <p:nvPicPr>
          <p:cNvPr id="6"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413684" y="1920240"/>
            <a:ext cx="822960" cy="822960"/>
          </a:xfrm>
          <a:prstGeom prst="rect">
            <a:avLst/>
          </a:prstGeom>
        </p:spPr>
      </p:pic>
      <p:sp>
        <p:nvSpPr>
          <p:cNvPr id="7" name="Text 2"/>
          <p:cNvSpPr txBox="1"/>
          <p:nvPr/>
        </p:nvSpPr>
        <p:spPr>
          <a:xfrm>
            <a:off x="2682164" y="2926080"/>
            <a:ext cx="2286000" cy="502920"/>
          </a:xfrm>
          <a:prstGeom prst="rect">
            <a:avLst/>
          </a:prstGeom>
          <a:noFill/>
          <a:ln/>
        </p:spPr>
        <p:txBody>
          <a:bodyPr wrap="square" lIns="0" tIns="0" rIns="0" bIns="0" rtlCol="0" anchor="t"/>
          <a:lstStyle/>
          <a:p>
            <a:pPr algn="ctr" indent="0" marL="0">
              <a:buNone/>
            </a:pPr>
            <a:r>
              <a:rPr lang="fr-FR" altLang="en-US" sz="2200" b="1" dirty="0">
                <a:solidFill>
                  <a:srgbClr val="1B2233"/>
                </a:solidFill>
                <a:latin typeface="Calibri" pitchFamily="34" charset="0"/>
                <a:ea typeface="Calibri" pitchFamily="34" charset="-122"/>
                <a:cs typeface="Calibri" pitchFamily="34" charset="-120"/>
              </a:rPr>
              <a:t>Claude explore</a:t>
            </a:r>
            <a:endParaRPr lang="fr-FR" sz="2200" dirty="0"/>
          </a:p>
        </p:txBody>
      </p:sp>
      <p:sp>
        <p:nvSpPr>
          <p:cNvPr id="8" name="Text 3"/>
          <p:cNvSpPr txBox="1"/>
          <p:nvPr/>
        </p:nvSpPr>
        <p:spPr>
          <a:xfrm>
            <a:off x="2682164" y="3429000"/>
            <a:ext cx="2286000" cy="411480"/>
          </a:xfrm>
          <a:prstGeom prst="rect">
            <a:avLst/>
          </a:prstGeom>
          <a:noFill/>
          <a:ln/>
        </p:spPr>
        <p:txBody>
          <a:bodyPr wrap="square" lIns="0" tIns="0" rIns="0" bIns="0" rtlCol="0" anchor="t"/>
          <a:lstStyle/>
          <a:p>
            <a:pPr algn="ctr" indent="0" marL="0">
              <a:buNone/>
            </a:pPr>
            <a:r>
              <a:rPr lang="fr-FR" altLang="en-US" sz="1600" i="1" dirty="0">
                <a:solidFill>
                  <a:srgbClr val="566070"/>
                </a:solidFill>
                <a:latin typeface="Calibri" pitchFamily="34" charset="0"/>
                <a:ea typeface="Calibri" pitchFamily="34" charset="-122"/>
                <a:cs typeface="Calibri" pitchFamily="34" charset="-120"/>
              </a:rPr>
              <a:t>sans rien modifier</a:t>
            </a:r>
            <a:endParaRPr lang="fr-FR" sz="1600" dirty="0"/>
          </a:p>
        </p:txBody>
      </p:sp>
      <p:pic>
        <p:nvPicPr>
          <p:cNvPr id="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795914" y="2148840"/>
            <a:ext cx="329184" cy="365760"/>
          </a:xfrm>
          <a:prstGeom prst="rect">
            <a:avLst/>
          </a:prstGeom>
        </p:spPr>
      </p:pic>
      <p:pic>
        <p:nvPicPr>
          <p:cNvPr id="10"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684368" y="1920240"/>
            <a:ext cx="822960" cy="822960"/>
          </a:xfrm>
          <a:prstGeom prst="rect">
            <a:avLst/>
          </a:prstGeom>
        </p:spPr>
      </p:pic>
      <p:sp>
        <p:nvSpPr>
          <p:cNvPr id="11" name="Text 4"/>
          <p:cNvSpPr txBox="1"/>
          <p:nvPr/>
        </p:nvSpPr>
        <p:spPr>
          <a:xfrm>
            <a:off x="4952848" y="2926080"/>
            <a:ext cx="2286000" cy="502920"/>
          </a:xfrm>
          <a:prstGeom prst="rect">
            <a:avLst/>
          </a:prstGeom>
          <a:noFill/>
          <a:ln/>
        </p:spPr>
        <p:txBody>
          <a:bodyPr wrap="square" lIns="0" tIns="0" rIns="0" bIns="0" rtlCol="0" anchor="t"/>
          <a:lstStyle/>
          <a:p>
            <a:pPr algn="ctr" indent="0" marL="0">
              <a:buNone/>
            </a:pPr>
            <a:r>
              <a:rPr lang="fr-FR" altLang="en-US" sz="2200" b="1" dirty="0">
                <a:solidFill>
                  <a:srgbClr val="1B2233"/>
                </a:solidFill>
                <a:latin typeface="Calibri" pitchFamily="34" charset="0"/>
                <a:ea typeface="Calibri" pitchFamily="34" charset="-122"/>
                <a:cs typeface="Calibri" pitchFamily="34" charset="-120"/>
              </a:rPr>
              <a:t>Il propose un plan</a:t>
            </a:r>
            <a:endParaRPr lang="fr-FR" sz="2200" dirty="0"/>
          </a:p>
        </p:txBody>
      </p:sp>
      <p:pic>
        <p:nvPicPr>
          <p:cNvPr id="12"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066598" y="2148840"/>
            <a:ext cx="329184" cy="365760"/>
          </a:xfrm>
          <a:prstGeom prst="rect">
            <a:avLst/>
          </a:prstGeom>
        </p:spPr>
      </p:pic>
      <p:pic>
        <p:nvPicPr>
          <p:cNvPr id="13"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955051" y="1920240"/>
            <a:ext cx="822960" cy="822960"/>
          </a:xfrm>
          <a:prstGeom prst="rect">
            <a:avLst/>
          </a:prstGeom>
        </p:spPr>
      </p:pic>
      <p:sp>
        <p:nvSpPr>
          <p:cNvPr id="14" name="Text 5"/>
          <p:cNvSpPr txBox="1"/>
          <p:nvPr/>
        </p:nvSpPr>
        <p:spPr>
          <a:xfrm>
            <a:off x="7223531" y="2926080"/>
            <a:ext cx="2286000" cy="502920"/>
          </a:xfrm>
          <a:prstGeom prst="rect">
            <a:avLst/>
          </a:prstGeom>
          <a:noFill/>
          <a:ln/>
        </p:spPr>
        <p:txBody>
          <a:bodyPr wrap="square" lIns="0" tIns="0" rIns="0" bIns="0" rtlCol="0" anchor="t"/>
          <a:lstStyle/>
          <a:p>
            <a:pPr algn="ctr" indent="0" marL="0">
              <a:buNone/>
            </a:pPr>
            <a:r>
              <a:rPr lang="fr-FR" altLang="en-US" sz="2200" b="1" dirty="0">
                <a:solidFill>
                  <a:srgbClr val="1F7A50"/>
                </a:solidFill>
                <a:latin typeface="Calibri" pitchFamily="34" charset="0"/>
                <a:ea typeface="Calibri" pitchFamily="34" charset="-122"/>
                <a:cs typeface="Calibri" pitchFamily="34" charset="-120"/>
              </a:rPr>
              <a:t>Je valide</a:t>
            </a:r>
            <a:endParaRPr lang="fr-FR" sz="2200" dirty="0"/>
          </a:p>
        </p:txBody>
      </p:sp>
      <p:sp>
        <p:nvSpPr>
          <p:cNvPr id="15" name="Text 6"/>
          <p:cNvSpPr txBox="1"/>
          <p:nvPr/>
        </p:nvSpPr>
        <p:spPr>
          <a:xfrm>
            <a:off x="7223531" y="3429000"/>
            <a:ext cx="2286000" cy="411480"/>
          </a:xfrm>
          <a:prstGeom prst="rect">
            <a:avLst/>
          </a:prstGeom>
          <a:noFill/>
          <a:ln/>
        </p:spPr>
        <p:txBody>
          <a:bodyPr wrap="square" lIns="0" tIns="0" rIns="0" bIns="0" rtlCol="0" anchor="t"/>
          <a:lstStyle/>
          <a:p>
            <a:pPr algn="ctr" indent="0" marL="0">
              <a:buNone/>
            </a:pPr>
            <a:r>
              <a:rPr lang="fr-FR" altLang="en-US" sz="1600" i="1" dirty="0">
                <a:solidFill>
                  <a:srgbClr val="566070"/>
                </a:solidFill>
                <a:latin typeface="Calibri" pitchFamily="34" charset="0"/>
                <a:ea typeface="Calibri" pitchFamily="34" charset="-122"/>
                <a:cs typeface="Calibri" pitchFamily="34" charset="-120"/>
              </a:rPr>
              <a:t>ou je corrige</a:t>
            </a:r>
            <a:endParaRPr lang="fr-FR" sz="1600" dirty="0"/>
          </a:p>
        </p:txBody>
      </p:sp>
      <p:pic>
        <p:nvPicPr>
          <p:cNvPr id="16" name="Image 7"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337281" y="2148840"/>
            <a:ext cx="329184" cy="365760"/>
          </a:xfrm>
          <a:prstGeom prst="rect">
            <a:avLst/>
          </a:prstGeom>
        </p:spPr>
      </p:pic>
      <p:pic>
        <p:nvPicPr>
          <p:cNvPr id="17" name="Image 8"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10225735" y="1920240"/>
            <a:ext cx="822960" cy="822960"/>
          </a:xfrm>
          <a:prstGeom prst="rect">
            <a:avLst/>
          </a:prstGeom>
        </p:spPr>
      </p:pic>
      <p:sp>
        <p:nvSpPr>
          <p:cNvPr id="18" name="Text 7"/>
          <p:cNvSpPr txBox="1"/>
          <p:nvPr/>
        </p:nvSpPr>
        <p:spPr>
          <a:xfrm>
            <a:off x="9494215" y="2926080"/>
            <a:ext cx="2286000" cy="502920"/>
          </a:xfrm>
          <a:prstGeom prst="rect">
            <a:avLst/>
          </a:prstGeom>
          <a:noFill/>
          <a:ln/>
        </p:spPr>
        <p:txBody>
          <a:bodyPr wrap="square" lIns="0" tIns="0" rIns="0" bIns="0" rtlCol="0" anchor="t"/>
          <a:lstStyle/>
          <a:p>
            <a:pPr algn="ctr" indent="0" marL="0">
              <a:buNone/>
            </a:pPr>
            <a:r>
              <a:rPr lang="fr-FR" altLang="en-US" sz="2200" b="1" dirty="0">
                <a:solidFill>
                  <a:srgbClr val="B8235A"/>
                </a:solidFill>
                <a:latin typeface="Calibri" pitchFamily="34" charset="0"/>
                <a:ea typeface="Calibri" pitchFamily="34" charset="-122"/>
                <a:cs typeface="Calibri" pitchFamily="34" charset="-120"/>
              </a:rPr>
              <a:t>Il exécute</a:t>
            </a:r>
            <a:endParaRPr lang="fr-FR" sz="2200" dirty="0"/>
          </a:p>
        </p:txBody>
      </p:sp>
      <p:sp>
        <p:nvSpPr>
          <p:cNvPr id="19" name="Shape 8"/>
          <p:cNvSpPr/>
          <p:nvPr/>
        </p:nvSpPr>
        <p:spPr>
          <a:xfrm>
            <a:off x="2727884" y="4069080"/>
            <a:ext cx="6735928" cy="457200"/>
          </a:xfrm>
          <a:prstGeom prst="roundRect">
            <a:avLst>
              <a:gd name="adj" fmla="val 50000"/>
            </a:avLst>
          </a:prstGeom>
          <a:solidFill>
            <a:srgbClr val="E6EDFA"/>
          </a:solidFill>
          <a:ln/>
        </p:spPr>
      </p:sp>
      <p:pic>
        <p:nvPicPr>
          <p:cNvPr id="20" name="Image 9"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2956484" y="4160520"/>
            <a:ext cx="274320" cy="274320"/>
          </a:xfrm>
          <a:prstGeom prst="rect">
            <a:avLst/>
          </a:prstGeom>
        </p:spPr>
      </p:pic>
      <p:sp>
        <p:nvSpPr>
          <p:cNvPr id="21" name="Text 9"/>
          <p:cNvSpPr txBox="1"/>
          <p:nvPr/>
        </p:nvSpPr>
        <p:spPr>
          <a:xfrm>
            <a:off x="3322244" y="4069080"/>
            <a:ext cx="6004408" cy="457200"/>
          </a:xfrm>
          <a:prstGeom prst="rect">
            <a:avLst/>
          </a:prstGeom>
          <a:noFill/>
          <a:ln/>
        </p:spPr>
        <p:txBody>
          <a:bodyPr wrap="square" lIns="0" tIns="0" rIns="0" bIns="0" rtlCol="0" anchor="ctr"/>
          <a:lstStyle/>
          <a:p>
            <a:pPr indent="0" marL="0">
              <a:buNone/>
            </a:pPr>
            <a:r>
              <a:rPr lang="fr-FR" altLang="en-US" sz="1800" b="1" dirty="0">
                <a:solidFill>
                  <a:srgbClr val="2F5FC4"/>
                </a:solidFill>
                <a:latin typeface="Calibri" pitchFamily="34" charset="0"/>
                <a:ea typeface="Calibri" pitchFamily="34" charset="-122"/>
                <a:cs typeface="Calibri" pitchFamily="34" charset="-120"/>
              </a:rPr>
              <a:t>Aucun fichier modifié</a:t>
            </a:r>
            <a:endParaRPr lang="fr-FR" sz="1800" dirty="0"/>
          </a:p>
        </p:txBody>
      </p:sp>
      <p:sp>
        <p:nvSpPr>
          <p:cNvPr id="22" name="Text 10"/>
          <p:cNvSpPr txBox="1"/>
          <p:nvPr/>
        </p:nvSpPr>
        <p:spPr>
          <a:xfrm>
            <a:off x="731520" y="5120640"/>
            <a:ext cx="2377440" cy="548640"/>
          </a:xfrm>
          <a:prstGeom prst="rect">
            <a:avLst/>
          </a:prstGeom>
          <a:noFill/>
          <a:ln/>
        </p:spPr>
        <p:txBody>
          <a:bodyPr wrap="square" lIns="0" tIns="0" rIns="0" bIns="0" rtlCol="0" anchor="ctr"/>
          <a:lstStyle/>
          <a:p>
            <a:pPr indent="0" marL="0">
              <a:buNone/>
            </a:pPr>
            <a:r>
              <a:rPr lang="fr-FR" altLang="en-US" sz="2000" b="1" dirty="0">
                <a:solidFill>
                  <a:srgbClr val="566070"/>
                </a:solidFill>
                <a:latin typeface="Calibri" pitchFamily="34" charset="0"/>
                <a:ea typeface="Calibri" pitchFamily="34" charset="-122"/>
                <a:cs typeface="Calibri" pitchFamily="34" charset="-120"/>
              </a:rPr>
              <a:t>Pour l'activer :</a:t>
            </a:r>
            <a:endParaRPr lang="fr-FR" sz="2000" dirty="0"/>
          </a:p>
        </p:txBody>
      </p:sp>
      <p:sp>
        <p:nvSpPr>
          <p:cNvPr id="23" name="Shape 11"/>
          <p:cNvSpPr/>
          <p:nvPr/>
        </p:nvSpPr>
        <p:spPr>
          <a:xfrm>
            <a:off x="3108960" y="5120640"/>
            <a:ext cx="3017520" cy="548640"/>
          </a:xfrm>
          <a:prstGeom prst="roundRect">
            <a:avLst>
              <a:gd name="adj" fmla="val 16667"/>
            </a:avLst>
          </a:prstGeom>
          <a:solidFill>
            <a:srgbClr val="FFFFFF"/>
          </a:solidFill>
          <a:ln w="19050">
            <a:solidFill>
              <a:srgbClr val="1B2233"/>
            </a:solidFill>
            <a:prstDash val="solid"/>
          </a:ln>
          <a:effectLst>
            <a:outerShdw sx="100000" sy="100000" kx="0" ky="0" algn="bl" rotWithShape="0" blurRad="101600" dist="38100" dir="5400000">
              <a:srgbClr val="1B2233">
                <a:alpha val="90000"/>
              </a:srgbClr>
            </a:outerShdw>
          </a:effectLst>
        </p:spPr>
      </p:sp>
      <p:sp>
        <p:nvSpPr>
          <p:cNvPr id="24" name="Text 12"/>
          <p:cNvSpPr txBox="1"/>
          <p:nvPr/>
        </p:nvSpPr>
        <p:spPr>
          <a:xfrm>
            <a:off x="3108960" y="5120640"/>
            <a:ext cx="3017520" cy="548640"/>
          </a:xfrm>
          <a:prstGeom prst="rect">
            <a:avLst/>
          </a:prstGeom>
          <a:noFill/>
          <a:ln/>
        </p:spPr>
        <p:txBody>
          <a:bodyPr wrap="square" lIns="0" tIns="0" rIns="0" bIns="0" rtlCol="0" anchor="ctr"/>
          <a:lstStyle/>
          <a:p>
            <a:pPr algn="ctr" indent="0" marL="0">
              <a:buNone/>
            </a:pPr>
            <a:r>
              <a:rPr lang="fr-FR" altLang="en-US" sz="2000" b="1" dirty="0">
                <a:solidFill>
                  <a:srgbClr val="1B2233"/>
                </a:solidFill>
                <a:latin typeface="Courier New" pitchFamily="34" charset="0"/>
                <a:ea typeface="Courier New" pitchFamily="34" charset="-122"/>
                <a:cs typeface="Courier New" pitchFamily="34" charset="-120"/>
              </a:rPr>
              <a:t>/plan</a:t>
            </a:r>
            <a:endParaRPr lang="fr-FR" sz="2000" dirty="0"/>
          </a:p>
        </p:txBody>
      </p:sp>
      <p:sp>
        <p:nvSpPr>
          <p:cNvPr id="25" name="Shape 13"/>
          <p:cNvSpPr/>
          <p:nvPr/>
        </p:nvSpPr>
        <p:spPr>
          <a:xfrm>
            <a:off x="6400800" y="5120640"/>
            <a:ext cx="3017520" cy="548640"/>
          </a:xfrm>
          <a:prstGeom prst="roundRect">
            <a:avLst>
              <a:gd name="adj" fmla="val 16667"/>
            </a:avLst>
          </a:prstGeom>
          <a:solidFill>
            <a:srgbClr val="FFFFFF"/>
          </a:solidFill>
          <a:ln w="19050">
            <a:solidFill>
              <a:srgbClr val="1B2233"/>
            </a:solidFill>
            <a:prstDash val="solid"/>
          </a:ln>
          <a:effectLst>
            <a:outerShdw sx="100000" sy="100000" kx="0" ky="0" algn="bl" rotWithShape="0" blurRad="101600" dist="38100" dir="5400000">
              <a:srgbClr val="1B2233">
                <a:alpha val="90000"/>
              </a:srgbClr>
            </a:outerShdw>
          </a:effectLst>
        </p:spPr>
      </p:sp>
      <p:sp>
        <p:nvSpPr>
          <p:cNvPr id="26" name="Text 14"/>
          <p:cNvSpPr txBox="1"/>
          <p:nvPr/>
        </p:nvSpPr>
        <p:spPr>
          <a:xfrm>
            <a:off x="6400800" y="5120640"/>
            <a:ext cx="3017520" cy="548640"/>
          </a:xfrm>
          <a:prstGeom prst="rect">
            <a:avLst/>
          </a:prstGeom>
          <a:noFill/>
          <a:ln/>
        </p:spPr>
        <p:txBody>
          <a:bodyPr wrap="square" lIns="0" tIns="0" rIns="0" bIns="0" rtlCol="0" anchor="ctr"/>
          <a:lstStyle/>
          <a:p>
            <a:pPr algn="ctr" indent="0" marL="0">
              <a:buNone/>
            </a:pPr>
            <a:r>
              <a:rPr lang="fr-FR" altLang="en-US" sz="2000" b="1" dirty="0">
                <a:solidFill>
                  <a:srgbClr val="1B2233"/>
                </a:solidFill>
                <a:latin typeface="Calibri" pitchFamily="34" charset="0"/>
                <a:ea typeface="Calibri" pitchFamily="34" charset="-122"/>
                <a:cs typeface="Calibri" pitchFamily="34" charset="-120"/>
              </a:rPr>
              <a:t>Sélecteur de mode</a:t>
            </a:r>
            <a:endParaRPr lang="fr-FR" sz="2000" dirty="0"/>
          </a:p>
        </p:txBody>
      </p:sp>
      <p:sp>
        <p:nvSpPr>
          <p:cNvPr id="27" name="Text 15"/>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4 · Où créer</a:t>
            </a:r>
            <a:endParaRPr lang="fr-FR" sz="1400" dirty="0"/>
          </a:p>
        </p:txBody>
      </p:sp>
      <p:sp>
        <p:nvSpPr>
          <p:cNvPr id="28" name="Text 16"/>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19</a:t>
            </a:r>
            <a:endParaRPr lang="fr-FR"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Quelle porte pour moi ?</a:t>
            </a:r>
            <a:endParaRPr lang="fr-FR" sz="4000" dirty="0"/>
          </a:p>
        </p:txBody>
      </p:sp>
      <p:sp>
        <p:nvSpPr>
          <p:cNvPr id="3" name="Shape 1"/>
          <p:cNvSpPr/>
          <p:nvPr/>
        </p:nvSpPr>
        <p:spPr>
          <a:xfrm>
            <a:off x="731520" y="1920240"/>
            <a:ext cx="6766560" cy="914400"/>
          </a:xfrm>
          <a:prstGeom prst="roundRect">
            <a:avLst>
              <a:gd name="adj" fmla="val 15000"/>
            </a:avLst>
          </a:prstGeom>
          <a:solidFill>
            <a:srgbClr val="F1F3F6"/>
          </a:solidFill>
          <a:ln/>
        </p:spPr>
      </p:sp>
      <p:sp>
        <p:nvSpPr>
          <p:cNvPr id="4" name="Text 2"/>
          <p:cNvSpPr txBox="1"/>
          <p:nvPr/>
        </p:nvSpPr>
        <p:spPr>
          <a:xfrm>
            <a:off x="914400" y="1920240"/>
            <a:ext cx="548640" cy="914400"/>
          </a:xfrm>
          <a:prstGeom prst="rect">
            <a:avLst/>
          </a:prstGeom>
          <a:noFill/>
          <a:ln/>
        </p:spPr>
        <p:txBody>
          <a:bodyPr wrap="square" lIns="0" tIns="0" rIns="0" bIns="0" rtlCol="0" anchor="ctr"/>
          <a:lstStyle/>
          <a:p>
            <a:pPr algn="ctr" indent="0" marL="0">
              <a:buNone/>
            </a:pPr>
            <a:r>
              <a:rPr lang="fr-FR" altLang="en-US" sz="3600" b="1" dirty="0">
                <a:solidFill>
                  <a:srgbClr val="B8235A"/>
                </a:solidFill>
                <a:latin typeface="Calibri" pitchFamily="34" charset="0"/>
                <a:ea typeface="Calibri" pitchFamily="34" charset="-122"/>
                <a:cs typeface="Calibri" pitchFamily="34" charset="-120"/>
              </a:rPr>
              <a:t>?</a:t>
            </a:r>
            <a:endParaRPr lang="fr-FR" sz="3600" dirty="0"/>
          </a:p>
        </p:txBody>
      </p:sp>
      <p:sp>
        <p:nvSpPr>
          <p:cNvPr id="5" name="Text 3"/>
          <p:cNvSpPr txBox="1"/>
          <p:nvPr/>
        </p:nvSpPr>
        <p:spPr>
          <a:xfrm>
            <a:off x="1554480" y="1920240"/>
            <a:ext cx="5852160" cy="914400"/>
          </a:xfrm>
          <a:prstGeom prst="rect">
            <a:avLst/>
          </a:prstGeom>
          <a:noFill/>
          <a:ln/>
        </p:spPr>
        <p:txBody>
          <a:bodyPr wrap="square" lIns="0" tIns="0" rIns="0" bIns="0" rtlCol="0" anchor="ctr"/>
          <a:lstStyle/>
          <a:p>
            <a:pPr indent="0" marL="0">
              <a:buNone/>
            </a:pPr>
            <a:r>
              <a:rPr lang="fr-FR" altLang="en-US" sz="2200" b="1" dirty="0">
                <a:solidFill>
                  <a:srgbClr val="1B2233"/>
                </a:solidFill>
                <a:latin typeface="Calibri" pitchFamily="34" charset="0"/>
                <a:ea typeface="Calibri" pitchFamily="34" charset="-122"/>
                <a:cs typeface="Calibri" pitchFamily="34" charset="-120"/>
              </a:rPr>
              <a:t>Une première skill, surtout du texte</a:t>
            </a:r>
            <a:endParaRPr lang="fr-FR" sz="2200" dirty="0"/>
          </a:p>
        </p:txBody>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772400" y="2148840"/>
            <a:ext cx="457200" cy="457200"/>
          </a:xfrm>
          <a:prstGeom prst="rect">
            <a:avLst/>
          </a:prstGeom>
        </p:spPr>
      </p:pic>
      <p:sp>
        <p:nvSpPr>
          <p:cNvPr id="7" name="Shape 4"/>
          <p:cNvSpPr/>
          <p:nvPr/>
        </p:nvSpPr>
        <p:spPr>
          <a:xfrm>
            <a:off x="8503920" y="1920240"/>
            <a:ext cx="3017520" cy="914400"/>
          </a:xfrm>
          <a:prstGeom prst="roundRect">
            <a:avLst>
              <a:gd name="adj" fmla="val 50000"/>
            </a:avLst>
          </a:prstGeom>
          <a:solidFill>
            <a:srgbClr val="B8235A"/>
          </a:solidFill>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778240" y="2176272"/>
            <a:ext cx="411480" cy="411480"/>
          </a:xfrm>
          <a:prstGeom prst="rect">
            <a:avLst/>
          </a:prstGeom>
        </p:spPr>
      </p:pic>
      <p:sp>
        <p:nvSpPr>
          <p:cNvPr id="9" name="Text 5"/>
          <p:cNvSpPr txBox="1"/>
          <p:nvPr/>
        </p:nvSpPr>
        <p:spPr>
          <a:xfrm>
            <a:off x="9326880" y="1920240"/>
            <a:ext cx="2103120" cy="914400"/>
          </a:xfrm>
          <a:prstGeom prst="rect">
            <a:avLst/>
          </a:prstGeom>
          <a:noFill/>
          <a:ln/>
        </p:spPr>
        <p:txBody>
          <a:bodyPr wrap="square" lIns="0" tIns="0" rIns="0" bIns="0" rtlCol="0" anchor="ctr"/>
          <a:lstStyle/>
          <a:p>
            <a:pPr indent="0" marL="0">
              <a:buNone/>
            </a:pPr>
            <a:r>
              <a:rPr lang="fr-FR" altLang="en-US" sz="2600" b="1" dirty="0">
                <a:solidFill>
                  <a:srgbClr val="FFFFFF"/>
                </a:solidFill>
                <a:latin typeface="Calibri" pitchFamily="34" charset="0"/>
                <a:ea typeface="Calibri" pitchFamily="34" charset="-122"/>
                <a:cs typeface="Calibri" pitchFamily="34" charset="-120"/>
              </a:rPr>
              <a:t>Chat</a:t>
            </a:r>
            <a:endParaRPr lang="fr-FR" sz="2600" dirty="0"/>
          </a:p>
        </p:txBody>
      </p:sp>
      <p:sp>
        <p:nvSpPr>
          <p:cNvPr id="10" name="Shape 6"/>
          <p:cNvSpPr/>
          <p:nvPr/>
        </p:nvSpPr>
        <p:spPr>
          <a:xfrm>
            <a:off x="731520" y="3108960"/>
            <a:ext cx="6766560" cy="914400"/>
          </a:xfrm>
          <a:prstGeom prst="roundRect">
            <a:avLst>
              <a:gd name="adj" fmla="val 15000"/>
            </a:avLst>
          </a:prstGeom>
          <a:solidFill>
            <a:srgbClr val="F1F3F6"/>
          </a:solidFill>
          <a:ln/>
        </p:spPr>
      </p:sp>
      <p:sp>
        <p:nvSpPr>
          <p:cNvPr id="11" name="Text 7"/>
          <p:cNvSpPr txBox="1"/>
          <p:nvPr/>
        </p:nvSpPr>
        <p:spPr>
          <a:xfrm>
            <a:off x="914400" y="3108960"/>
            <a:ext cx="548640" cy="914400"/>
          </a:xfrm>
          <a:prstGeom prst="rect">
            <a:avLst/>
          </a:prstGeom>
          <a:noFill/>
          <a:ln/>
        </p:spPr>
        <p:txBody>
          <a:bodyPr wrap="square" lIns="0" tIns="0" rIns="0" bIns="0" rtlCol="0" anchor="ctr"/>
          <a:lstStyle/>
          <a:p>
            <a:pPr algn="ctr" indent="0" marL="0">
              <a:buNone/>
            </a:pPr>
            <a:r>
              <a:rPr lang="fr-FR" altLang="en-US" sz="3600" b="1" dirty="0">
                <a:solidFill>
                  <a:srgbClr val="B8235A"/>
                </a:solidFill>
                <a:latin typeface="Calibri" pitchFamily="34" charset="0"/>
                <a:ea typeface="Calibri" pitchFamily="34" charset="-122"/>
                <a:cs typeface="Calibri" pitchFamily="34" charset="-120"/>
              </a:rPr>
              <a:t>?</a:t>
            </a:r>
            <a:endParaRPr lang="fr-FR" sz="3600" dirty="0"/>
          </a:p>
        </p:txBody>
      </p:sp>
      <p:sp>
        <p:nvSpPr>
          <p:cNvPr id="12" name="Text 8"/>
          <p:cNvSpPr txBox="1"/>
          <p:nvPr/>
        </p:nvSpPr>
        <p:spPr>
          <a:xfrm>
            <a:off x="1554480" y="3108960"/>
            <a:ext cx="5852160" cy="914400"/>
          </a:xfrm>
          <a:prstGeom prst="rect">
            <a:avLst/>
          </a:prstGeom>
          <a:noFill/>
          <a:ln/>
        </p:spPr>
        <p:txBody>
          <a:bodyPr wrap="square" lIns="0" tIns="0" rIns="0" bIns="0" rtlCol="0" anchor="ctr"/>
          <a:lstStyle/>
          <a:p>
            <a:pPr indent="0" marL="0">
              <a:buNone/>
            </a:pPr>
            <a:r>
              <a:rPr lang="fr-FR" altLang="en-US" sz="2200" b="1" dirty="0">
                <a:solidFill>
                  <a:srgbClr val="1B2233"/>
                </a:solidFill>
                <a:latin typeface="Calibri" pitchFamily="34" charset="0"/>
                <a:ea typeface="Calibri" pitchFamily="34" charset="-122"/>
                <a:cs typeface="Calibri" pitchFamily="34" charset="-120"/>
              </a:rPr>
              <a:t>Elle s'appuie sur mes fichiers</a:t>
            </a:r>
            <a:endParaRPr lang="fr-FR" sz="2200" dirty="0"/>
          </a:p>
        </p:txBody>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772400" y="3337560"/>
            <a:ext cx="457200" cy="457200"/>
          </a:xfrm>
          <a:prstGeom prst="rect">
            <a:avLst/>
          </a:prstGeom>
        </p:spPr>
      </p:pic>
      <p:sp>
        <p:nvSpPr>
          <p:cNvPr id="14" name="Shape 9"/>
          <p:cNvSpPr/>
          <p:nvPr/>
        </p:nvSpPr>
        <p:spPr>
          <a:xfrm>
            <a:off x="8503920" y="3108960"/>
            <a:ext cx="3017520" cy="914400"/>
          </a:xfrm>
          <a:prstGeom prst="roundRect">
            <a:avLst>
              <a:gd name="adj" fmla="val 50000"/>
            </a:avLst>
          </a:prstGeom>
          <a:solidFill>
            <a:srgbClr val="2F5FC4"/>
          </a:solidFill>
          <a:ln/>
        </p:spPr>
      </p:sp>
      <p:pic>
        <p:nvPicPr>
          <p:cNvPr id="15"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778240" y="3364992"/>
            <a:ext cx="411480" cy="411480"/>
          </a:xfrm>
          <a:prstGeom prst="rect">
            <a:avLst/>
          </a:prstGeom>
        </p:spPr>
      </p:pic>
      <p:sp>
        <p:nvSpPr>
          <p:cNvPr id="16" name="Text 10"/>
          <p:cNvSpPr txBox="1"/>
          <p:nvPr/>
        </p:nvSpPr>
        <p:spPr>
          <a:xfrm>
            <a:off x="9326880" y="3108960"/>
            <a:ext cx="2103120" cy="914400"/>
          </a:xfrm>
          <a:prstGeom prst="rect">
            <a:avLst/>
          </a:prstGeom>
          <a:noFill/>
          <a:ln/>
        </p:spPr>
        <p:txBody>
          <a:bodyPr wrap="square" lIns="0" tIns="0" rIns="0" bIns="0" rtlCol="0" anchor="ctr"/>
          <a:lstStyle/>
          <a:p>
            <a:pPr indent="0" marL="0">
              <a:buNone/>
            </a:pPr>
            <a:r>
              <a:rPr lang="fr-FR" altLang="en-US" sz="2600" b="1" dirty="0">
                <a:solidFill>
                  <a:srgbClr val="FFFFFF"/>
                </a:solidFill>
                <a:latin typeface="Calibri" pitchFamily="34" charset="0"/>
                <a:ea typeface="Calibri" pitchFamily="34" charset="-122"/>
                <a:cs typeface="Calibri" pitchFamily="34" charset="-120"/>
              </a:rPr>
              <a:t>Cowork</a:t>
            </a:r>
            <a:endParaRPr lang="fr-FR" sz="2600" dirty="0"/>
          </a:p>
        </p:txBody>
      </p:sp>
      <p:sp>
        <p:nvSpPr>
          <p:cNvPr id="17" name="Shape 11"/>
          <p:cNvSpPr/>
          <p:nvPr/>
        </p:nvSpPr>
        <p:spPr>
          <a:xfrm>
            <a:off x="731520" y="4297680"/>
            <a:ext cx="6766560" cy="914400"/>
          </a:xfrm>
          <a:prstGeom prst="roundRect">
            <a:avLst>
              <a:gd name="adj" fmla="val 15000"/>
            </a:avLst>
          </a:prstGeom>
          <a:solidFill>
            <a:srgbClr val="F1F3F6"/>
          </a:solidFill>
          <a:ln/>
        </p:spPr>
      </p:sp>
      <p:sp>
        <p:nvSpPr>
          <p:cNvPr id="18" name="Text 12"/>
          <p:cNvSpPr txBox="1"/>
          <p:nvPr/>
        </p:nvSpPr>
        <p:spPr>
          <a:xfrm>
            <a:off x="914400" y="4297680"/>
            <a:ext cx="548640" cy="914400"/>
          </a:xfrm>
          <a:prstGeom prst="rect">
            <a:avLst/>
          </a:prstGeom>
          <a:noFill/>
          <a:ln/>
        </p:spPr>
        <p:txBody>
          <a:bodyPr wrap="square" lIns="0" tIns="0" rIns="0" bIns="0" rtlCol="0" anchor="ctr"/>
          <a:lstStyle/>
          <a:p>
            <a:pPr algn="ctr" indent="0" marL="0">
              <a:buNone/>
            </a:pPr>
            <a:r>
              <a:rPr lang="fr-FR" altLang="en-US" sz="3600" b="1" dirty="0">
                <a:solidFill>
                  <a:srgbClr val="B8235A"/>
                </a:solidFill>
                <a:latin typeface="Calibri" pitchFamily="34" charset="0"/>
                <a:ea typeface="Calibri" pitchFamily="34" charset="-122"/>
                <a:cs typeface="Calibri" pitchFamily="34" charset="-120"/>
              </a:rPr>
              <a:t>?</a:t>
            </a:r>
            <a:endParaRPr lang="fr-FR" sz="3600" dirty="0"/>
          </a:p>
        </p:txBody>
      </p:sp>
      <p:sp>
        <p:nvSpPr>
          <p:cNvPr id="19" name="Text 13"/>
          <p:cNvSpPr txBox="1"/>
          <p:nvPr/>
        </p:nvSpPr>
        <p:spPr>
          <a:xfrm>
            <a:off x="1554480" y="4297680"/>
            <a:ext cx="5852160" cy="914400"/>
          </a:xfrm>
          <a:prstGeom prst="rect">
            <a:avLst/>
          </a:prstGeom>
          <a:noFill/>
          <a:ln/>
        </p:spPr>
        <p:txBody>
          <a:bodyPr wrap="square" lIns="0" tIns="0" rIns="0" bIns="0" rtlCol="0" anchor="ctr"/>
          <a:lstStyle/>
          <a:p>
            <a:pPr indent="0" marL="0">
              <a:buNone/>
            </a:pPr>
            <a:r>
              <a:rPr lang="fr-FR" altLang="en-US" sz="2200" b="1" dirty="0">
                <a:solidFill>
                  <a:srgbClr val="1B2233"/>
                </a:solidFill>
                <a:latin typeface="Calibri" pitchFamily="34" charset="0"/>
                <a:ea typeface="Calibri" pitchFamily="34" charset="-122"/>
                <a:cs typeface="Calibri" pitchFamily="34" charset="-120"/>
              </a:rPr>
              <a:t>Je veux relire le plan, partager en équipe</a:t>
            </a:r>
            <a:endParaRPr lang="fr-FR" sz="2200" dirty="0"/>
          </a:p>
        </p:txBody>
      </p:sp>
      <p:pic>
        <p:nvPicPr>
          <p:cNvPr id="20"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772400" y="4526280"/>
            <a:ext cx="457200" cy="457200"/>
          </a:xfrm>
          <a:prstGeom prst="rect">
            <a:avLst/>
          </a:prstGeom>
        </p:spPr>
      </p:pic>
      <p:sp>
        <p:nvSpPr>
          <p:cNvPr id="21" name="Shape 14"/>
          <p:cNvSpPr/>
          <p:nvPr/>
        </p:nvSpPr>
        <p:spPr>
          <a:xfrm>
            <a:off x="8503920" y="4297680"/>
            <a:ext cx="3017520" cy="914400"/>
          </a:xfrm>
          <a:prstGeom prst="roundRect">
            <a:avLst>
              <a:gd name="adj" fmla="val 50000"/>
            </a:avLst>
          </a:prstGeom>
          <a:solidFill>
            <a:srgbClr val="1B2233"/>
          </a:solidFill>
          <a:ln/>
        </p:spPr>
      </p:sp>
      <p:pic>
        <p:nvPicPr>
          <p:cNvPr id="22"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778240" y="4553712"/>
            <a:ext cx="411480" cy="411480"/>
          </a:xfrm>
          <a:prstGeom prst="rect">
            <a:avLst/>
          </a:prstGeom>
        </p:spPr>
      </p:pic>
      <p:sp>
        <p:nvSpPr>
          <p:cNvPr id="23" name="Text 15"/>
          <p:cNvSpPr txBox="1"/>
          <p:nvPr/>
        </p:nvSpPr>
        <p:spPr>
          <a:xfrm>
            <a:off x="9326880" y="4297680"/>
            <a:ext cx="2103120" cy="914400"/>
          </a:xfrm>
          <a:prstGeom prst="rect">
            <a:avLst/>
          </a:prstGeom>
          <a:noFill/>
          <a:ln/>
        </p:spPr>
        <p:txBody>
          <a:bodyPr wrap="square" lIns="0" tIns="0" rIns="0" bIns="0" rtlCol="0" anchor="ctr"/>
          <a:lstStyle/>
          <a:p>
            <a:pPr indent="0" marL="0">
              <a:buNone/>
            </a:pPr>
            <a:r>
              <a:rPr lang="fr-FR" altLang="en-US" sz="2600" b="1" dirty="0">
                <a:solidFill>
                  <a:srgbClr val="FFFFFF"/>
                </a:solidFill>
                <a:latin typeface="Calibri" pitchFamily="34" charset="0"/>
                <a:ea typeface="Calibri" pitchFamily="34" charset="-122"/>
                <a:cs typeface="Calibri" pitchFamily="34" charset="-120"/>
              </a:rPr>
              <a:t>Code</a:t>
            </a:r>
            <a:endParaRPr lang="fr-FR" sz="2600" dirty="0"/>
          </a:p>
        </p:txBody>
      </p:sp>
      <p:sp>
        <p:nvSpPr>
          <p:cNvPr id="24" name="Shape 16"/>
          <p:cNvSpPr/>
          <p:nvPr/>
        </p:nvSpPr>
        <p:spPr>
          <a:xfrm>
            <a:off x="2194560" y="5577840"/>
            <a:ext cx="7772400" cy="594360"/>
          </a:xfrm>
          <a:prstGeom prst="roundRect">
            <a:avLst>
              <a:gd name="adj" fmla="val 23077"/>
            </a:avLst>
          </a:prstGeom>
          <a:solidFill>
            <a:srgbClr val="FBE7EF"/>
          </a:solidFill>
          <a:ln/>
        </p:spPr>
      </p:sp>
      <p:sp>
        <p:nvSpPr>
          <p:cNvPr id="25" name="Text 17"/>
          <p:cNvSpPr txBox="1"/>
          <p:nvPr/>
        </p:nvSpPr>
        <p:spPr>
          <a:xfrm>
            <a:off x="2194560" y="5577840"/>
            <a:ext cx="7772400" cy="594360"/>
          </a:xfrm>
          <a:prstGeom prst="rect">
            <a:avLst/>
          </a:prstGeom>
          <a:noFill/>
          <a:ln/>
        </p:spPr>
        <p:txBody>
          <a:bodyPr wrap="square" lIns="0" tIns="0" rIns="0" bIns="0" rtlCol="0" anchor="ctr"/>
          <a:lstStyle/>
          <a:p>
            <a:pPr algn="ctr" indent="0" marL="0">
              <a:buNone/>
            </a:pPr>
            <a:r>
              <a:rPr lang="fr-FR" altLang="en-US" sz="2000" b="1" dirty="0">
                <a:solidFill>
                  <a:srgbClr val="B8235A"/>
                </a:solidFill>
                <a:latin typeface="Calibri" pitchFamily="34" charset="0"/>
                <a:ea typeface="Calibri" pitchFamily="34" charset="-122"/>
                <a:cs typeface="Calibri" pitchFamily="34" charset="-120"/>
              </a:rPr>
              <a:t>Dans le doute : commencez dans Chat, finissez dans Code.</a:t>
            </a:r>
            <a:endParaRPr lang="fr-FR" sz="2000" dirty="0"/>
          </a:p>
        </p:txBody>
      </p:sp>
      <p:sp>
        <p:nvSpPr>
          <p:cNvPr id="26"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4 · Où créer</a:t>
            </a:r>
            <a:endParaRPr lang="fr-FR" sz="1400" dirty="0"/>
          </a:p>
        </p:txBody>
      </p:sp>
      <p:sp>
        <p:nvSpPr>
          <p:cNvPr id="27"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20</a:t>
            </a:r>
            <a:endParaRPr lang="fr-FR"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B8235A"/>
        </a:solidFill>
      </p:bgPr>
    </p:bg>
    <p:spTree>
      <p:nvGrpSpPr>
        <p:cNvPr id="1" name=""/>
        <p:cNvGrpSpPr/>
        <p:nvPr/>
      </p:nvGrpSpPr>
      <p:grpSpPr>
        <a:xfrm>
          <a:off x="0" y="0"/>
          <a:ext cx="0" cy="0"/>
          <a:chOff x="0" y="0"/>
          <a:chExt cx="0" cy="0"/>
        </a:xfrm>
      </p:grpSpPr>
      <p:sp>
        <p:nvSpPr>
          <p:cNvPr id="4" name="Titre"/>
          <p:cNvSpPr>
            <a:spLocks noGrp="1"/>
          </p:cNvSpPr>
          <p:nvPr>
            <p:ph type="title"/>
          </p:nvPr>
        </p:nvSpPr>
        <p:spPr>
          <a:xfrm>
            <a:off x="4846320" y="2880360"/>
            <a:ext cx="6858000" cy="1097280"/>
          </a:xfrm>
          <a:prstGeom prst="rect">
            <a:avLst/>
          </a:prstGeom>
          <a:noFill/>
          <a:ln/>
        </p:spPr>
        <p:txBody>
          <a:bodyPr wrap="square" lIns="0" tIns="0" rIns="0" bIns="0" rtlCol="0" anchor="ctr"/>
          <a:lstStyle/>
          <a:p>
            <a:pPr algn="l" indent="0" marL="0">
              <a:buNone/>
            </a:pPr>
            <a:r>
              <a:rPr lang="fr-FR" altLang="en-US" sz="5400" b="1" dirty="0">
                <a:solidFill>
                  <a:srgbClr val="FFFFFF"/>
                </a:solidFill>
                <a:latin typeface="Calibri" pitchFamily="34" charset="0"/>
                <a:ea typeface="Calibri" pitchFamily="34" charset="-122"/>
                <a:cs typeface="Calibri" pitchFamily="34" charset="-120"/>
              </a:rPr>
              <a:t>Créer</a:t>
            </a:r>
            <a:endParaRPr lang="fr-FR" sz="5400" dirty="0"/>
          </a:p>
        </p:txBody>
      </p:sp>
      <p:sp>
        <p:nvSpPr>
          <p:cNvPr id="2" name="Text 0"/>
          <p:cNvSpPr txBox="1"/>
          <p:nvPr/>
        </p:nvSpPr>
        <p:spPr>
          <a:xfrm>
            <a:off x="548640" y="822960"/>
            <a:ext cx="3840480" cy="4754880"/>
          </a:xfrm>
          <a:prstGeom prst="rect">
            <a:avLst/>
          </a:prstGeom>
          <a:noFill/>
          <a:ln/>
        </p:spPr>
        <p:txBody>
          <a:bodyPr wrap="square" lIns="0" tIns="0" rIns="0" bIns="0" rtlCol="0" anchor="ctr"/>
          <a:lstStyle/>
          <a:p>
            <a:pPr algn="ctr" indent="0" marL="0">
              <a:buNone/>
            </a:pPr>
            <a:r>
              <a:rPr lang="fr-FR" altLang="en-US" sz="28000" b="1" dirty="0">
                <a:solidFill>
                  <a:srgbClr val="FFFFFF"/>
                </a:solidFill>
                <a:latin typeface="Calibri" pitchFamily="34" charset="0"/>
                <a:ea typeface="Calibri" pitchFamily="34" charset="-122"/>
                <a:cs typeface="Calibri" pitchFamily="34" charset="-120"/>
              </a:rPr>
              <a:t>5</a:t>
            </a:r>
            <a:endParaRPr lang="fr-FR" sz="28000" dirty="0"/>
          </a:p>
        </p:txBody>
      </p:sp>
      <p:pic>
        <p:nvPicPr>
          <p:cNvPr id="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4846320" y="2057400"/>
            <a:ext cx="731520" cy="731520"/>
          </a:xfrm>
          <a:prstGeom prst="rect">
            <a:avLst/>
          </a:prstGeom>
        </p:spPr>
      </p:pic>
      <p:sp>
        <p:nvSpPr>
          <p:cNvPr id="5" name="Text 2"/>
          <p:cNvSpPr txBox="1"/>
          <p:nvPr/>
        </p:nvSpPr>
        <p:spPr>
          <a:xfrm>
            <a:off x="4846320" y="3977640"/>
            <a:ext cx="6858000" cy="731520"/>
          </a:xfrm>
          <a:prstGeom prst="rect">
            <a:avLst/>
          </a:prstGeom>
          <a:noFill/>
          <a:ln/>
        </p:spPr>
        <p:txBody>
          <a:bodyPr wrap="square" lIns="0" tIns="0" rIns="0" bIns="0" rtlCol="0" anchor="t"/>
          <a:lstStyle/>
          <a:p>
            <a:pPr algn="l" indent="0" marL="0">
              <a:buNone/>
            </a:pPr>
            <a:r>
              <a:rPr lang="fr-FR" altLang="en-US" sz="2800" dirty="0">
                <a:solidFill>
                  <a:srgbClr val="FFFFFF"/>
                </a:solidFill>
                <a:latin typeface="Calibri" pitchFamily="34" charset="0"/>
                <a:ea typeface="Calibri" pitchFamily="34" charset="-122"/>
                <a:cs typeface="Calibri" pitchFamily="34" charset="-120"/>
              </a:rPr>
              <a:t>La méthode, la démo, un cas réel</a:t>
            </a:r>
            <a:endParaRPr lang="fr-FR"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Créer une skill en 5 étapes</a:t>
            </a:r>
            <a:endParaRPr lang="fr-FR" sz="4000" dirty="0"/>
          </a:p>
        </p:txBody>
      </p:sp>
      <p:sp>
        <p:nvSpPr>
          <p:cNvPr id="3" name="Shape 1"/>
          <p:cNvSpPr/>
          <p:nvPr/>
        </p:nvSpPr>
        <p:spPr>
          <a:xfrm>
            <a:off x="548640" y="4892040"/>
            <a:ext cx="2148840" cy="128016"/>
          </a:xfrm>
          <a:prstGeom prst="rect">
            <a:avLst/>
          </a:prstGeom>
          <a:solidFill>
            <a:srgbClr val="1B2233"/>
          </a:solidFill>
          <a:ln/>
        </p:spPr>
      </p:sp>
      <p:sp>
        <p:nvSpPr>
          <p:cNvPr id="4" name="Shape 2"/>
          <p:cNvSpPr/>
          <p:nvPr/>
        </p:nvSpPr>
        <p:spPr>
          <a:xfrm>
            <a:off x="548640" y="5020056"/>
            <a:ext cx="2148840" cy="777240"/>
          </a:xfrm>
          <a:prstGeom prst="rect">
            <a:avLst/>
          </a:prstGeom>
          <a:solidFill>
            <a:srgbClr val="F1F3F6"/>
          </a:solidFill>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3474720"/>
            <a:ext cx="457200" cy="457200"/>
          </a:xfrm>
          <a:prstGeom prst="rect">
            <a:avLst/>
          </a:prstGeom>
        </p:spPr>
      </p:pic>
      <p:sp>
        <p:nvSpPr>
          <p:cNvPr id="6" name="Text 3"/>
          <p:cNvSpPr txBox="1"/>
          <p:nvPr/>
        </p:nvSpPr>
        <p:spPr>
          <a:xfrm>
            <a:off x="548640" y="4023360"/>
            <a:ext cx="2148840" cy="457200"/>
          </a:xfrm>
          <a:prstGeom prst="rect">
            <a:avLst/>
          </a:prstGeom>
          <a:noFill/>
          <a:ln/>
        </p:spPr>
        <p:txBody>
          <a:bodyPr wrap="square" lIns="0" tIns="0" rIns="0" bIns="0" rtlCol="0" anchor="t"/>
          <a:lstStyle/>
          <a:p>
            <a:pPr indent="0" marL="0">
              <a:buNone/>
            </a:pPr>
            <a:r>
              <a:rPr lang="fr-FR" altLang="en-US" sz="2400" b="1" dirty="0">
                <a:solidFill>
                  <a:srgbClr val="1B2233"/>
                </a:solidFill>
                <a:latin typeface="Calibri" pitchFamily="34" charset="0"/>
                <a:ea typeface="Calibri" pitchFamily="34" charset="-122"/>
                <a:cs typeface="Calibri" pitchFamily="34" charset="-120"/>
              </a:rPr>
              <a:t>1. Repérer</a:t>
            </a:r>
            <a:endParaRPr lang="fr-FR" sz="2400" dirty="0"/>
          </a:p>
        </p:txBody>
      </p:sp>
      <p:sp>
        <p:nvSpPr>
          <p:cNvPr id="7" name="Text 4"/>
          <p:cNvSpPr txBox="1"/>
          <p:nvPr/>
        </p:nvSpPr>
        <p:spPr>
          <a:xfrm>
            <a:off x="548640" y="4480560"/>
            <a:ext cx="2148840" cy="365760"/>
          </a:xfrm>
          <a:prstGeom prst="rect">
            <a:avLst/>
          </a:prstGeom>
          <a:noFill/>
          <a:ln/>
        </p:spPr>
        <p:txBody>
          <a:bodyPr wrap="square" lIns="0" tIns="0" rIns="0" bIns="0" rtlCol="0" anchor="t"/>
          <a:lstStyle/>
          <a:p>
            <a:pPr indent="0" marL="0">
              <a:buNone/>
            </a:pPr>
            <a:r>
              <a:rPr lang="fr-FR" altLang="en-US" sz="1700" dirty="0">
                <a:solidFill>
                  <a:srgbClr val="566070"/>
                </a:solidFill>
                <a:latin typeface="Calibri" pitchFamily="34" charset="0"/>
                <a:ea typeface="Calibri" pitchFamily="34" charset="-122"/>
                <a:cs typeface="Calibri" pitchFamily="34" charset="-120"/>
              </a:rPr>
              <a:t>une tâche récurrente</a:t>
            </a:r>
            <a:endParaRPr lang="fr-FR" sz="1700" dirty="0"/>
          </a:p>
        </p:txBody>
      </p:sp>
      <p:sp>
        <p:nvSpPr>
          <p:cNvPr id="8" name="Shape 5"/>
          <p:cNvSpPr/>
          <p:nvPr/>
        </p:nvSpPr>
        <p:spPr>
          <a:xfrm>
            <a:off x="2788920" y="4389120"/>
            <a:ext cx="2148840" cy="128016"/>
          </a:xfrm>
          <a:prstGeom prst="rect">
            <a:avLst/>
          </a:prstGeom>
          <a:solidFill>
            <a:srgbClr val="1B2233"/>
          </a:solidFill>
          <a:ln/>
        </p:spPr>
      </p:sp>
      <p:sp>
        <p:nvSpPr>
          <p:cNvPr id="9" name="Shape 6"/>
          <p:cNvSpPr/>
          <p:nvPr/>
        </p:nvSpPr>
        <p:spPr>
          <a:xfrm>
            <a:off x="2788920" y="4517136"/>
            <a:ext cx="2148840" cy="1280160"/>
          </a:xfrm>
          <a:prstGeom prst="rect">
            <a:avLst/>
          </a:prstGeom>
          <a:solidFill>
            <a:srgbClr val="F1F3F6"/>
          </a:solidFill>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788920" y="2971800"/>
            <a:ext cx="457200" cy="457200"/>
          </a:xfrm>
          <a:prstGeom prst="rect">
            <a:avLst/>
          </a:prstGeom>
        </p:spPr>
      </p:pic>
      <p:sp>
        <p:nvSpPr>
          <p:cNvPr id="11" name="Text 7"/>
          <p:cNvSpPr txBox="1"/>
          <p:nvPr/>
        </p:nvSpPr>
        <p:spPr>
          <a:xfrm>
            <a:off x="2788920" y="3520440"/>
            <a:ext cx="2148840" cy="457200"/>
          </a:xfrm>
          <a:prstGeom prst="rect">
            <a:avLst/>
          </a:prstGeom>
          <a:noFill/>
          <a:ln/>
        </p:spPr>
        <p:txBody>
          <a:bodyPr wrap="square" lIns="0" tIns="0" rIns="0" bIns="0" rtlCol="0" anchor="t"/>
          <a:lstStyle/>
          <a:p>
            <a:pPr indent="0" marL="0">
              <a:buNone/>
            </a:pPr>
            <a:r>
              <a:rPr lang="fr-FR" altLang="en-US" sz="2400" b="1" dirty="0">
                <a:solidFill>
                  <a:srgbClr val="1B2233"/>
                </a:solidFill>
                <a:latin typeface="Calibri" pitchFamily="34" charset="0"/>
                <a:ea typeface="Calibri" pitchFamily="34" charset="-122"/>
                <a:cs typeface="Calibri" pitchFamily="34" charset="-120"/>
              </a:rPr>
              <a:t>2. Décrire</a:t>
            </a:r>
            <a:endParaRPr lang="fr-FR" sz="2400" dirty="0"/>
          </a:p>
        </p:txBody>
      </p:sp>
      <p:sp>
        <p:nvSpPr>
          <p:cNvPr id="12" name="Text 8"/>
          <p:cNvSpPr txBox="1"/>
          <p:nvPr/>
        </p:nvSpPr>
        <p:spPr>
          <a:xfrm>
            <a:off x="2788920" y="3977640"/>
            <a:ext cx="2148840" cy="365760"/>
          </a:xfrm>
          <a:prstGeom prst="rect">
            <a:avLst/>
          </a:prstGeom>
          <a:noFill/>
          <a:ln/>
        </p:spPr>
        <p:txBody>
          <a:bodyPr wrap="square" lIns="0" tIns="0" rIns="0" bIns="0" rtlCol="0" anchor="t"/>
          <a:lstStyle/>
          <a:p>
            <a:pPr indent="0" marL="0">
              <a:buNone/>
            </a:pPr>
            <a:r>
              <a:rPr lang="fr-FR" altLang="en-US" sz="1700" dirty="0">
                <a:solidFill>
                  <a:srgbClr val="566070"/>
                </a:solidFill>
                <a:latin typeface="Calibri" pitchFamily="34" charset="0"/>
                <a:ea typeface="Calibri" pitchFamily="34" charset="-122"/>
                <a:cs typeface="Calibri" pitchFamily="34" charset="-120"/>
              </a:rPr>
              <a:t>avec un exemple</a:t>
            </a:r>
            <a:endParaRPr lang="fr-FR" sz="1700" dirty="0"/>
          </a:p>
        </p:txBody>
      </p:sp>
      <p:sp>
        <p:nvSpPr>
          <p:cNvPr id="13" name="Shape 9"/>
          <p:cNvSpPr/>
          <p:nvPr/>
        </p:nvSpPr>
        <p:spPr>
          <a:xfrm>
            <a:off x="5029200" y="3886200"/>
            <a:ext cx="2148840" cy="128016"/>
          </a:xfrm>
          <a:prstGeom prst="rect">
            <a:avLst/>
          </a:prstGeom>
          <a:solidFill>
            <a:srgbClr val="B8235A"/>
          </a:solidFill>
          <a:ln/>
        </p:spPr>
      </p:sp>
      <p:sp>
        <p:nvSpPr>
          <p:cNvPr id="14" name="Shape 10"/>
          <p:cNvSpPr/>
          <p:nvPr/>
        </p:nvSpPr>
        <p:spPr>
          <a:xfrm>
            <a:off x="5029200" y="4014216"/>
            <a:ext cx="2148840" cy="1783080"/>
          </a:xfrm>
          <a:prstGeom prst="rect">
            <a:avLst/>
          </a:prstGeom>
          <a:solidFill>
            <a:srgbClr val="FBE7EF"/>
          </a:solidFill>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029200" y="2468880"/>
            <a:ext cx="457200" cy="457200"/>
          </a:xfrm>
          <a:prstGeom prst="rect">
            <a:avLst/>
          </a:prstGeom>
        </p:spPr>
      </p:pic>
      <p:sp>
        <p:nvSpPr>
          <p:cNvPr id="16" name="Text 11"/>
          <p:cNvSpPr txBox="1"/>
          <p:nvPr/>
        </p:nvSpPr>
        <p:spPr>
          <a:xfrm>
            <a:off x="5029200" y="3017520"/>
            <a:ext cx="2148840" cy="457200"/>
          </a:xfrm>
          <a:prstGeom prst="rect">
            <a:avLst/>
          </a:prstGeom>
          <a:noFill/>
          <a:ln/>
        </p:spPr>
        <p:txBody>
          <a:bodyPr wrap="square" lIns="0" tIns="0" rIns="0" bIns="0" rtlCol="0" anchor="t"/>
          <a:lstStyle/>
          <a:p>
            <a:pPr indent="0" marL="0">
              <a:buNone/>
            </a:pPr>
            <a:r>
              <a:rPr lang="fr-FR" altLang="en-US" sz="2400" b="1" dirty="0">
                <a:solidFill>
                  <a:srgbClr val="B8235A"/>
                </a:solidFill>
                <a:latin typeface="Calibri" pitchFamily="34" charset="0"/>
                <a:ea typeface="Calibri" pitchFamily="34" charset="-122"/>
                <a:cs typeface="Calibri" pitchFamily="34" charset="-120"/>
              </a:rPr>
              <a:t>3. Générer</a:t>
            </a:r>
            <a:endParaRPr lang="fr-FR" sz="2400" dirty="0"/>
          </a:p>
        </p:txBody>
      </p:sp>
      <p:sp>
        <p:nvSpPr>
          <p:cNvPr id="17" name="Text 12"/>
          <p:cNvSpPr txBox="1"/>
          <p:nvPr/>
        </p:nvSpPr>
        <p:spPr>
          <a:xfrm>
            <a:off x="5029200" y="3474720"/>
            <a:ext cx="2148840" cy="365760"/>
          </a:xfrm>
          <a:prstGeom prst="rect">
            <a:avLst/>
          </a:prstGeom>
          <a:noFill/>
          <a:ln/>
        </p:spPr>
        <p:txBody>
          <a:bodyPr wrap="square" lIns="0" tIns="0" rIns="0" bIns="0" rtlCol="0" anchor="t"/>
          <a:lstStyle/>
          <a:p>
            <a:pPr indent="0" marL="0">
              <a:buNone/>
            </a:pPr>
            <a:r>
              <a:rPr lang="fr-FR" altLang="en-US" sz="1700" dirty="0">
                <a:solidFill>
                  <a:srgbClr val="566070"/>
                </a:solidFill>
                <a:latin typeface="Calibri" pitchFamily="34" charset="0"/>
                <a:ea typeface="Calibri" pitchFamily="34" charset="-122"/>
                <a:cs typeface="Calibri" pitchFamily="34" charset="-120"/>
              </a:rPr>
              <a:t>avec skill-creator</a:t>
            </a:r>
            <a:endParaRPr lang="fr-FR" sz="1700" dirty="0"/>
          </a:p>
        </p:txBody>
      </p:sp>
      <p:sp>
        <p:nvSpPr>
          <p:cNvPr id="18" name="Shape 13"/>
          <p:cNvSpPr/>
          <p:nvPr/>
        </p:nvSpPr>
        <p:spPr>
          <a:xfrm>
            <a:off x="7269480" y="3383280"/>
            <a:ext cx="2148840" cy="128016"/>
          </a:xfrm>
          <a:prstGeom prst="rect">
            <a:avLst/>
          </a:prstGeom>
          <a:solidFill>
            <a:srgbClr val="1B2233"/>
          </a:solidFill>
          <a:ln/>
        </p:spPr>
      </p:sp>
      <p:sp>
        <p:nvSpPr>
          <p:cNvPr id="19" name="Shape 14"/>
          <p:cNvSpPr/>
          <p:nvPr/>
        </p:nvSpPr>
        <p:spPr>
          <a:xfrm>
            <a:off x="7269480" y="3511296"/>
            <a:ext cx="2148840" cy="2286000"/>
          </a:xfrm>
          <a:prstGeom prst="rect">
            <a:avLst/>
          </a:prstGeom>
          <a:solidFill>
            <a:srgbClr val="F1F3F6"/>
          </a:solidFill>
          <a:ln/>
        </p:spPr>
      </p:sp>
      <p:pic>
        <p:nvPicPr>
          <p:cNvPr id="20"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269480" y="1965960"/>
            <a:ext cx="457200" cy="457200"/>
          </a:xfrm>
          <a:prstGeom prst="rect">
            <a:avLst/>
          </a:prstGeom>
        </p:spPr>
      </p:pic>
      <p:sp>
        <p:nvSpPr>
          <p:cNvPr id="21" name="Text 15"/>
          <p:cNvSpPr txBox="1"/>
          <p:nvPr/>
        </p:nvSpPr>
        <p:spPr>
          <a:xfrm>
            <a:off x="7269480" y="2514600"/>
            <a:ext cx="2148840" cy="457200"/>
          </a:xfrm>
          <a:prstGeom prst="rect">
            <a:avLst/>
          </a:prstGeom>
          <a:noFill/>
          <a:ln/>
        </p:spPr>
        <p:txBody>
          <a:bodyPr wrap="square" lIns="0" tIns="0" rIns="0" bIns="0" rtlCol="0" anchor="t"/>
          <a:lstStyle/>
          <a:p>
            <a:pPr indent="0" marL="0">
              <a:buNone/>
            </a:pPr>
            <a:r>
              <a:rPr lang="fr-FR" altLang="en-US" sz="2400" b="1" dirty="0">
                <a:solidFill>
                  <a:srgbClr val="1B2233"/>
                </a:solidFill>
                <a:latin typeface="Calibri" pitchFamily="34" charset="0"/>
                <a:ea typeface="Calibri" pitchFamily="34" charset="-122"/>
                <a:cs typeface="Calibri" pitchFamily="34" charset="-120"/>
              </a:rPr>
              <a:t>4. Tester</a:t>
            </a:r>
            <a:endParaRPr lang="fr-FR" sz="2400" dirty="0"/>
          </a:p>
        </p:txBody>
      </p:sp>
      <p:sp>
        <p:nvSpPr>
          <p:cNvPr id="22" name="Text 16"/>
          <p:cNvSpPr txBox="1"/>
          <p:nvPr/>
        </p:nvSpPr>
        <p:spPr>
          <a:xfrm>
            <a:off x="7269480" y="2971800"/>
            <a:ext cx="2148840" cy="365760"/>
          </a:xfrm>
          <a:prstGeom prst="rect">
            <a:avLst/>
          </a:prstGeom>
          <a:noFill/>
          <a:ln/>
        </p:spPr>
        <p:txBody>
          <a:bodyPr wrap="square" lIns="0" tIns="0" rIns="0" bIns="0" rtlCol="0" anchor="t"/>
          <a:lstStyle/>
          <a:p>
            <a:pPr indent="0" marL="0">
              <a:buNone/>
            </a:pPr>
            <a:r>
              <a:rPr lang="fr-FR" altLang="en-US" sz="1700" dirty="0">
                <a:solidFill>
                  <a:srgbClr val="566070"/>
                </a:solidFill>
                <a:latin typeface="Calibri" pitchFamily="34" charset="0"/>
                <a:ea typeface="Calibri" pitchFamily="34" charset="-122"/>
                <a:cs typeface="Calibri" pitchFamily="34" charset="-120"/>
              </a:rPr>
              <a:t>sur un vrai cas</a:t>
            </a:r>
            <a:endParaRPr lang="fr-FR" sz="1700" dirty="0"/>
          </a:p>
        </p:txBody>
      </p:sp>
      <p:sp>
        <p:nvSpPr>
          <p:cNvPr id="23" name="Shape 17"/>
          <p:cNvSpPr/>
          <p:nvPr/>
        </p:nvSpPr>
        <p:spPr>
          <a:xfrm>
            <a:off x="9509760" y="2880360"/>
            <a:ext cx="2148840" cy="128016"/>
          </a:xfrm>
          <a:prstGeom prst="rect">
            <a:avLst/>
          </a:prstGeom>
          <a:solidFill>
            <a:srgbClr val="1B2233"/>
          </a:solidFill>
          <a:ln/>
        </p:spPr>
      </p:sp>
      <p:sp>
        <p:nvSpPr>
          <p:cNvPr id="24" name="Shape 18"/>
          <p:cNvSpPr/>
          <p:nvPr/>
        </p:nvSpPr>
        <p:spPr>
          <a:xfrm>
            <a:off x="9509760" y="3008376"/>
            <a:ext cx="2148840" cy="2788920"/>
          </a:xfrm>
          <a:prstGeom prst="rect">
            <a:avLst/>
          </a:prstGeom>
          <a:solidFill>
            <a:srgbClr val="F1F3F6"/>
          </a:solidFill>
          <a:ln/>
        </p:spPr>
      </p:sp>
      <p:pic>
        <p:nvPicPr>
          <p:cNvPr id="25"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09760" y="1463040"/>
            <a:ext cx="457200" cy="457200"/>
          </a:xfrm>
          <a:prstGeom prst="rect">
            <a:avLst/>
          </a:prstGeom>
        </p:spPr>
      </p:pic>
      <p:sp>
        <p:nvSpPr>
          <p:cNvPr id="26" name="Text 19"/>
          <p:cNvSpPr txBox="1"/>
          <p:nvPr/>
        </p:nvSpPr>
        <p:spPr>
          <a:xfrm>
            <a:off x="9509760" y="2011680"/>
            <a:ext cx="2148840" cy="457200"/>
          </a:xfrm>
          <a:prstGeom prst="rect">
            <a:avLst/>
          </a:prstGeom>
          <a:noFill/>
          <a:ln/>
        </p:spPr>
        <p:txBody>
          <a:bodyPr wrap="square" lIns="0" tIns="0" rIns="0" bIns="0" rtlCol="0" anchor="t"/>
          <a:lstStyle/>
          <a:p>
            <a:pPr indent="0" marL="0">
              <a:buNone/>
            </a:pPr>
            <a:r>
              <a:rPr lang="fr-FR" altLang="en-US" sz="2400" b="1" dirty="0">
                <a:solidFill>
                  <a:srgbClr val="1B2233"/>
                </a:solidFill>
                <a:latin typeface="Calibri" pitchFamily="34" charset="0"/>
                <a:ea typeface="Calibri" pitchFamily="34" charset="-122"/>
                <a:cs typeface="Calibri" pitchFamily="34" charset="-120"/>
              </a:rPr>
              <a:t>5. Ajuster</a:t>
            </a:r>
            <a:endParaRPr lang="fr-FR" sz="2400" dirty="0"/>
          </a:p>
        </p:txBody>
      </p:sp>
      <p:sp>
        <p:nvSpPr>
          <p:cNvPr id="27" name="Text 20"/>
          <p:cNvSpPr txBox="1"/>
          <p:nvPr/>
        </p:nvSpPr>
        <p:spPr>
          <a:xfrm>
            <a:off x="9509760" y="2468880"/>
            <a:ext cx="2148840" cy="365760"/>
          </a:xfrm>
          <a:prstGeom prst="rect">
            <a:avLst/>
          </a:prstGeom>
          <a:noFill/>
          <a:ln/>
        </p:spPr>
        <p:txBody>
          <a:bodyPr wrap="square" lIns="0" tIns="0" rIns="0" bIns="0" rtlCol="0" anchor="t"/>
          <a:lstStyle/>
          <a:p>
            <a:pPr indent="0" marL="0">
              <a:buNone/>
            </a:pPr>
            <a:r>
              <a:rPr lang="fr-FR" altLang="en-US" sz="1700" dirty="0">
                <a:solidFill>
                  <a:srgbClr val="566070"/>
                </a:solidFill>
                <a:latin typeface="Calibri" pitchFamily="34" charset="0"/>
                <a:ea typeface="Calibri" pitchFamily="34" charset="-122"/>
                <a:cs typeface="Calibri" pitchFamily="34" charset="-120"/>
              </a:rPr>
              <a:t>la description</a:t>
            </a:r>
            <a:endParaRPr lang="fr-FR" sz="1700" dirty="0"/>
          </a:p>
        </p:txBody>
      </p:sp>
      <p:pic>
        <p:nvPicPr>
          <p:cNvPr id="28"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48640" y="5916168"/>
            <a:ext cx="274320" cy="274320"/>
          </a:xfrm>
          <a:prstGeom prst="rect">
            <a:avLst/>
          </a:prstGeom>
        </p:spPr>
      </p:pic>
      <p:sp>
        <p:nvSpPr>
          <p:cNvPr id="29" name="Text 21"/>
          <p:cNvSpPr txBox="1"/>
          <p:nvPr/>
        </p:nvSpPr>
        <p:spPr>
          <a:xfrm>
            <a:off x="960120" y="5824728"/>
            <a:ext cx="7315200" cy="457200"/>
          </a:xfrm>
          <a:prstGeom prst="rect">
            <a:avLst/>
          </a:prstGeom>
          <a:noFill/>
          <a:ln/>
        </p:spPr>
        <p:txBody>
          <a:bodyPr wrap="square" lIns="0" tIns="0" rIns="0" bIns="0" rtlCol="0" anchor="ctr"/>
          <a:lstStyle/>
          <a:p>
            <a:pPr indent="0" marL="0">
              <a:buNone/>
            </a:pPr>
            <a:r>
              <a:rPr lang="fr-FR" altLang="en-US" sz="1800" b="1" dirty="0">
                <a:solidFill>
                  <a:srgbClr val="B8235A"/>
                </a:solidFill>
                <a:latin typeface="Calibri" pitchFamily="34" charset="0"/>
                <a:ea typeface="Calibri" pitchFamily="34" charset="-122"/>
                <a:cs typeface="Calibri" pitchFamily="34" charset="-120"/>
              </a:rPr>
              <a:t>Entre 4 et 5, on boucle 2 ou 3 fois : c'est normal</a:t>
            </a:r>
            <a:endParaRPr lang="fr-FR" sz="1800" dirty="0"/>
          </a:p>
        </p:txBody>
      </p:sp>
      <p:sp>
        <p:nvSpPr>
          <p:cNvPr id="30" name="Text 22"/>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5 · Créer</a:t>
            </a:r>
            <a:endParaRPr lang="fr-FR" sz="1400" dirty="0"/>
          </a:p>
        </p:txBody>
      </p:sp>
      <p:sp>
        <p:nvSpPr>
          <p:cNvPr id="31" name="Text 23"/>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22</a:t>
            </a:r>
            <a:endParaRPr lang="fr-FR"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skill-creator : la skill qui fabrique les skills</a:t>
            </a:r>
            <a:endParaRPr lang="fr-FR" sz="4000" dirty="0"/>
          </a:p>
        </p:txBody>
      </p:sp>
      <p:sp>
        <p:nvSpPr>
          <p:cNvPr id="3" name="Shape 1"/>
          <p:cNvSpPr/>
          <p:nvPr/>
        </p:nvSpPr>
        <p:spPr>
          <a:xfrm>
            <a:off x="2163928" y="2240280"/>
            <a:ext cx="7863840" cy="2834640"/>
          </a:xfrm>
          <a:prstGeom prst="ellipse">
            <a:avLst/>
          </a:prstGeom>
          <a:ln w="31750">
            <a:solidFill>
              <a:srgbClr val="B8235A"/>
            </a:solidFill>
            <a:prstDash val="dash"/>
          </a:ln>
        </p:spPr>
      </p:sp>
      <p:sp>
        <p:nvSpPr>
          <p:cNvPr id="4" name="Text 2"/>
          <p:cNvSpPr txBox="1"/>
          <p:nvPr/>
        </p:nvSpPr>
        <p:spPr>
          <a:xfrm>
            <a:off x="4267048" y="3200400"/>
            <a:ext cx="3657600" cy="548640"/>
          </a:xfrm>
          <a:prstGeom prst="rect">
            <a:avLst/>
          </a:prstGeom>
          <a:noFill/>
          <a:ln/>
        </p:spPr>
        <p:txBody>
          <a:bodyPr wrap="square" lIns="0" tIns="0" rIns="0" bIns="0" rtlCol="0" anchor="ctr"/>
          <a:lstStyle/>
          <a:p>
            <a:pPr algn="ctr" indent="0" marL="0">
              <a:buNone/>
            </a:pPr>
            <a:r>
              <a:rPr lang="fr-FR" altLang="en-US" sz="2800" b="1" dirty="0">
                <a:solidFill>
                  <a:srgbClr val="B8235A"/>
                </a:solidFill>
                <a:latin typeface="Courier New" pitchFamily="34" charset="0"/>
                <a:ea typeface="Courier New" pitchFamily="34" charset="-122"/>
                <a:cs typeface="Courier New" pitchFamily="34" charset="-120"/>
              </a:rPr>
              <a:t>skill-creator</a:t>
            </a:r>
            <a:endParaRPr lang="fr-FR" sz="2800" dirty="0"/>
          </a:p>
        </p:txBody>
      </p:sp>
      <p:sp>
        <p:nvSpPr>
          <p:cNvPr id="5" name="Text 3"/>
          <p:cNvSpPr txBox="1"/>
          <p:nvPr/>
        </p:nvSpPr>
        <p:spPr>
          <a:xfrm>
            <a:off x="4267048" y="3749040"/>
            <a:ext cx="3657600" cy="411480"/>
          </a:xfrm>
          <a:prstGeom prst="rect">
            <a:avLst/>
          </a:prstGeom>
          <a:noFill/>
          <a:ln/>
        </p:spPr>
        <p:txBody>
          <a:bodyPr wrap="square" lIns="0" tIns="0" rIns="0" bIns="0" rtlCol="0" anchor="ctr"/>
          <a:lstStyle/>
          <a:p>
            <a:pPr algn="ctr" indent="0" marL="0">
              <a:buNone/>
            </a:pPr>
            <a:r>
              <a:rPr lang="fr-FR" altLang="en-US" sz="1800" i="1" dirty="0">
                <a:solidFill>
                  <a:srgbClr val="566070"/>
                </a:solidFill>
                <a:latin typeface="Calibri" pitchFamily="34" charset="0"/>
                <a:ea typeface="Calibri" pitchFamily="34" charset="-122"/>
                <a:cs typeface="Calibri" pitchFamily="34" charset="-120"/>
              </a:rPr>
              <a:t>boucle jusqu'à satisfaction</a:t>
            </a:r>
            <a:endParaRPr lang="fr-FR" sz="1800" dirty="0"/>
          </a:p>
        </p:txBody>
      </p:sp>
      <p:sp>
        <p:nvSpPr>
          <p:cNvPr id="6" name="Shape 4"/>
          <p:cNvSpPr/>
          <p:nvPr/>
        </p:nvSpPr>
        <p:spPr>
          <a:xfrm>
            <a:off x="4724248" y="1805940"/>
            <a:ext cx="2743200" cy="868680"/>
          </a:xfrm>
          <a:prstGeom prst="roundRect">
            <a:avLst>
              <a:gd name="adj" fmla="val 12632"/>
            </a:avLst>
          </a:prstGeom>
          <a:solidFill>
            <a:srgbClr val="F1F3F6"/>
          </a:solidFill>
          <a:ln w="38100">
            <a:solidFill>
              <a:srgbClr val="FFFFFF"/>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4888840" y="2034540"/>
            <a:ext cx="384048" cy="384048"/>
          </a:xfrm>
          <a:prstGeom prst="rect">
            <a:avLst/>
          </a:prstGeom>
        </p:spPr>
      </p:pic>
      <p:sp>
        <p:nvSpPr>
          <p:cNvPr id="8" name="Text 5"/>
          <p:cNvSpPr txBox="1"/>
          <p:nvPr/>
        </p:nvSpPr>
        <p:spPr>
          <a:xfrm>
            <a:off x="5410048" y="1879092"/>
            <a:ext cx="1965960" cy="411480"/>
          </a:xfrm>
          <a:prstGeom prst="rect">
            <a:avLst/>
          </a:prstGeom>
          <a:noFill/>
          <a:ln/>
        </p:spPr>
        <p:txBody>
          <a:bodyPr wrap="square" lIns="0" tIns="0" rIns="0" bIns="0" rtlCol="0" anchor="ctr">
            <a:normAutofit/>
          </a:bodyPr>
          <a:lstStyle/>
          <a:p>
            <a:pPr indent="0" marL="0">
              <a:buNone/>
            </a:pPr>
            <a:r>
              <a:rPr lang="fr-FR" altLang="en-US" sz="1900" b="1" dirty="0">
                <a:solidFill>
                  <a:srgbClr val="1B2233"/>
                </a:solidFill>
                <a:latin typeface="Calibri" pitchFamily="34" charset="0"/>
                <a:ea typeface="Calibri" pitchFamily="34" charset="-122"/>
                <a:cs typeface="Calibri" pitchFamily="34" charset="-120"/>
              </a:rPr>
              <a:t>1. Comprendre</a:t>
            </a:r>
            <a:endParaRPr lang="fr-FR" sz="1900" dirty="0"/>
          </a:p>
        </p:txBody>
      </p:sp>
      <p:sp>
        <p:nvSpPr>
          <p:cNvPr id="9" name="Text 6"/>
          <p:cNvSpPr txBox="1"/>
          <p:nvPr/>
        </p:nvSpPr>
        <p:spPr>
          <a:xfrm>
            <a:off x="5410048" y="2263140"/>
            <a:ext cx="1965960" cy="347472"/>
          </a:xfrm>
          <a:prstGeom prst="rect">
            <a:avLst/>
          </a:prstGeom>
          <a:noFill/>
          <a:ln/>
        </p:spPr>
        <p:txBody>
          <a:bodyPr wrap="square" lIns="0" tIns="0" rIns="0" bIns="0" rtlCol="0" anchor="ctr"/>
          <a:lstStyle/>
          <a:p>
            <a:pPr indent="0" marL="0">
              <a:buNone/>
            </a:pPr>
            <a:r>
              <a:rPr lang="fr-FR" altLang="en-US" sz="1600" dirty="0">
                <a:solidFill>
                  <a:srgbClr val="566070"/>
                </a:solidFill>
                <a:latin typeface="Calibri" pitchFamily="34" charset="0"/>
                <a:ea typeface="Calibri" pitchFamily="34" charset="-122"/>
                <a:cs typeface="Calibri" pitchFamily="34" charset="-120"/>
              </a:rPr>
              <a:t>4 questions</a:t>
            </a:r>
            <a:endParaRPr lang="fr-FR" sz="1600" dirty="0"/>
          </a:p>
        </p:txBody>
      </p:sp>
      <p:sp>
        <p:nvSpPr>
          <p:cNvPr id="10" name="Shape 7"/>
          <p:cNvSpPr/>
          <p:nvPr/>
        </p:nvSpPr>
        <p:spPr>
          <a:xfrm>
            <a:off x="8129390" y="2514600"/>
            <a:ext cx="2743200" cy="868680"/>
          </a:xfrm>
          <a:prstGeom prst="roundRect">
            <a:avLst>
              <a:gd name="adj" fmla="val 12632"/>
            </a:avLst>
          </a:prstGeom>
          <a:solidFill>
            <a:srgbClr val="F1F3F6"/>
          </a:solidFill>
          <a:ln w="38100">
            <a:solidFill>
              <a:srgbClr val="FFFFFF"/>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93982" y="2743200"/>
            <a:ext cx="384048" cy="384048"/>
          </a:xfrm>
          <a:prstGeom prst="rect">
            <a:avLst/>
          </a:prstGeom>
        </p:spPr>
      </p:pic>
      <p:sp>
        <p:nvSpPr>
          <p:cNvPr id="12" name="Text 8"/>
          <p:cNvSpPr txBox="1"/>
          <p:nvPr/>
        </p:nvSpPr>
        <p:spPr>
          <a:xfrm>
            <a:off x="8815190" y="2587752"/>
            <a:ext cx="1965960" cy="411480"/>
          </a:xfrm>
          <a:prstGeom prst="rect">
            <a:avLst/>
          </a:prstGeom>
          <a:noFill/>
          <a:ln/>
        </p:spPr>
        <p:txBody>
          <a:bodyPr wrap="square" lIns="0" tIns="0" rIns="0" bIns="0" rtlCol="0" anchor="ctr">
            <a:normAutofit/>
          </a:bodyPr>
          <a:lstStyle/>
          <a:p>
            <a:pPr indent="0" marL="0">
              <a:buNone/>
            </a:pPr>
            <a:r>
              <a:rPr lang="fr-FR" altLang="en-US" sz="1900" b="1" dirty="0">
                <a:solidFill>
                  <a:srgbClr val="1B2233"/>
                </a:solidFill>
                <a:latin typeface="Calibri" pitchFamily="34" charset="0"/>
                <a:ea typeface="Calibri" pitchFamily="34" charset="-122"/>
                <a:cs typeface="Calibri" pitchFamily="34" charset="-120"/>
              </a:rPr>
              <a:t>2. Rédiger</a:t>
            </a:r>
            <a:endParaRPr lang="fr-FR" sz="1900" dirty="0"/>
          </a:p>
        </p:txBody>
      </p:sp>
      <p:sp>
        <p:nvSpPr>
          <p:cNvPr id="13" name="Text 9"/>
          <p:cNvSpPr txBox="1"/>
          <p:nvPr/>
        </p:nvSpPr>
        <p:spPr>
          <a:xfrm>
            <a:off x="8815190" y="2971800"/>
            <a:ext cx="1965960" cy="347472"/>
          </a:xfrm>
          <a:prstGeom prst="rect">
            <a:avLst/>
          </a:prstGeom>
          <a:noFill/>
          <a:ln/>
        </p:spPr>
        <p:txBody>
          <a:bodyPr wrap="square" lIns="0" tIns="0" rIns="0" bIns="0" rtlCol="0" anchor="ctr"/>
          <a:lstStyle/>
          <a:p>
            <a:pPr indent="0" marL="0">
              <a:buNone/>
            </a:pPr>
            <a:r>
              <a:rPr lang="fr-FR" altLang="en-US" sz="1600" dirty="0">
                <a:solidFill>
                  <a:srgbClr val="566070"/>
                </a:solidFill>
                <a:latin typeface="Calibri" pitchFamily="34" charset="0"/>
                <a:ea typeface="Calibri" pitchFamily="34" charset="-122"/>
                <a:cs typeface="Calibri" pitchFamily="34" charset="-120"/>
              </a:rPr>
              <a:t>le SKILL.md</a:t>
            </a:r>
            <a:endParaRPr lang="fr-FR" sz="1600" dirty="0"/>
          </a:p>
        </p:txBody>
      </p:sp>
      <p:sp>
        <p:nvSpPr>
          <p:cNvPr id="14" name="Shape 10"/>
          <p:cNvSpPr/>
          <p:nvPr/>
        </p:nvSpPr>
        <p:spPr>
          <a:xfrm>
            <a:off x="8129390" y="3931920"/>
            <a:ext cx="2743200" cy="868680"/>
          </a:xfrm>
          <a:prstGeom prst="roundRect">
            <a:avLst>
              <a:gd name="adj" fmla="val 12632"/>
            </a:avLst>
          </a:prstGeom>
          <a:solidFill>
            <a:srgbClr val="F1F3F6"/>
          </a:solidFill>
          <a:ln w="38100">
            <a:solidFill>
              <a:srgbClr val="FFFFFF"/>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93982" y="4160520"/>
            <a:ext cx="384048" cy="384048"/>
          </a:xfrm>
          <a:prstGeom prst="rect">
            <a:avLst/>
          </a:prstGeom>
        </p:spPr>
      </p:pic>
      <p:sp>
        <p:nvSpPr>
          <p:cNvPr id="16" name="Text 11"/>
          <p:cNvSpPr txBox="1"/>
          <p:nvPr/>
        </p:nvSpPr>
        <p:spPr>
          <a:xfrm>
            <a:off x="8815190" y="4005072"/>
            <a:ext cx="1965960" cy="411480"/>
          </a:xfrm>
          <a:prstGeom prst="rect">
            <a:avLst/>
          </a:prstGeom>
          <a:noFill/>
          <a:ln/>
        </p:spPr>
        <p:txBody>
          <a:bodyPr wrap="square" lIns="0" tIns="0" rIns="0" bIns="0" rtlCol="0" anchor="ctr">
            <a:normAutofit/>
          </a:bodyPr>
          <a:lstStyle/>
          <a:p>
            <a:pPr indent="0" marL="0">
              <a:buNone/>
            </a:pPr>
            <a:r>
              <a:rPr lang="fr-FR" altLang="en-US" sz="1900" b="1" dirty="0">
                <a:solidFill>
                  <a:srgbClr val="1B2233"/>
                </a:solidFill>
                <a:latin typeface="Calibri" pitchFamily="34" charset="0"/>
                <a:ea typeface="Calibri" pitchFamily="34" charset="-122"/>
                <a:cs typeface="Calibri" pitchFamily="34" charset="-120"/>
              </a:rPr>
              <a:t>3. Tester</a:t>
            </a:r>
            <a:endParaRPr lang="fr-FR" sz="1900" dirty="0"/>
          </a:p>
        </p:txBody>
      </p:sp>
      <p:sp>
        <p:nvSpPr>
          <p:cNvPr id="17" name="Text 12"/>
          <p:cNvSpPr txBox="1"/>
          <p:nvPr/>
        </p:nvSpPr>
        <p:spPr>
          <a:xfrm>
            <a:off x="8815190" y="4389120"/>
            <a:ext cx="1965960" cy="347472"/>
          </a:xfrm>
          <a:prstGeom prst="rect">
            <a:avLst/>
          </a:prstGeom>
          <a:noFill/>
          <a:ln/>
        </p:spPr>
        <p:txBody>
          <a:bodyPr wrap="square" lIns="0" tIns="0" rIns="0" bIns="0" rtlCol="0" anchor="ctr"/>
          <a:lstStyle/>
          <a:p>
            <a:pPr indent="0" marL="0">
              <a:buNone/>
            </a:pPr>
            <a:r>
              <a:rPr lang="fr-FR" altLang="en-US" sz="1600" dirty="0">
                <a:solidFill>
                  <a:srgbClr val="566070"/>
                </a:solidFill>
                <a:latin typeface="Calibri" pitchFamily="34" charset="0"/>
                <a:ea typeface="Calibri" pitchFamily="34" charset="-122"/>
                <a:cs typeface="Calibri" pitchFamily="34" charset="-120"/>
              </a:rPr>
              <a:t>2 ou 3 cas réels</a:t>
            </a:r>
            <a:endParaRPr lang="fr-FR" sz="1600" dirty="0"/>
          </a:p>
        </p:txBody>
      </p:sp>
      <p:sp>
        <p:nvSpPr>
          <p:cNvPr id="18" name="Shape 13"/>
          <p:cNvSpPr/>
          <p:nvPr/>
        </p:nvSpPr>
        <p:spPr>
          <a:xfrm>
            <a:off x="4724248" y="4640580"/>
            <a:ext cx="2743200" cy="868680"/>
          </a:xfrm>
          <a:prstGeom prst="roundRect">
            <a:avLst>
              <a:gd name="adj" fmla="val 12632"/>
            </a:avLst>
          </a:prstGeom>
          <a:solidFill>
            <a:srgbClr val="F1F3F6"/>
          </a:solidFill>
          <a:ln w="38100">
            <a:solidFill>
              <a:srgbClr val="FFFFFF"/>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888840" y="4869180"/>
            <a:ext cx="384048" cy="384048"/>
          </a:xfrm>
          <a:prstGeom prst="rect">
            <a:avLst/>
          </a:prstGeom>
        </p:spPr>
      </p:pic>
      <p:sp>
        <p:nvSpPr>
          <p:cNvPr id="20" name="Text 14"/>
          <p:cNvSpPr txBox="1"/>
          <p:nvPr/>
        </p:nvSpPr>
        <p:spPr>
          <a:xfrm>
            <a:off x="5410048" y="4713732"/>
            <a:ext cx="1965960" cy="411480"/>
          </a:xfrm>
          <a:prstGeom prst="rect">
            <a:avLst/>
          </a:prstGeom>
          <a:noFill/>
          <a:ln/>
        </p:spPr>
        <p:txBody>
          <a:bodyPr wrap="square" lIns="0" tIns="0" rIns="0" bIns="0" rtlCol="0" anchor="ctr">
            <a:normAutofit/>
          </a:bodyPr>
          <a:lstStyle/>
          <a:p>
            <a:pPr indent="0" marL="0">
              <a:buNone/>
            </a:pPr>
            <a:r>
              <a:rPr lang="fr-FR" altLang="en-US" sz="1900" b="1" dirty="0">
                <a:solidFill>
                  <a:srgbClr val="1B2233"/>
                </a:solidFill>
                <a:latin typeface="Calibri" pitchFamily="34" charset="0"/>
                <a:ea typeface="Calibri" pitchFamily="34" charset="-122"/>
                <a:cs typeface="Calibri" pitchFamily="34" charset="-120"/>
              </a:rPr>
              <a:t>4. Comparer</a:t>
            </a:r>
            <a:endParaRPr lang="fr-FR" sz="1900" dirty="0"/>
          </a:p>
        </p:txBody>
      </p:sp>
      <p:sp>
        <p:nvSpPr>
          <p:cNvPr id="21" name="Text 15"/>
          <p:cNvSpPr txBox="1"/>
          <p:nvPr/>
        </p:nvSpPr>
        <p:spPr>
          <a:xfrm>
            <a:off x="5410048" y="5097780"/>
            <a:ext cx="1965960" cy="347472"/>
          </a:xfrm>
          <a:prstGeom prst="rect">
            <a:avLst/>
          </a:prstGeom>
          <a:noFill/>
          <a:ln/>
        </p:spPr>
        <p:txBody>
          <a:bodyPr wrap="square" lIns="0" tIns="0" rIns="0" bIns="0" rtlCol="0" anchor="ctr"/>
          <a:lstStyle/>
          <a:p>
            <a:pPr indent="0" marL="0">
              <a:buNone/>
            </a:pPr>
            <a:r>
              <a:rPr lang="fr-FR" altLang="en-US" sz="1600" dirty="0">
                <a:solidFill>
                  <a:srgbClr val="566070"/>
                </a:solidFill>
                <a:latin typeface="Calibri" pitchFamily="34" charset="0"/>
                <a:ea typeface="Calibri" pitchFamily="34" charset="-122"/>
                <a:cs typeface="Calibri" pitchFamily="34" charset="-120"/>
              </a:rPr>
              <a:t>avec / sans skill</a:t>
            </a:r>
            <a:endParaRPr lang="fr-FR" sz="1600" dirty="0"/>
          </a:p>
        </p:txBody>
      </p:sp>
      <p:sp>
        <p:nvSpPr>
          <p:cNvPr id="22" name="Shape 16"/>
          <p:cNvSpPr/>
          <p:nvPr/>
        </p:nvSpPr>
        <p:spPr>
          <a:xfrm>
            <a:off x="1319105" y="3931920"/>
            <a:ext cx="2743200" cy="868680"/>
          </a:xfrm>
          <a:prstGeom prst="roundRect">
            <a:avLst>
              <a:gd name="adj" fmla="val 12632"/>
            </a:avLst>
          </a:prstGeom>
          <a:solidFill>
            <a:srgbClr val="F1F3F6"/>
          </a:solidFill>
          <a:ln w="38100">
            <a:solidFill>
              <a:srgbClr val="FFFFFF"/>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483697" y="4160520"/>
            <a:ext cx="384048" cy="384048"/>
          </a:xfrm>
          <a:prstGeom prst="rect">
            <a:avLst/>
          </a:prstGeom>
        </p:spPr>
      </p:pic>
      <p:sp>
        <p:nvSpPr>
          <p:cNvPr id="24" name="Text 17"/>
          <p:cNvSpPr txBox="1"/>
          <p:nvPr/>
        </p:nvSpPr>
        <p:spPr>
          <a:xfrm>
            <a:off x="2004905" y="4005072"/>
            <a:ext cx="1965960" cy="411480"/>
          </a:xfrm>
          <a:prstGeom prst="rect">
            <a:avLst/>
          </a:prstGeom>
          <a:noFill/>
          <a:ln/>
        </p:spPr>
        <p:txBody>
          <a:bodyPr wrap="square" lIns="0" tIns="0" rIns="0" bIns="0" rtlCol="0" anchor="ctr">
            <a:normAutofit/>
          </a:bodyPr>
          <a:lstStyle/>
          <a:p>
            <a:pPr indent="0" marL="0">
              <a:buNone/>
            </a:pPr>
            <a:r>
              <a:rPr lang="fr-FR" altLang="en-US" sz="1900" b="1" dirty="0">
                <a:solidFill>
                  <a:srgbClr val="1B2233"/>
                </a:solidFill>
                <a:latin typeface="Calibri" pitchFamily="34" charset="0"/>
                <a:ea typeface="Calibri" pitchFamily="34" charset="-122"/>
                <a:cs typeface="Calibri" pitchFamily="34" charset="-120"/>
              </a:rPr>
              <a:t>5. Améliorer</a:t>
            </a:r>
            <a:endParaRPr lang="fr-FR" sz="1900" dirty="0"/>
          </a:p>
        </p:txBody>
      </p:sp>
      <p:sp>
        <p:nvSpPr>
          <p:cNvPr id="25" name="Text 18"/>
          <p:cNvSpPr txBox="1"/>
          <p:nvPr/>
        </p:nvSpPr>
        <p:spPr>
          <a:xfrm>
            <a:off x="2004905" y="4389120"/>
            <a:ext cx="1965960" cy="347472"/>
          </a:xfrm>
          <a:prstGeom prst="rect">
            <a:avLst/>
          </a:prstGeom>
          <a:noFill/>
          <a:ln/>
        </p:spPr>
        <p:txBody>
          <a:bodyPr wrap="square" lIns="0" tIns="0" rIns="0" bIns="0" rtlCol="0" anchor="ctr"/>
          <a:lstStyle/>
          <a:p>
            <a:pPr indent="0" marL="0">
              <a:buNone/>
            </a:pPr>
            <a:r>
              <a:rPr lang="fr-FR" altLang="en-US" sz="1600" dirty="0">
                <a:solidFill>
                  <a:srgbClr val="566070"/>
                </a:solidFill>
                <a:latin typeface="Calibri" pitchFamily="34" charset="0"/>
                <a:ea typeface="Calibri" pitchFamily="34" charset="-122"/>
                <a:cs typeface="Calibri" pitchFamily="34" charset="-120"/>
              </a:rPr>
              <a:t>selon vos retours</a:t>
            </a:r>
            <a:endParaRPr lang="fr-FR" sz="1600" dirty="0"/>
          </a:p>
        </p:txBody>
      </p:sp>
      <p:sp>
        <p:nvSpPr>
          <p:cNvPr id="26" name="Shape 19"/>
          <p:cNvSpPr/>
          <p:nvPr/>
        </p:nvSpPr>
        <p:spPr>
          <a:xfrm>
            <a:off x="1319105" y="2514600"/>
            <a:ext cx="2743200" cy="868680"/>
          </a:xfrm>
          <a:prstGeom prst="roundRect">
            <a:avLst>
              <a:gd name="adj" fmla="val 12632"/>
            </a:avLst>
          </a:prstGeom>
          <a:solidFill>
            <a:srgbClr val="FBE7EF"/>
          </a:solidFill>
          <a:ln w="38100">
            <a:solidFill>
              <a:srgbClr val="FFFFFF"/>
            </a:solidFill>
            <a:prstDash val="solid"/>
          </a:ln>
        </p:spPr>
      </p:sp>
      <p:pic>
        <p:nvPicPr>
          <p:cNvPr id="27"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483697" y="2743200"/>
            <a:ext cx="384048" cy="384048"/>
          </a:xfrm>
          <a:prstGeom prst="rect">
            <a:avLst/>
          </a:prstGeom>
        </p:spPr>
      </p:pic>
      <p:sp>
        <p:nvSpPr>
          <p:cNvPr id="28" name="Text 20"/>
          <p:cNvSpPr txBox="1"/>
          <p:nvPr/>
        </p:nvSpPr>
        <p:spPr>
          <a:xfrm>
            <a:off x="2004905" y="2587752"/>
            <a:ext cx="1965960" cy="411480"/>
          </a:xfrm>
          <a:prstGeom prst="rect">
            <a:avLst/>
          </a:prstGeom>
          <a:noFill/>
          <a:ln/>
        </p:spPr>
        <p:txBody>
          <a:bodyPr wrap="square" lIns="0" tIns="0" rIns="0" bIns="0" rtlCol="0" anchor="ctr">
            <a:normAutofit/>
          </a:bodyPr>
          <a:lstStyle/>
          <a:p>
            <a:pPr indent="0" marL="0">
              <a:buNone/>
            </a:pPr>
            <a:r>
              <a:rPr lang="fr-FR" altLang="en-US" sz="1900" b="1" dirty="0">
                <a:solidFill>
                  <a:srgbClr val="B8235A"/>
                </a:solidFill>
                <a:latin typeface="Calibri" pitchFamily="34" charset="0"/>
                <a:ea typeface="Calibri" pitchFamily="34" charset="-122"/>
                <a:cs typeface="Calibri" pitchFamily="34" charset="-120"/>
              </a:rPr>
              <a:t>6. Affiner la description</a:t>
            </a:r>
            <a:endParaRPr lang="fr-FR" sz="1900" dirty="0"/>
          </a:p>
        </p:txBody>
      </p:sp>
      <p:sp>
        <p:nvSpPr>
          <p:cNvPr id="29" name="Text 21"/>
          <p:cNvSpPr txBox="1"/>
          <p:nvPr/>
        </p:nvSpPr>
        <p:spPr>
          <a:xfrm>
            <a:off x="2004905" y="2971800"/>
            <a:ext cx="1965960" cy="347472"/>
          </a:xfrm>
          <a:prstGeom prst="rect">
            <a:avLst/>
          </a:prstGeom>
          <a:noFill/>
          <a:ln/>
        </p:spPr>
        <p:txBody>
          <a:bodyPr wrap="square" lIns="0" tIns="0" rIns="0" bIns="0" rtlCol="0" anchor="ctr"/>
          <a:lstStyle/>
          <a:p>
            <a:pPr indent="0" marL="0">
              <a:buNone/>
            </a:pPr>
            <a:r>
              <a:rPr lang="fr-FR" altLang="en-US" sz="1600" dirty="0">
                <a:solidFill>
                  <a:srgbClr val="566070"/>
                </a:solidFill>
                <a:latin typeface="Calibri" pitchFamily="34" charset="0"/>
                <a:ea typeface="Calibri" pitchFamily="34" charset="-122"/>
                <a:cs typeface="Calibri" pitchFamily="34" charset="-120"/>
              </a:rPr>
              <a:t>20 demandes test</a:t>
            </a:r>
            <a:endParaRPr lang="fr-FR" sz="1600" dirty="0"/>
          </a:p>
        </p:txBody>
      </p:sp>
      <p:pic>
        <p:nvPicPr>
          <p:cNvPr id="30"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48640" y="5852160"/>
            <a:ext cx="347472" cy="347472"/>
          </a:xfrm>
          <a:prstGeom prst="rect">
            <a:avLst/>
          </a:prstGeom>
        </p:spPr>
      </p:pic>
      <p:sp>
        <p:nvSpPr>
          <p:cNvPr id="31" name="Text 22"/>
          <p:cNvSpPr txBox="1"/>
          <p:nvPr/>
        </p:nvSpPr>
        <p:spPr>
          <a:xfrm>
            <a:off x="1005840" y="5788152"/>
            <a:ext cx="10058400" cy="475488"/>
          </a:xfrm>
          <a:prstGeom prst="rect">
            <a:avLst/>
          </a:prstGeom>
          <a:noFill/>
          <a:ln/>
        </p:spPr>
        <p:txBody>
          <a:bodyPr wrap="square" lIns="0" tIns="0" rIns="0" bIns="0" rtlCol="0" anchor="ctr"/>
          <a:lstStyle/>
          <a:p>
            <a:pPr indent="0" marL="0">
              <a:buNone/>
            </a:pPr>
            <a:r>
              <a:rPr lang="fr-FR" altLang="en-US" sz="1800" b="1" dirty="0">
                <a:solidFill>
                  <a:srgbClr val="1F7A50"/>
                </a:solidFill>
                <a:latin typeface="Calibri" pitchFamily="34" charset="0"/>
                <a:ea typeface="Calibri" pitchFamily="34" charset="-122"/>
                <a:cs typeface="Calibri" pitchFamily="34" charset="-120"/>
              </a:rPr>
              <a:t>Puis empaqueter : un fichier .skill et son bouton « Save skill »</a:t>
            </a:r>
            <a:endParaRPr lang="fr-FR" sz="1800" dirty="0"/>
          </a:p>
        </p:txBody>
      </p:sp>
      <p:sp>
        <p:nvSpPr>
          <p:cNvPr id="32" name="Text 23"/>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5 · Créer</a:t>
            </a:r>
            <a:endParaRPr lang="fr-FR" sz="1400" dirty="0"/>
          </a:p>
        </p:txBody>
      </p:sp>
      <p:sp>
        <p:nvSpPr>
          <p:cNvPr id="33" name="Text 24"/>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23</a:t>
            </a:r>
            <a:endParaRPr lang="fr-FR"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skill-creator selon la porte</a:t>
            </a:r>
            <a:endParaRPr lang="fr-FR" sz="4000" dirty="0"/>
          </a:p>
        </p:txBody>
      </p:sp>
      <p:pic>
        <p:nvPicPr>
          <p:cNvPr id="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166360" y="1709928"/>
            <a:ext cx="329184" cy="329184"/>
          </a:xfrm>
          <a:prstGeom prst="rect">
            <a:avLst/>
          </a:prstGeom>
        </p:spPr>
      </p:pic>
      <p:sp>
        <p:nvSpPr>
          <p:cNvPr id="4" name="Text 1"/>
          <p:cNvSpPr txBox="1"/>
          <p:nvPr/>
        </p:nvSpPr>
        <p:spPr>
          <a:xfrm>
            <a:off x="5577840" y="1600200"/>
            <a:ext cx="1463040" cy="548640"/>
          </a:xfrm>
          <a:prstGeom prst="rect">
            <a:avLst/>
          </a:prstGeom>
          <a:noFill/>
          <a:ln/>
        </p:spPr>
        <p:txBody>
          <a:bodyPr wrap="square" lIns="0" tIns="0" rIns="0" bIns="0" rtlCol="0" anchor="ctr"/>
          <a:lstStyle/>
          <a:p>
            <a:pPr indent="0" marL="0">
              <a:buNone/>
            </a:pPr>
            <a:r>
              <a:rPr lang="fr-FR" altLang="en-US" sz="2200" b="1" dirty="0">
                <a:solidFill>
                  <a:srgbClr val="B8235A"/>
                </a:solidFill>
                <a:latin typeface="Calibri" pitchFamily="34" charset="0"/>
                <a:ea typeface="Calibri" pitchFamily="34" charset="-122"/>
                <a:cs typeface="Calibri" pitchFamily="34" charset="-120"/>
              </a:rPr>
              <a:t>Chat</a:t>
            </a:r>
            <a:endParaRPr lang="fr-FR" sz="2200" dirty="0"/>
          </a:p>
        </p:txBody>
      </p:sp>
      <p:pic>
        <p:nvPicPr>
          <p:cNvPr id="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543800" y="1709928"/>
            <a:ext cx="329184" cy="329184"/>
          </a:xfrm>
          <a:prstGeom prst="rect">
            <a:avLst/>
          </a:prstGeom>
        </p:spPr>
      </p:pic>
      <p:sp>
        <p:nvSpPr>
          <p:cNvPr id="6" name="Text 2"/>
          <p:cNvSpPr txBox="1"/>
          <p:nvPr/>
        </p:nvSpPr>
        <p:spPr>
          <a:xfrm>
            <a:off x="7955280" y="1600200"/>
            <a:ext cx="1463040" cy="548640"/>
          </a:xfrm>
          <a:prstGeom prst="rect">
            <a:avLst/>
          </a:prstGeom>
          <a:noFill/>
          <a:ln/>
        </p:spPr>
        <p:txBody>
          <a:bodyPr wrap="square" lIns="0" tIns="0" rIns="0" bIns="0" rtlCol="0" anchor="ctr"/>
          <a:lstStyle/>
          <a:p>
            <a:pPr indent="0" marL="0">
              <a:buNone/>
            </a:pPr>
            <a:r>
              <a:rPr lang="fr-FR" altLang="en-US" sz="2200" b="1" dirty="0">
                <a:solidFill>
                  <a:srgbClr val="2F5FC4"/>
                </a:solidFill>
                <a:latin typeface="Calibri" pitchFamily="34" charset="0"/>
                <a:ea typeface="Calibri" pitchFamily="34" charset="-122"/>
                <a:cs typeface="Calibri" pitchFamily="34" charset="-120"/>
              </a:rPr>
              <a:t>Cowork</a:t>
            </a:r>
            <a:endParaRPr lang="fr-FR" sz="2200" dirty="0"/>
          </a:p>
        </p:txBody>
      </p:sp>
      <p:pic>
        <p:nvPicPr>
          <p:cNvPr id="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921240" y="1709928"/>
            <a:ext cx="329184" cy="329184"/>
          </a:xfrm>
          <a:prstGeom prst="rect">
            <a:avLst/>
          </a:prstGeom>
        </p:spPr>
      </p:pic>
      <p:sp>
        <p:nvSpPr>
          <p:cNvPr id="8" name="Text 3"/>
          <p:cNvSpPr txBox="1"/>
          <p:nvPr/>
        </p:nvSpPr>
        <p:spPr>
          <a:xfrm>
            <a:off x="10332720" y="1600200"/>
            <a:ext cx="1463040" cy="548640"/>
          </a:xfrm>
          <a:prstGeom prst="rect">
            <a:avLst/>
          </a:prstGeom>
          <a:noFill/>
          <a:ln/>
        </p:spPr>
        <p:txBody>
          <a:bodyPr wrap="square" lIns="0" tIns="0" rIns="0" bIns="0" rtlCol="0" anchor="ctr"/>
          <a:lstStyle/>
          <a:p>
            <a:pPr indent="0" marL="0">
              <a:buNone/>
            </a:pPr>
            <a:r>
              <a:rPr lang="fr-FR" altLang="en-US" sz="2200" b="1" dirty="0">
                <a:solidFill>
                  <a:srgbClr val="1B2233"/>
                </a:solidFill>
                <a:latin typeface="Calibri" pitchFamily="34" charset="0"/>
                <a:ea typeface="Calibri" pitchFamily="34" charset="-122"/>
                <a:cs typeface="Calibri" pitchFamily="34" charset="-120"/>
              </a:rPr>
              <a:t>Code</a:t>
            </a:r>
            <a:endParaRPr lang="fr-FR" sz="2200" dirty="0"/>
          </a:p>
        </p:txBody>
      </p:sp>
      <p:sp>
        <p:nvSpPr>
          <p:cNvPr id="9" name="Shape 4"/>
          <p:cNvSpPr/>
          <p:nvPr/>
        </p:nvSpPr>
        <p:spPr>
          <a:xfrm>
            <a:off x="548640" y="2240280"/>
            <a:ext cx="11338560" cy="603504"/>
          </a:xfrm>
          <a:prstGeom prst="rect">
            <a:avLst/>
          </a:prstGeom>
          <a:solidFill>
            <a:srgbClr val="F1F3F6"/>
          </a:solidFill>
          <a:ln/>
        </p:spPr>
      </p:sp>
      <p:sp>
        <p:nvSpPr>
          <p:cNvPr id="10" name="Text 5"/>
          <p:cNvSpPr txBox="1"/>
          <p:nvPr/>
        </p:nvSpPr>
        <p:spPr>
          <a:xfrm>
            <a:off x="731520" y="2240280"/>
            <a:ext cx="3931920" cy="603504"/>
          </a:xfrm>
          <a:prstGeom prst="rect">
            <a:avLst/>
          </a:prstGeom>
          <a:noFill/>
          <a:ln/>
        </p:spPr>
        <p:txBody>
          <a:bodyPr wrap="square" lIns="0" tIns="0" rIns="0" bIns="0" rtlCol="0" anchor="ctr"/>
          <a:lstStyle/>
          <a:p>
            <a:pPr indent="0" marL="0">
              <a:buNone/>
            </a:pPr>
            <a:r>
              <a:rPr lang="fr-FR" altLang="en-US" sz="1900" b="1" dirty="0">
                <a:solidFill>
                  <a:srgbClr val="1B2233"/>
                </a:solidFill>
                <a:latin typeface="Calibri" pitchFamily="34" charset="0"/>
                <a:ea typeface="Calibri" pitchFamily="34" charset="-122"/>
                <a:cs typeface="Calibri" pitchFamily="34" charset="-120"/>
              </a:rPr>
              <a:t>Entretien et rédaction</a:t>
            </a:r>
            <a:endParaRPr lang="fr-FR" sz="1900" dirty="0"/>
          </a:p>
        </p:txBody>
      </p:sp>
      <p:pic>
        <p:nvPicPr>
          <p:cNvPr id="11"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760720" y="2377440"/>
            <a:ext cx="329184" cy="329184"/>
          </a:xfrm>
          <a:prstGeom prst="rect">
            <a:avLst/>
          </a:prstGeom>
        </p:spPr>
      </p:pic>
      <p:pic>
        <p:nvPicPr>
          <p:cNvPr id="12"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38160" y="2377440"/>
            <a:ext cx="329184" cy="329184"/>
          </a:xfrm>
          <a:prstGeom prst="rect">
            <a:avLst/>
          </a:prstGeom>
        </p:spPr>
      </p:pic>
      <p:pic>
        <p:nvPicPr>
          <p:cNvPr id="13"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0515600" y="2377440"/>
            <a:ext cx="329184" cy="329184"/>
          </a:xfrm>
          <a:prstGeom prst="rect">
            <a:avLst/>
          </a:prstGeom>
        </p:spPr>
      </p:pic>
      <p:sp>
        <p:nvSpPr>
          <p:cNvPr id="14" name="Text 6"/>
          <p:cNvSpPr txBox="1"/>
          <p:nvPr/>
        </p:nvSpPr>
        <p:spPr>
          <a:xfrm>
            <a:off x="731520" y="2843784"/>
            <a:ext cx="3931920" cy="603504"/>
          </a:xfrm>
          <a:prstGeom prst="rect">
            <a:avLst/>
          </a:prstGeom>
          <a:noFill/>
          <a:ln/>
        </p:spPr>
        <p:txBody>
          <a:bodyPr wrap="square" lIns="0" tIns="0" rIns="0" bIns="0" rtlCol="0" anchor="ctr"/>
          <a:lstStyle/>
          <a:p>
            <a:pPr indent="0" marL="0">
              <a:buNone/>
            </a:pPr>
            <a:r>
              <a:rPr lang="fr-FR" altLang="en-US" sz="1900" b="1" dirty="0">
                <a:solidFill>
                  <a:srgbClr val="1B2233"/>
                </a:solidFill>
                <a:latin typeface="Calibri" pitchFamily="34" charset="0"/>
                <a:ea typeface="Calibri" pitchFamily="34" charset="-122"/>
                <a:cs typeface="Calibri" pitchFamily="34" charset="-120"/>
              </a:rPr>
              <a:t>Tests sur cas réels</a:t>
            </a:r>
            <a:endParaRPr lang="fr-FR" sz="1900" dirty="0"/>
          </a:p>
        </p:txBody>
      </p:sp>
      <p:sp>
        <p:nvSpPr>
          <p:cNvPr id="15" name="Text 7"/>
          <p:cNvSpPr txBox="1"/>
          <p:nvPr/>
        </p:nvSpPr>
        <p:spPr>
          <a:xfrm>
            <a:off x="4846320" y="2843784"/>
            <a:ext cx="2194560" cy="603504"/>
          </a:xfrm>
          <a:prstGeom prst="rect">
            <a:avLst/>
          </a:prstGeom>
          <a:noFill/>
          <a:ln/>
        </p:spPr>
        <p:txBody>
          <a:bodyPr wrap="square" lIns="0" tIns="0" rIns="0" bIns="0" rtlCol="0" anchor="ctr"/>
          <a:lstStyle/>
          <a:p>
            <a:pPr algn="ctr" indent="0" marL="0">
              <a:buNone/>
            </a:pPr>
            <a:r>
              <a:rPr lang="fr-FR" altLang="en-US" sz="1600" dirty="0">
                <a:solidFill>
                  <a:srgbClr val="1B2233"/>
                </a:solidFill>
                <a:latin typeface="Calibri" pitchFamily="34" charset="0"/>
                <a:ea typeface="Calibri" pitchFamily="34" charset="-122"/>
                <a:cs typeface="Calibri" pitchFamily="34" charset="-120"/>
              </a:rPr>
              <a:t>un par un</a:t>
            </a:r>
            <a:endParaRPr lang="fr-FR" sz="1600" dirty="0"/>
          </a:p>
        </p:txBody>
      </p:sp>
      <p:pic>
        <p:nvPicPr>
          <p:cNvPr id="16"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38160" y="2980944"/>
            <a:ext cx="329184" cy="329184"/>
          </a:xfrm>
          <a:prstGeom prst="rect">
            <a:avLst/>
          </a:prstGeom>
        </p:spPr>
      </p:pic>
      <p:pic>
        <p:nvPicPr>
          <p:cNvPr id="17" name="Image 7"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0515600" y="2980944"/>
            <a:ext cx="329184" cy="329184"/>
          </a:xfrm>
          <a:prstGeom prst="rect">
            <a:avLst/>
          </a:prstGeom>
        </p:spPr>
      </p:pic>
      <p:sp>
        <p:nvSpPr>
          <p:cNvPr id="18" name="Shape 8"/>
          <p:cNvSpPr/>
          <p:nvPr/>
        </p:nvSpPr>
        <p:spPr>
          <a:xfrm>
            <a:off x="548640" y="3447288"/>
            <a:ext cx="11338560" cy="603504"/>
          </a:xfrm>
          <a:prstGeom prst="rect">
            <a:avLst/>
          </a:prstGeom>
          <a:solidFill>
            <a:srgbClr val="F1F3F6"/>
          </a:solidFill>
          <a:ln/>
        </p:spPr>
      </p:sp>
      <p:sp>
        <p:nvSpPr>
          <p:cNvPr id="19" name="Text 9"/>
          <p:cNvSpPr txBox="1"/>
          <p:nvPr/>
        </p:nvSpPr>
        <p:spPr>
          <a:xfrm>
            <a:off x="731520" y="3447288"/>
            <a:ext cx="3931920" cy="603504"/>
          </a:xfrm>
          <a:prstGeom prst="rect">
            <a:avLst/>
          </a:prstGeom>
          <a:noFill/>
          <a:ln/>
        </p:spPr>
        <p:txBody>
          <a:bodyPr wrap="square" lIns="0" tIns="0" rIns="0" bIns="0" rtlCol="0" anchor="ctr"/>
          <a:lstStyle/>
          <a:p>
            <a:pPr indent="0" marL="0">
              <a:buNone/>
            </a:pPr>
            <a:r>
              <a:rPr lang="fr-FR" altLang="en-US" sz="1900" b="1" dirty="0">
                <a:solidFill>
                  <a:srgbClr val="1B2233"/>
                </a:solidFill>
                <a:latin typeface="Calibri" pitchFamily="34" charset="0"/>
                <a:ea typeface="Calibri" pitchFamily="34" charset="-122"/>
                <a:cs typeface="Calibri" pitchFamily="34" charset="-120"/>
              </a:rPr>
              <a:t>Comparaison avec / sans skill</a:t>
            </a:r>
            <a:endParaRPr lang="fr-FR" sz="1900" dirty="0"/>
          </a:p>
        </p:txBody>
      </p:sp>
      <p:pic>
        <p:nvPicPr>
          <p:cNvPr id="20" name="Image 8"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5760720" y="3584448"/>
            <a:ext cx="329184" cy="329184"/>
          </a:xfrm>
          <a:prstGeom prst="rect">
            <a:avLst/>
          </a:prstGeom>
        </p:spPr>
      </p:pic>
      <p:pic>
        <p:nvPicPr>
          <p:cNvPr id="21" name="Image 9"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8138160" y="3584448"/>
            <a:ext cx="329184" cy="329184"/>
          </a:xfrm>
          <a:prstGeom prst="rect">
            <a:avLst/>
          </a:prstGeom>
        </p:spPr>
      </p:pic>
      <p:pic>
        <p:nvPicPr>
          <p:cNvPr id="22" name="Image 10"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10515600" y="3584448"/>
            <a:ext cx="329184" cy="329184"/>
          </a:xfrm>
          <a:prstGeom prst="rect">
            <a:avLst/>
          </a:prstGeom>
        </p:spPr>
      </p:pic>
      <p:sp>
        <p:nvSpPr>
          <p:cNvPr id="23" name="Text 10"/>
          <p:cNvSpPr txBox="1"/>
          <p:nvPr/>
        </p:nvSpPr>
        <p:spPr>
          <a:xfrm>
            <a:off x="731520" y="4050792"/>
            <a:ext cx="3931920" cy="603504"/>
          </a:xfrm>
          <a:prstGeom prst="rect">
            <a:avLst/>
          </a:prstGeom>
          <a:noFill/>
          <a:ln/>
        </p:spPr>
        <p:txBody>
          <a:bodyPr wrap="square" lIns="0" tIns="0" rIns="0" bIns="0" rtlCol="0" anchor="ctr"/>
          <a:lstStyle/>
          <a:p>
            <a:pPr indent="0" marL="0">
              <a:buNone/>
            </a:pPr>
            <a:r>
              <a:rPr lang="fr-FR" altLang="en-US" sz="1900" b="1" dirty="0">
                <a:solidFill>
                  <a:srgbClr val="1B2233"/>
                </a:solidFill>
                <a:latin typeface="Calibri" pitchFamily="34" charset="0"/>
                <a:ea typeface="Calibri" pitchFamily="34" charset="-122"/>
                <a:cs typeface="Calibri" pitchFamily="34" charset="-120"/>
              </a:rPr>
              <a:t>Résultats à relire</a:t>
            </a:r>
            <a:endParaRPr lang="fr-FR" sz="1900" dirty="0"/>
          </a:p>
        </p:txBody>
      </p:sp>
      <p:sp>
        <p:nvSpPr>
          <p:cNvPr id="24" name="Text 11"/>
          <p:cNvSpPr txBox="1"/>
          <p:nvPr/>
        </p:nvSpPr>
        <p:spPr>
          <a:xfrm>
            <a:off x="4846320" y="4050792"/>
            <a:ext cx="2194560" cy="603504"/>
          </a:xfrm>
          <a:prstGeom prst="rect">
            <a:avLst/>
          </a:prstGeom>
          <a:noFill/>
          <a:ln/>
        </p:spPr>
        <p:txBody>
          <a:bodyPr wrap="square" lIns="0" tIns="0" rIns="0" bIns="0" rtlCol="0" anchor="ctr"/>
          <a:lstStyle/>
          <a:p>
            <a:pPr algn="ctr" indent="0" marL="0">
              <a:buNone/>
            </a:pPr>
            <a:r>
              <a:rPr lang="fr-FR" altLang="en-US" sz="1600" dirty="0">
                <a:solidFill>
                  <a:srgbClr val="1B2233"/>
                </a:solidFill>
                <a:latin typeface="Calibri" pitchFamily="34" charset="0"/>
                <a:ea typeface="Calibri" pitchFamily="34" charset="-122"/>
                <a:cs typeface="Calibri" pitchFamily="34" charset="-120"/>
              </a:rPr>
              <a:t>dans la conversation</a:t>
            </a:r>
            <a:endParaRPr lang="fr-FR" sz="1600" dirty="0"/>
          </a:p>
        </p:txBody>
      </p:sp>
      <p:sp>
        <p:nvSpPr>
          <p:cNvPr id="25" name="Text 12"/>
          <p:cNvSpPr txBox="1"/>
          <p:nvPr/>
        </p:nvSpPr>
        <p:spPr>
          <a:xfrm>
            <a:off x="7223760" y="4050792"/>
            <a:ext cx="2194560" cy="603504"/>
          </a:xfrm>
          <a:prstGeom prst="rect">
            <a:avLst/>
          </a:prstGeom>
          <a:noFill/>
          <a:ln/>
        </p:spPr>
        <p:txBody>
          <a:bodyPr wrap="square" lIns="0" tIns="0" rIns="0" bIns="0" rtlCol="0" anchor="ctr"/>
          <a:lstStyle/>
          <a:p>
            <a:pPr algn="ctr" indent="0" marL="0">
              <a:buNone/>
            </a:pPr>
            <a:r>
              <a:rPr lang="fr-FR" altLang="en-US" sz="1600" dirty="0">
                <a:solidFill>
                  <a:srgbClr val="1B2233"/>
                </a:solidFill>
                <a:latin typeface="Calibri" pitchFamily="34" charset="0"/>
                <a:ea typeface="Calibri" pitchFamily="34" charset="-122"/>
                <a:cs typeface="Calibri" pitchFamily="34" charset="-120"/>
              </a:rPr>
              <a:t>page dédiée</a:t>
            </a:r>
            <a:endParaRPr lang="fr-FR" sz="1600" dirty="0"/>
          </a:p>
        </p:txBody>
      </p:sp>
      <p:sp>
        <p:nvSpPr>
          <p:cNvPr id="26" name="Text 13"/>
          <p:cNvSpPr txBox="1"/>
          <p:nvPr/>
        </p:nvSpPr>
        <p:spPr>
          <a:xfrm>
            <a:off x="9601200" y="4050792"/>
            <a:ext cx="2194560" cy="603504"/>
          </a:xfrm>
          <a:prstGeom prst="rect">
            <a:avLst/>
          </a:prstGeom>
          <a:noFill/>
          <a:ln/>
        </p:spPr>
        <p:txBody>
          <a:bodyPr wrap="square" lIns="0" tIns="0" rIns="0" bIns="0" rtlCol="0" anchor="ctr"/>
          <a:lstStyle/>
          <a:p>
            <a:pPr algn="ctr" indent="0" marL="0">
              <a:buNone/>
            </a:pPr>
            <a:r>
              <a:rPr lang="fr-FR" altLang="en-US" sz="1600" dirty="0">
                <a:solidFill>
                  <a:srgbClr val="1B2233"/>
                </a:solidFill>
                <a:latin typeface="Calibri" pitchFamily="34" charset="0"/>
                <a:ea typeface="Calibri" pitchFamily="34" charset="-122"/>
                <a:cs typeface="Calibri" pitchFamily="34" charset="-120"/>
              </a:rPr>
              <a:t>page dédiée</a:t>
            </a:r>
            <a:endParaRPr lang="fr-FR" sz="1600" dirty="0"/>
          </a:p>
        </p:txBody>
      </p:sp>
      <p:sp>
        <p:nvSpPr>
          <p:cNvPr id="27" name="Shape 14"/>
          <p:cNvSpPr/>
          <p:nvPr/>
        </p:nvSpPr>
        <p:spPr>
          <a:xfrm>
            <a:off x="548640" y="4654296"/>
            <a:ext cx="11338560" cy="603504"/>
          </a:xfrm>
          <a:prstGeom prst="rect">
            <a:avLst/>
          </a:prstGeom>
          <a:solidFill>
            <a:srgbClr val="F1F3F6"/>
          </a:solidFill>
          <a:ln/>
        </p:spPr>
      </p:sp>
      <p:sp>
        <p:nvSpPr>
          <p:cNvPr id="28" name="Text 15"/>
          <p:cNvSpPr txBox="1"/>
          <p:nvPr/>
        </p:nvSpPr>
        <p:spPr>
          <a:xfrm>
            <a:off x="731520" y="4654296"/>
            <a:ext cx="3931920" cy="603504"/>
          </a:xfrm>
          <a:prstGeom prst="rect">
            <a:avLst/>
          </a:prstGeom>
          <a:noFill/>
          <a:ln/>
        </p:spPr>
        <p:txBody>
          <a:bodyPr wrap="square" lIns="0" tIns="0" rIns="0" bIns="0" rtlCol="0" anchor="ctr"/>
          <a:lstStyle/>
          <a:p>
            <a:pPr indent="0" marL="0">
              <a:buNone/>
            </a:pPr>
            <a:r>
              <a:rPr lang="fr-FR" altLang="en-US" sz="1900" b="1" dirty="0">
                <a:solidFill>
                  <a:srgbClr val="1B2233"/>
                </a:solidFill>
                <a:latin typeface="Calibri" pitchFamily="34" charset="0"/>
                <a:ea typeface="Calibri" pitchFamily="34" charset="-122"/>
                <a:cs typeface="Calibri" pitchFamily="34" charset="-120"/>
              </a:rPr>
              <a:t>Affiner la description</a:t>
            </a:r>
            <a:endParaRPr lang="fr-FR" sz="1900" dirty="0"/>
          </a:p>
        </p:txBody>
      </p:sp>
      <p:pic>
        <p:nvPicPr>
          <p:cNvPr id="29" name="Image 11" descr="">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5760720" y="4791456"/>
            <a:ext cx="329184" cy="329184"/>
          </a:xfrm>
          <a:prstGeom prst="rect">
            <a:avLst/>
          </a:prstGeom>
        </p:spPr>
      </p:pic>
      <p:pic>
        <p:nvPicPr>
          <p:cNvPr id="30" name="Image 12" descr="">
            <a:extLs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8138160" y="4791456"/>
            <a:ext cx="329184" cy="329184"/>
          </a:xfrm>
          <a:prstGeom prst="rect">
            <a:avLst/>
          </a:prstGeom>
        </p:spPr>
      </p:pic>
      <p:pic>
        <p:nvPicPr>
          <p:cNvPr id="31" name="Image 13" descr="">
            <a:extLs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10515600" y="4791456"/>
            <a:ext cx="329184" cy="329184"/>
          </a:xfrm>
          <a:prstGeom prst="rect">
            <a:avLst/>
          </a:prstGeom>
        </p:spPr>
      </p:pic>
      <p:sp>
        <p:nvSpPr>
          <p:cNvPr id="32" name="Text 16"/>
          <p:cNvSpPr txBox="1"/>
          <p:nvPr/>
        </p:nvSpPr>
        <p:spPr>
          <a:xfrm>
            <a:off x="731520" y="5257800"/>
            <a:ext cx="3931920" cy="603504"/>
          </a:xfrm>
          <a:prstGeom prst="rect">
            <a:avLst/>
          </a:prstGeom>
          <a:noFill/>
          <a:ln/>
        </p:spPr>
        <p:txBody>
          <a:bodyPr wrap="square" lIns="0" tIns="0" rIns="0" bIns="0" rtlCol="0" anchor="ctr"/>
          <a:lstStyle/>
          <a:p>
            <a:pPr indent="0" marL="0">
              <a:buNone/>
            </a:pPr>
            <a:r>
              <a:rPr lang="fr-FR" altLang="en-US" sz="1900" b="1" dirty="0">
                <a:solidFill>
                  <a:srgbClr val="1B2233"/>
                </a:solidFill>
                <a:latin typeface="Calibri" pitchFamily="34" charset="0"/>
                <a:ea typeface="Calibri" pitchFamily="34" charset="-122"/>
                <a:cs typeface="Calibri" pitchFamily="34" charset="-120"/>
              </a:rPr>
              <a:t>Installation</a:t>
            </a:r>
            <a:endParaRPr lang="fr-FR" sz="1900" dirty="0"/>
          </a:p>
        </p:txBody>
      </p:sp>
      <p:sp>
        <p:nvSpPr>
          <p:cNvPr id="33" name="Text 17"/>
          <p:cNvSpPr txBox="1"/>
          <p:nvPr/>
        </p:nvSpPr>
        <p:spPr>
          <a:xfrm>
            <a:off x="4846320" y="5257800"/>
            <a:ext cx="2194560" cy="603504"/>
          </a:xfrm>
          <a:prstGeom prst="rect">
            <a:avLst/>
          </a:prstGeom>
          <a:noFill/>
          <a:ln/>
        </p:spPr>
        <p:txBody>
          <a:bodyPr wrap="square" lIns="0" tIns="0" rIns="0" bIns="0" rtlCol="0" anchor="ctr"/>
          <a:lstStyle/>
          <a:p>
            <a:pPr algn="ctr" indent="0" marL="0">
              <a:buNone/>
            </a:pPr>
            <a:r>
              <a:rPr lang="fr-FR" altLang="en-US" sz="1600" dirty="0">
                <a:solidFill>
                  <a:srgbClr val="1B2233"/>
                </a:solidFill>
                <a:latin typeface="Calibri" pitchFamily="34" charset="0"/>
                <a:ea typeface="Calibri" pitchFamily="34" charset="-122"/>
                <a:cs typeface="Calibri" pitchFamily="34" charset="-120"/>
              </a:rPr>
              <a:t>« Save skill »</a:t>
            </a:r>
            <a:endParaRPr lang="fr-FR" sz="1600" dirty="0"/>
          </a:p>
        </p:txBody>
      </p:sp>
      <p:sp>
        <p:nvSpPr>
          <p:cNvPr id="34" name="Text 18"/>
          <p:cNvSpPr txBox="1"/>
          <p:nvPr/>
        </p:nvSpPr>
        <p:spPr>
          <a:xfrm>
            <a:off x="7223760" y="5257800"/>
            <a:ext cx="2194560" cy="603504"/>
          </a:xfrm>
          <a:prstGeom prst="rect">
            <a:avLst/>
          </a:prstGeom>
          <a:noFill/>
          <a:ln/>
        </p:spPr>
        <p:txBody>
          <a:bodyPr wrap="square" lIns="0" tIns="0" rIns="0" bIns="0" rtlCol="0" anchor="ctr"/>
          <a:lstStyle/>
          <a:p>
            <a:pPr algn="ctr" indent="0" marL="0">
              <a:buNone/>
            </a:pPr>
            <a:r>
              <a:rPr lang="fr-FR" altLang="en-US" sz="1600" dirty="0">
                <a:solidFill>
                  <a:srgbClr val="1B2233"/>
                </a:solidFill>
                <a:latin typeface="Calibri" pitchFamily="34" charset="0"/>
                <a:ea typeface="Calibri" pitchFamily="34" charset="-122"/>
                <a:cs typeface="Calibri" pitchFamily="34" charset="-120"/>
              </a:rPr>
              <a:t>« Save skill »</a:t>
            </a:r>
            <a:endParaRPr lang="fr-FR" sz="1600" dirty="0"/>
          </a:p>
        </p:txBody>
      </p:sp>
      <p:sp>
        <p:nvSpPr>
          <p:cNvPr id="35" name="Text 19"/>
          <p:cNvSpPr txBox="1"/>
          <p:nvPr/>
        </p:nvSpPr>
        <p:spPr>
          <a:xfrm>
            <a:off x="9601200" y="5257800"/>
            <a:ext cx="2194560" cy="603504"/>
          </a:xfrm>
          <a:prstGeom prst="rect">
            <a:avLst/>
          </a:prstGeom>
          <a:noFill/>
          <a:ln/>
        </p:spPr>
        <p:txBody>
          <a:bodyPr wrap="square" lIns="0" tIns="0" rIns="0" bIns="0" rtlCol="0" anchor="ctr"/>
          <a:lstStyle/>
          <a:p>
            <a:pPr algn="ctr" indent="0" marL="0">
              <a:buNone/>
            </a:pPr>
            <a:r>
              <a:rPr lang="fr-FR" altLang="en-US" sz="1600" dirty="0">
                <a:solidFill>
                  <a:srgbClr val="1B2233"/>
                </a:solidFill>
                <a:latin typeface="Courier New" pitchFamily="34" charset="0"/>
                <a:ea typeface="Courier New" pitchFamily="34" charset="-122"/>
                <a:cs typeface="Courier New" pitchFamily="34" charset="-120"/>
              </a:rPr>
              <a:t>.claude/skills/</a:t>
            </a:r>
            <a:endParaRPr lang="fr-FR" sz="1600" dirty="0"/>
          </a:p>
        </p:txBody>
      </p:sp>
      <p:sp>
        <p:nvSpPr>
          <p:cNvPr id="36" name="Text 20"/>
          <p:cNvSpPr txBox="1"/>
          <p:nvPr/>
        </p:nvSpPr>
        <p:spPr>
          <a:xfrm>
            <a:off x="548640" y="5806440"/>
            <a:ext cx="10972800" cy="411480"/>
          </a:xfrm>
          <a:prstGeom prst="rect">
            <a:avLst/>
          </a:prstGeom>
          <a:noFill/>
          <a:ln/>
        </p:spPr>
        <p:txBody>
          <a:bodyPr wrap="square" lIns="0" tIns="0" rIns="0" bIns="0" rtlCol="0" anchor="ctr"/>
          <a:lstStyle/>
          <a:p>
            <a:pPr indent="0" marL="0">
              <a:buNone/>
            </a:pPr>
            <a:r>
              <a:rPr lang="fr-FR" altLang="en-US" sz="1600" i="1" dirty="0">
                <a:solidFill>
                  <a:srgbClr val="566070"/>
                </a:solidFill>
                <a:latin typeface="Calibri" pitchFamily="34" charset="0"/>
                <a:ea typeface="Calibri" pitchFamily="34" charset="-122"/>
                <a:cs typeface="Calibri" pitchFamily="34" charset="-120"/>
              </a:rPr>
              <a:t>D'après les instructions de skill-creator pour Chat, Cowork et Claude Code.</a:t>
            </a:r>
            <a:endParaRPr lang="fr-FR" sz="1600" dirty="0"/>
          </a:p>
        </p:txBody>
      </p:sp>
      <p:sp>
        <p:nvSpPr>
          <p:cNvPr id="37" name="Text 21"/>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5 · Créer</a:t>
            </a:r>
            <a:endParaRPr lang="fr-FR" sz="1400" dirty="0"/>
          </a:p>
        </p:txBody>
      </p:sp>
      <p:sp>
        <p:nvSpPr>
          <p:cNvPr id="38" name="Text 22"/>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24</a:t>
            </a:r>
            <a:endParaRPr lang="fr-FR"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Cowork ou Code pour créer une skill ?</a:t>
            </a:r>
            <a:endParaRPr lang="fr-FR" sz="4000" dirty="0"/>
          </a:p>
        </p:txBody>
      </p:sp>
      <p:sp>
        <p:nvSpPr>
          <p:cNvPr id="3" name="Shape 1"/>
          <p:cNvSpPr/>
          <p:nvPr/>
        </p:nvSpPr>
        <p:spPr>
          <a:xfrm>
            <a:off x="3383280" y="1600200"/>
            <a:ext cx="4160520" cy="4023360"/>
          </a:xfrm>
          <a:prstGeom prst="roundRect">
            <a:avLst>
              <a:gd name="adj" fmla="val 3409"/>
            </a:avLst>
          </a:prstGeom>
          <a:solidFill>
            <a:srgbClr val="E6EDFA"/>
          </a:solidFill>
          <a:ln/>
        </p:spPr>
      </p:sp>
      <p:sp>
        <p:nvSpPr>
          <p:cNvPr id="4" name="Shape 2"/>
          <p:cNvSpPr/>
          <p:nvPr/>
        </p:nvSpPr>
        <p:spPr>
          <a:xfrm>
            <a:off x="7635240" y="1600200"/>
            <a:ext cx="4160520" cy="4023360"/>
          </a:xfrm>
          <a:prstGeom prst="roundRect">
            <a:avLst>
              <a:gd name="adj" fmla="val 3409"/>
            </a:avLst>
          </a:prstGeom>
          <a:solidFill>
            <a:srgbClr val="1B2233"/>
          </a:solidFill>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657600" y="1737360"/>
            <a:ext cx="365760" cy="365760"/>
          </a:xfrm>
          <a:prstGeom prst="rect">
            <a:avLst/>
          </a:prstGeom>
        </p:spPr>
      </p:pic>
      <p:sp>
        <p:nvSpPr>
          <p:cNvPr id="6" name="Text 3"/>
          <p:cNvSpPr txBox="1"/>
          <p:nvPr/>
        </p:nvSpPr>
        <p:spPr>
          <a:xfrm>
            <a:off x="4160520" y="1645920"/>
            <a:ext cx="2743200" cy="548640"/>
          </a:xfrm>
          <a:prstGeom prst="rect">
            <a:avLst/>
          </a:prstGeom>
          <a:noFill/>
          <a:ln/>
        </p:spPr>
        <p:txBody>
          <a:bodyPr wrap="square" lIns="0" tIns="0" rIns="0" bIns="0" rtlCol="0" anchor="ctr"/>
          <a:lstStyle/>
          <a:p>
            <a:pPr indent="0" marL="0">
              <a:buNone/>
            </a:pPr>
            <a:r>
              <a:rPr lang="fr-FR" altLang="en-US" sz="2400" b="1" dirty="0">
                <a:solidFill>
                  <a:srgbClr val="2F5FC4"/>
                </a:solidFill>
                <a:latin typeface="Calibri" pitchFamily="34" charset="0"/>
                <a:ea typeface="Calibri" pitchFamily="34" charset="-122"/>
                <a:cs typeface="Calibri" pitchFamily="34" charset="-120"/>
              </a:rPr>
              <a:t>Cowork</a:t>
            </a:r>
            <a:endParaRPr lang="fr-FR" sz="2400" dirty="0"/>
          </a:p>
        </p:txBody>
      </p:sp>
      <p:pic>
        <p:nvPicPr>
          <p:cNvPr id="7"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909560" y="1737360"/>
            <a:ext cx="365760" cy="365760"/>
          </a:xfrm>
          <a:prstGeom prst="rect">
            <a:avLst/>
          </a:prstGeom>
        </p:spPr>
      </p:pic>
      <p:sp>
        <p:nvSpPr>
          <p:cNvPr id="8" name="Text 4"/>
          <p:cNvSpPr txBox="1"/>
          <p:nvPr/>
        </p:nvSpPr>
        <p:spPr>
          <a:xfrm>
            <a:off x="8412480" y="1645920"/>
            <a:ext cx="2743200" cy="5486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Code</a:t>
            </a:r>
            <a:endParaRPr lang="fr-FR" sz="2400" dirty="0"/>
          </a:p>
        </p:txBody>
      </p:sp>
      <p:sp>
        <p:nvSpPr>
          <p:cNvPr id="9" name="Text 5"/>
          <p:cNvSpPr txBox="1"/>
          <p:nvPr/>
        </p:nvSpPr>
        <p:spPr>
          <a:xfrm>
            <a:off x="548640" y="2240280"/>
            <a:ext cx="2697480" cy="658368"/>
          </a:xfrm>
          <a:prstGeom prst="rect">
            <a:avLst/>
          </a:prstGeom>
          <a:noFill/>
          <a:ln/>
        </p:spPr>
        <p:txBody>
          <a:bodyPr wrap="square" lIns="0" tIns="0" rIns="0" bIns="0" rtlCol="0" anchor="ctr"/>
          <a:lstStyle/>
          <a:p>
            <a:pPr indent="0" marL="0">
              <a:buNone/>
            </a:pPr>
            <a:r>
              <a:rPr lang="fr-FR" altLang="en-US" sz="1900" b="1" dirty="0">
                <a:solidFill>
                  <a:srgbClr val="566070"/>
                </a:solidFill>
                <a:latin typeface="Calibri" pitchFamily="34" charset="0"/>
                <a:ea typeface="Calibri" pitchFamily="34" charset="-122"/>
                <a:cs typeface="Calibri" pitchFamily="34" charset="-120"/>
              </a:rPr>
              <a:t>La skill vit…</a:t>
            </a:r>
            <a:endParaRPr lang="fr-FR" sz="1900" dirty="0"/>
          </a:p>
        </p:txBody>
      </p:sp>
      <p:sp>
        <p:nvSpPr>
          <p:cNvPr id="10" name="Text 6"/>
          <p:cNvSpPr txBox="1"/>
          <p:nvPr/>
        </p:nvSpPr>
        <p:spPr>
          <a:xfrm>
            <a:off x="3657600" y="2240280"/>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1B2233"/>
                </a:solidFill>
                <a:latin typeface="Calibri" pitchFamily="34" charset="0"/>
                <a:ea typeface="Calibri" pitchFamily="34" charset="-122"/>
                <a:cs typeface="Calibri" pitchFamily="34" charset="-120"/>
              </a:rPr>
              <a:t>dans votre compte Claude</a:t>
            </a:r>
            <a:endParaRPr lang="fr-FR" sz="1900" dirty="0"/>
          </a:p>
        </p:txBody>
      </p:sp>
      <p:sp>
        <p:nvSpPr>
          <p:cNvPr id="11" name="Text 7"/>
          <p:cNvSpPr txBox="1"/>
          <p:nvPr/>
        </p:nvSpPr>
        <p:spPr>
          <a:xfrm>
            <a:off x="7909560" y="2240280"/>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FFFFFF"/>
                </a:solidFill>
                <a:latin typeface="Calibri" pitchFamily="34" charset="0"/>
                <a:ea typeface="Calibri" pitchFamily="34" charset="-122"/>
                <a:cs typeface="Calibri" pitchFamily="34" charset="-120"/>
              </a:rPr>
              <a:t>dans un dossier .claude/skills/</a:t>
            </a:r>
            <a:endParaRPr lang="fr-FR" sz="1900" dirty="0"/>
          </a:p>
        </p:txBody>
      </p:sp>
      <p:sp>
        <p:nvSpPr>
          <p:cNvPr id="12" name="Shape 8"/>
          <p:cNvSpPr/>
          <p:nvPr/>
        </p:nvSpPr>
        <p:spPr>
          <a:xfrm>
            <a:off x="548640" y="2898648"/>
            <a:ext cx="2651760" cy="0"/>
          </a:xfrm>
          <a:prstGeom prst="line">
            <a:avLst/>
          </a:prstGeom>
          <a:noFill/>
          <a:ln w="12700">
            <a:solidFill>
              <a:srgbClr val="D5D9E0"/>
            </a:solidFill>
            <a:prstDash val="solid"/>
          </a:ln>
        </p:spPr>
      </p:sp>
      <p:sp>
        <p:nvSpPr>
          <p:cNvPr id="13" name="Text 9"/>
          <p:cNvSpPr txBox="1"/>
          <p:nvPr/>
        </p:nvSpPr>
        <p:spPr>
          <a:xfrm>
            <a:off x="548640" y="2898648"/>
            <a:ext cx="2697480" cy="658368"/>
          </a:xfrm>
          <a:prstGeom prst="rect">
            <a:avLst/>
          </a:prstGeom>
          <a:noFill/>
          <a:ln/>
        </p:spPr>
        <p:txBody>
          <a:bodyPr wrap="square" lIns="0" tIns="0" rIns="0" bIns="0" rtlCol="0" anchor="ctr"/>
          <a:lstStyle/>
          <a:p>
            <a:pPr indent="0" marL="0">
              <a:buNone/>
            </a:pPr>
            <a:r>
              <a:rPr lang="fr-FR" altLang="en-US" sz="1900" b="1" dirty="0">
                <a:solidFill>
                  <a:srgbClr val="566070"/>
                </a:solidFill>
                <a:latin typeface="Calibri" pitchFamily="34" charset="0"/>
                <a:ea typeface="Calibri" pitchFamily="34" charset="-122"/>
                <a:cs typeface="Calibri" pitchFamily="34" charset="-120"/>
              </a:rPr>
              <a:t>Pour l'enregistrer</a:t>
            </a:r>
            <a:endParaRPr lang="fr-FR" sz="1900" dirty="0"/>
          </a:p>
        </p:txBody>
      </p:sp>
      <p:sp>
        <p:nvSpPr>
          <p:cNvPr id="14" name="Text 10"/>
          <p:cNvSpPr txBox="1"/>
          <p:nvPr/>
        </p:nvSpPr>
        <p:spPr>
          <a:xfrm>
            <a:off x="3657600" y="2898648"/>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1B2233"/>
                </a:solidFill>
                <a:latin typeface="Calibri" pitchFamily="34" charset="0"/>
                <a:ea typeface="Calibri" pitchFamily="34" charset="-122"/>
                <a:cs typeface="Calibri" pitchFamily="34" charset="-120"/>
              </a:rPr>
              <a:t>fichier .skill, « Save skill »</a:t>
            </a:r>
            <a:endParaRPr lang="fr-FR" sz="1900" dirty="0"/>
          </a:p>
        </p:txBody>
      </p:sp>
      <p:sp>
        <p:nvSpPr>
          <p:cNvPr id="15" name="Text 11"/>
          <p:cNvSpPr txBox="1"/>
          <p:nvPr/>
        </p:nvSpPr>
        <p:spPr>
          <a:xfrm>
            <a:off x="7909560" y="2898648"/>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FFFFFF"/>
                </a:solidFill>
                <a:latin typeface="Calibri" pitchFamily="34" charset="0"/>
                <a:ea typeface="Calibri" pitchFamily="34" charset="-122"/>
                <a:cs typeface="Calibri" pitchFamily="34" charset="-120"/>
              </a:rPr>
              <a:t>rien à importer</a:t>
            </a:r>
            <a:endParaRPr lang="fr-FR" sz="1900" dirty="0"/>
          </a:p>
        </p:txBody>
      </p:sp>
      <p:sp>
        <p:nvSpPr>
          <p:cNvPr id="16" name="Shape 12"/>
          <p:cNvSpPr/>
          <p:nvPr/>
        </p:nvSpPr>
        <p:spPr>
          <a:xfrm>
            <a:off x="548640" y="3557016"/>
            <a:ext cx="2651760" cy="0"/>
          </a:xfrm>
          <a:prstGeom prst="line">
            <a:avLst/>
          </a:prstGeom>
          <a:noFill/>
          <a:ln w="12700">
            <a:solidFill>
              <a:srgbClr val="D5D9E0"/>
            </a:solidFill>
            <a:prstDash val="solid"/>
          </a:ln>
        </p:spPr>
      </p:sp>
      <p:sp>
        <p:nvSpPr>
          <p:cNvPr id="17" name="Text 13"/>
          <p:cNvSpPr txBox="1"/>
          <p:nvPr/>
        </p:nvSpPr>
        <p:spPr>
          <a:xfrm>
            <a:off x="548640" y="3557016"/>
            <a:ext cx="2697480" cy="658368"/>
          </a:xfrm>
          <a:prstGeom prst="rect">
            <a:avLst/>
          </a:prstGeom>
          <a:noFill/>
          <a:ln/>
        </p:spPr>
        <p:txBody>
          <a:bodyPr wrap="square" lIns="0" tIns="0" rIns="0" bIns="0" rtlCol="0" anchor="ctr"/>
          <a:lstStyle/>
          <a:p>
            <a:pPr indent="0" marL="0">
              <a:buNone/>
            </a:pPr>
            <a:r>
              <a:rPr lang="fr-FR" altLang="en-US" sz="1900" b="1" dirty="0">
                <a:solidFill>
                  <a:srgbClr val="566070"/>
                </a:solidFill>
                <a:latin typeface="Calibri" pitchFamily="34" charset="0"/>
                <a:ea typeface="Calibri" pitchFamily="34" charset="-122"/>
                <a:cs typeface="Calibri" pitchFamily="34" charset="-120"/>
              </a:rPr>
              <a:t>Elle est disponible</a:t>
            </a:r>
            <a:endParaRPr lang="fr-FR" sz="1900" dirty="0"/>
          </a:p>
        </p:txBody>
      </p:sp>
      <p:sp>
        <p:nvSpPr>
          <p:cNvPr id="18" name="Text 14"/>
          <p:cNvSpPr txBox="1"/>
          <p:nvPr/>
        </p:nvSpPr>
        <p:spPr>
          <a:xfrm>
            <a:off x="3657600" y="3557016"/>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1B2233"/>
                </a:solidFill>
                <a:latin typeface="Calibri" pitchFamily="34" charset="0"/>
                <a:ea typeface="Calibri" pitchFamily="34" charset="-122"/>
                <a:cs typeface="Calibri" pitchFamily="34" charset="-120"/>
              </a:rPr>
              <a:t>partout : Chat, Cowork, Code</a:t>
            </a:r>
            <a:endParaRPr lang="fr-FR" sz="1900" dirty="0"/>
          </a:p>
        </p:txBody>
      </p:sp>
      <p:sp>
        <p:nvSpPr>
          <p:cNvPr id="19" name="Text 15"/>
          <p:cNvSpPr txBox="1"/>
          <p:nvPr/>
        </p:nvSpPr>
        <p:spPr>
          <a:xfrm>
            <a:off x="7909560" y="3557016"/>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FFFFFF"/>
                </a:solidFill>
                <a:latin typeface="Calibri" pitchFamily="34" charset="0"/>
                <a:ea typeface="Calibri" pitchFamily="34" charset="-122"/>
                <a:cs typeface="Calibri" pitchFamily="34" charset="-120"/>
              </a:rPr>
              <a:t>dans Claude Code seulement</a:t>
            </a:r>
            <a:endParaRPr lang="fr-FR" sz="1900" dirty="0"/>
          </a:p>
        </p:txBody>
      </p:sp>
      <p:sp>
        <p:nvSpPr>
          <p:cNvPr id="20" name="Shape 16"/>
          <p:cNvSpPr/>
          <p:nvPr/>
        </p:nvSpPr>
        <p:spPr>
          <a:xfrm>
            <a:off x="548640" y="4215384"/>
            <a:ext cx="2651760" cy="0"/>
          </a:xfrm>
          <a:prstGeom prst="line">
            <a:avLst/>
          </a:prstGeom>
          <a:noFill/>
          <a:ln w="12700">
            <a:solidFill>
              <a:srgbClr val="D5D9E0"/>
            </a:solidFill>
            <a:prstDash val="solid"/>
          </a:ln>
        </p:spPr>
      </p:sp>
      <p:sp>
        <p:nvSpPr>
          <p:cNvPr id="21" name="Text 17"/>
          <p:cNvSpPr txBox="1"/>
          <p:nvPr/>
        </p:nvSpPr>
        <p:spPr>
          <a:xfrm>
            <a:off x="548640" y="4215384"/>
            <a:ext cx="2697480" cy="658368"/>
          </a:xfrm>
          <a:prstGeom prst="rect">
            <a:avLst/>
          </a:prstGeom>
          <a:noFill/>
          <a:ln/>
        </p:spPr>
        <p:txBody>
          <a:bodyPr wrap="square" lIns="0" tIns="0" rIns="0" bIns="0" rtlCol="0" anchor="ctr"/>
          <a:lstStyle/>
          <a:p>
            <a:pPr indent="0" marL="0">
              <a:buNone/>
            </a:pPr>
            <a:r>
              <a:rPr lang="fr-FR" altLang="en-US" sz="1900" b="1" dirty="0">
                <a:solidFill>
                  <a:srgbClr val="566070"/>
                </a:solidFill>
                <a:latin typeface="Calibri" pitchFamily="34" charset="0"/>
                <a:ea typeface="Calibri" pitchFamily="34" charset="-122"/>
                <a:cs typeface="Calibri" pitchFamily="34" charset="-120"/>
              </a:rPr>
              <a:t>En plus</a:t>
            </a:r>
            <a:endParaRPr lang="fr-FR" sz="1900" dirty="0"/>
          </a:p>
        </p:txBody>
      </p:sp>
      <p:sp>
        <p:nvSpPr>
          <p:cNvPr id="22" name="Text 18"/>
          <p:cNvSpPr txBox="1"/>
          <p:nvPr/>
        </p:nvSpPr>
        <p:spPr>
          <a:xfrm>
            <a:off x="3657600" y="4215384"/>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1B2233"/>
                </a:solidFill>
                <a:latin typeface="Calibri" pitchFamily="34" charset="0"/>
                <a:ea typeface="Calibri" pitchFamily="34" charset="-122"/>
                <a:cs typeface="Calibri" pitchFamily="34" charset="-120"/>
              </a:rPr>
              <a:t>—</a:t>
            </a:r>
            <a:endParaRPr lang="fr-FR" sz="1900" dirty="0"/>
          </a:p>
        </p:txBody>
      </p:sp>
      <p:sp>
        <p:nvSpPr>
          <p:cNvPr id="23" name="Text 19"/>
          <p:cNvSpPr txBox="1"/>
          <p:nvPr/>
        </p:nvSpPr>
        <p:spPr>
          <a:xfrm>
            <a:off x="7909560" y="4215384"/>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FFFFFF"/>
                </a:solidFill>
                <a:latin typeface="Calibri" pitchFamily="34" charset="0"/>
                <a:ea typeface="Calibri" pitchFamily="34" charset="-122"/>
                <a:cs typeface="Calibri" pitchFamily="34" charset="-120"/>
              </a:rPr>
              <a:t>paramètres, commandes, mode plan</a:t>
            </a:r>
            <a:endParaRPr lang="fr-FR" sz="1900" dirty="0"/>
          </a:p>
        </p:txBody>
      </p:sp>
      <p:sp>
        <p:nvSpPr>
          <p:cNvPr id="24" name="Shape 20"/>
          <p:cNvSpPr/>
          <p:nvPr/>
        </p:nvSpPr>
        <p:spPr>
          <a:xfrm>
            <a:off x="548640" y="4873752"/>
            <a:ext cx="2651760" cy="0"/>
          </a:xfrm>
          <a:prstGeom prst="line">
            <a:avLst/>
          </a:prstGeom>
          <a:noFill/>
          <a:ln w="12700">
            <a:solidFill>
              <a:srgbClr val="D5D9E0"/>
            </a:solidFill>
            <a:prstDash val="solid"/>
          </a:ln>
        </p:spPr>
      </p:sp>
      <p:sp>
        <p:nvSpPr>
          <p:cNvPr id="25" name="Text 21"/>
          <p:cNvSpPr txBox="1"/>
          <p:nvPr/>
        </p:nvSpPr>
        <p:spPr>
          <a:xfrm>
            <a:off x="548640" y="4873752"/>
            <a:ext cx="2697480" cy="658368"/>
          </a:xfrm>
          <a:prstGeom prst="rect">
            <a:avLst/>
          </a:prstGeom>
          <a:noFill/>
          <a:ln/>
        </p:spPr>
        <p:txBody>
          <a:bodyPr wrap="square" lIns="0" tIns="0" rIns="0" bIns="0" rtlCol="0" anchor="ctr"/>
          <a:lstStyle/>
          <a:p>
            <a:pPr indent="0" marL="0">
              <a:buNone/>
            </a:pPr>
            <a:r>
              <a:rPr lang="fr-FR" altLang="en-US" sz="1900" b="1" dirty="0">
                <a:solidFill>
                  <a:srgbClr val="566070"/>
                </a:solidFill>
                <a:latin typeface="Calibri" pitchFamily="34" charset="0"/>
                <a:ea typeface="Calibri" pitchFamily="34" charset="-122"/>
                <a:cs typeface="Calibri" pitchFamily="34" charset="-120"/>
              </a:rPr>
              <a:t>Partage en équipe</a:t>
            </a:r>
            <a:endParaRPr lang="fr-FR" sz="1900" dirty="0"/>
          </a:p>
        </p:txBody>
      </p:sp>
      <p:sp>
        <p:nvSpPr>
          <p:cNvPr id="26" name="Text 22"/>
          <p:cNvSpPr txBox="1"/>
          <p:nvPr/>
        </p:nvSpPr>
        <p:spPr>
          <a:xfrm>
            <a:off x="3657600" y="4873752"/>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1B2233"/>
                </a:solidFill>
                <a:latin typeface="Calibri" pitchFamily="34" charset="0"/>
                <a:ea typeface="Calibri" pitchFamily="34" charset="-122"/>
                <a:cs typeface="Calibri" pitchFamily="34" charset="-120"/>
              </a:rPr>
              <a:t>Publier dans l'organisation</a:t>
            </a:r>
            <a:endParaRPr lang="fr-FR" sz="1900" dirty="0"/>
          </a:p>
        </p:txBody>
      </p:sp>
      <p:sp>
        <p:nvSpPr>
          <p:cNvPr id="27" name="Text 23"/>
          <p:cNvSpPr txBox="1"/>
          <p:nvPr/>
        </p:nvSpPr>
        <p:spPr>
          <a:xfrm>
            <a:off x="7909560" y="4873752"/>
            <a:ext cx="3703320" cy="658368"/>
          </a:xfrm>
          <a:prstGeom prst="rect">
            <a:avLst/>
          </a:prstGeom>
          <a:noFill/>
          <a:ln/>
        </p:spPr>
        <p:txBody>
          <a:bodyPr wrap="square" lIns="0" tIns="0" rIns="0" bIns="0" rtlCol="0" anchor="ctr">
            <a:normAutofit/>
          </a:bodyPr>
          <a:lstStyle/>
          <a:p>
            <a:pPr indent="0" marL="0">
              <a:buNone/>
            </a:pPr>
            <a:r>
              <a:rPr lang="fr-FR" altLang="en-US" sz="1900" dirty="0">
                <a:solidFill>
                  <a:srgbClr val="FFFFFF"/>
                </a:solidFill>
                <a:latin typeface="Calibri" pitchFamily="34" charset="0"/>
                <a:ea typeface="Calibri" pitchFamily="34" charset="-122"/>
                <a:cs typeface="Calibri" pitchFamily="34" charset="-120"/>
              </a:rPr>
              <a:t>le dépôt Git du projet</a:t>
            </a:r>
            <a:endParaRPr lang="fr-FR" sz="1900" dirty="0"/>
          </a:p>
        </p:txBody>
      </p:sp>
      <p:pic>
        <p:nvPicPr>
          <p:cNvPr id="2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48640" y="5852160"/>
            <a:ext cx="329184" cy="329184"/>
          </a:xfrm>
          <a:prstGeom prst="rect">
            <a:avLst/>
          </a:prstGeom>
        </p:spPr>
      </p:pic>
      <p:sp>
        <p:nvSpPr>
          <p:cNvPr id="29" name="Text 24"/>
          <p:cNvSpPr txBox="1"/>
          <p:nvPr/>
        </p:nvSpPr>
        <p:spPr>
          <a:xfrm>
            <a:off x="1005840" y="5760720"/>
            <a:ext cx="10789920" cy="502920"/>
          </a:xfrm>
          <a:prstGeom prst="rect">
            <a:avLst/>
          </a:prstGeom>
          <a:noFill/>
          <a:ln/>
        </p:spPr>
        <p:txBody>
          <a:bodyPr wrap="square" lIns="0" tIns="0" rIns="0" bIns="0" rtlCol="0" anchor="ctr"/>
          <a:lstStyle/>
          <a:p>
            <a:pPr indent="0" marL="0">
              <a:buNone/>
            </a:pPr>
            <a:r>
              <a:rPr lang="fr-FR" altLang="en-US" sz="1900" b="1" dirty="0">
                <a:solidFill>
                  <a:srgbClr val="B8235A"/>
                </a:solidFill>
                <a:latin typeface="Calibri" pitchFamily="34" charset="0"/>
                <a:ea typeface="Calibri" pitchFamily="34" charset="-122"/>
                <a:cs typeface="Calibri" pitchFamily="34" charset="-120"/>
              </a:rPr>
              <a:t>Le meilleur des deux : créer et tester dans Code, puis importer le .skill dans le compte.</a:t>
            </a:r>
            <a:endParaRPr lang="fr-FR" sz="1900" dirty="0"/>
          </a:p>
        </p:txBody>
      </p:sp>
      <p:sp>
        <p:nvSpPr>
          <p:cNvPr id="30" name="Text 25"/>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5 · Créer</a:t>
            </a:r>
            <a:endParaRPr lang="fr-FR" sz="1400" dirty="0"/>
          </a:p>
        </p:txBody>
      </p:sp>
      <p:sp>
        <p:nvSpPr>
          <p:cNvPr id="31" name="Text 26"/>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25</a:t>
            </a:r>
            <a:endParaRPr lang="fr-FR"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Démo : on le demande à Claude</a:t>
            </a:r>
            <a:endParaRPr lang="fr-FR" sz="4000" dirty="0"/>
          </a:p>
        </p:txBody>
      </p:sp>
      <p:sp>
        <p:nvSpPr>
          <p:cNvPr id="3" name="Shape 1"/>
          <p:cNvSpPr/>
          <p:nvPr/>
        </p:nvSpPr>
        <p:spPr>
          <a:xfrm>
            <a:off x="731520" y="1828800"/>
            <a:ext cx="10698480" cy="4480560"/>
          </a:xfrm>
          <a:prstGeom prst="roundRect">
            <a:avLst>
              <a:gd name="adj" fmla="val 2449"/>
            </a:avLst>
          </a:prstGeom>
          <a:solidFill>
            <a:srgbClr val="FFFFFF"/>
          </a:solidFill>
          <a:ln w="19050">
            <a:solidFill>
              <a:srgbClr val="D5D9E0"/>
            </a:solidFill>
            <a:prstDash val="solid"/>
          </a:ln>
          <a:effectLst>
            <a:outerShdw sx="100000" sy="100000" kx="0" ky="0" algn="bl" rotWithShape="0" blurRad="127000" dist="38100" dir="5400000">
              <a:srgbClr val="000000">
                <a:alpha val="12000"/>
              </a:srgbClr>
            </a:outerShdw>
          </a:effectLst>
        </p:spPr>
      </p:sp>
      <p:sp>
        <p:nvSpPr>
          <p:cNvPr id="4" name="Shape 2"/>
          <p:cNvSpPr/>
          <p:nvPr/>
        </p:nvSpPr>
        <p:spPr>
          <a:xfrm>
            <a:off x="4754880" y="2148840"/>
            <a:ext cx="6400800" cy="914400"/>
          </a:xfrm>
          <a:prstGeom prst="roundRect">
            <a:avLst>
              <a:gd name="adj" fmla="val 20000"/>
            </a:avLst>
          </a:prstGeom>
          <a:solidFill>
            <a:srgbClr val="F1F3F6"/>
          </a:solidFill>
          <a:ln/>
        </p:spPr>
      </p:sp>
      <p:sp>
        <p:nvSpPr>
          <p:cNvPr id="5" name="Text 3"/>
          <p:cNvSpPr txBox="1"/>
          <p:nvPr/>
        </p:nvSpPr>
        <p:spPr>
          <a:xfrm>
            <a:off x="4983480" y="2148840"/>
            <a:ext cx="6035040" cy="914400"/>
          </a:xfrm>
          <a:prstGeom prst="rect">
            <a:avLst/>
          </a:prstGeom>
          <a:noFill/>
          <a:ln/>
        </p:spPr>
        <p:txBody>
          <a:bodyPr wrap="square" lIns="0" tIns="0" rIns="0" bIns="0" rtlCol="0" anchor="ctr"/>
          <a:lstStyle/>
          <a:p>
            <a:pPr indent="0" marL="0">
              <a:buNone/>
            </a:pPr>
            <a:r>
              <a:rPr lang="fr-FR" altLang="en-US" sz="1800" dirty="0">
                <a:solidFill>
                  <a:srgbClr val="1B2233"/>
                </a:solidFill>
                <a:latin typeface="Calibri" pitchFamily="34" charset="0"/>
                <a:ea typeface="Calibri" pitchFamily="34" charset="-122"/>
                <a:cs typeface="Calibri" pitchFamily="34" charset="-120"/>
              </a:rPr>
              <a:t>Aide-moi à créer une skill qui transforme mes notes de réunion en compte rendu à notre format.</a:t>
            </a:r>
            <a:endParaRPr lang="fr-FR" sz="1800" dirty="0"/>
          </a:p>
        </p:txBody>
      </p:sp>
      <p:sp>
        <p:nvSpPr>
          <p:cNvPr id="6" name="Shape 4"/>
          <p:cNvSpPr/>
          <p:nvPr/>
        </p:nvSpPr>
        <p:spPr>
          <a:xfrm>
            <a:off x="1051560" y="3337560"/>
            <a:ext cx="502920" cy="502920"/>
          </a:xfrm>
          <a:prstGeom prst="ellipse">
            <a:avLst/>
          </a:prstGeom>
          <a:solidFill>
            <a:srgbClr val="B8235A"/>
          </a:solidFill>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170432" y="3456432"/>
            <a:ext cx="265176" cy="265176"/>
          </a:xfrm>
          <a:prstGeom prst="rect">
            <a:avLst/>
          </a:prstGeom>
        </p:spPr>
      </p:pic>
      <p:sp>
        <p:nvSpPr>
          <p:cNvPr id="8" name="Text 5"/>
          <p:cNvSpPr txBox="1"/>
          <p:nvPr/>
        </p:nvSpPr>
        <p:spPr>
          <a:xfrm>
            <a:off x="1737360" y="3291840"/>
            <a:ext cx="5120640" cy="1737360"/>
          </a:xfrm>
          <a:prstGeom prst="rect">
            <a:avLst/>
          </a:prstGeom>
          <a:noFill/>
          <a:ln/>
        </p:spPr>
        <p:txBody>
          <a:bodyPr wrap="square" lIns="0" tIns="0" rIns="0" bIns="0" rtlCol="0" anchor="t"/>
          <a:lstStyle/>
          <a:p>
            <a:pPr indent="0" marL="0">
              <a:spcAft>
                <a:spcPts val="400"/>
              </a:spcAft>
              <a:buNone/>
            </a:pPr>
            <a:r>
              <a:rPr lang="fr-FR" altLang="en-US" sz="1800" b="1" dirty="0">
                <a:solidFill>
                  <a:srgbClr val="1B2233"/>
                </a:solidFill>
                <a:latin typeface="Calibri" pitchFamily="34" charset="0"/>
                <a:ea typeface="Calibri" pitchFamily="34" charset="-122"/>
                <a:cs typeface="Calibri" pitchFamily="34" charset="-120"/>
              </a:rPr>
              <a:t>skill-creator : d'abord trois questions</a:t>
            </a:r>
            <a:endParaRPr lang="fr-FR" sz="1800" dirty="0"/>
          </a:p>
          <a:p>
            <a:pPr marL="342900" indent="-342900">
              <a:spcAft>
                <a:spcPts val="400"/>
              </a:spcAft>
              <a:buSzPct val="100000"/>
              <a:buFont typeface="+mj-lt"/>
              <a:buAutoNum type="arabicPeriod" startAt="1"/>
            </a:pPr>
            <a:r>
              <a:rPr lang="fr-FR" altLang="en-US" sz="1800" dirty="0">
                <a:solidFill>
                  <a:srgbClr val="1B2233"/>
                </a:solidFill>
                <a:latin typeface="Calibri" pitchFamily="34" charset="0"/>
                <a:ea typeface="Calibri" pitchFamily="34" charset="-122"/>
                <a:cs typeface="Calibri" pitchFamily="34" charset="-120"/>
              </a:rPr>
              <a:t>Qui lit ces comptes rendus ?</a:t>
            </a:r>
            <a:endParaRPr lang="fr-FR" sz="1800" dirty="0"/>
          </a:p>
          <a:p>
            <a:pPr marL="342900" indent="-342900">
              <a:spcAft>
                <a:spcPts val="400"/>
              </a:spcAft>
              <a:buSzPct val="100000"/>
              <a:buFont typeface="+mj-lt"/>
              <a:buAutoNum type="arabicPeriod" startAt="1"/>
            </a:pPr>
            <a:r>
              <a:rPr lang="fr-FR" altLang="en-US" sz="1800" dirty="0">
                <a:solidFill>
                  <a:srgbClr val="1B2233"/>
                </a:solidFill>
                <a:latin typeface="Calibri" pitchFamily="34" charset="0"/>
                <a:ea typeface="Calibri" pitchFamily="34" charset="-122"/>
                <a:cs typeface="Calibri" pitchFamily="34" charset="-120"/>
              </a:rPr>
              <a:t>Quelle longueur maximum ?</a:t>
            </a:r>
            <a:endParaRPr lang="fr-FR" sz="1800" dirty="0"/>
          </a:p>
          <a:p>
            <a:pPr marL="342900" indent="-342900">
              <a:spcAft>
                <a:spcPts val="400"/>
              </a:spcAft>
              <a:buSzPct val="100000"/>
              <a:buFont typeface="+mj-lt"/>
              <a:buAutoNum type="arabicPeriod" startAt="1"/>
            </a:pPr>
            <a:r>
              <a:rPr lang="fr-FR" altLang="en-US" sz="1800" dirty="0">
                <a:solidFill>
                  <a:srgbClr val="1B2233"/>
                </a:solidFill>
                <a:latin typeface="Calibri" pitchFamily="34" charset="0"/>
                <a:ea typeface="Calibri" pitchFamily="34" charset="-122"/>
                <a:cs typeface="Calibri" pitchFamily="34" charset="-120"/>
              </a:rPr>
              <a:t>Avez-vous un exemple réussi ?</a:t>
            </a:r>
            <a:endParaRPr lang="fr-FR" sz="1800" dirty="0"/>
          </a:p>
        </p:txBody>
      </p:sp>
      <p:sp>
        <p:nvSpPr>
          <p:cNvPr id="9" name="Shape 6"/>
          <p:cNvSpPr/>
          <p:nvPr/>
        </p:nvSpPr>
        <p:spPr>
          <a:xfrm>
            <a:off x="1737360" y="5120640"/>
            <a:ext cx="5669280" cy="914400"/>
          </a:xfrm>
          <a:prstGeom prst="roundRect">
            <a:avLst>
              <a:gd name="adj" fmla="val 15000"/>
            </a:avLst>
          </a:prstGeom>
          <a:solidFill>
            <a:srgbClr val="E2F2EA"/>
          </a:solidFill>
          <a:ln w="19050">
            <a:solidFill>
              <a:srgbClr val="1F7A50"/>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965960" y="5349240"/>
            <a:ext cx="457200" cy="457200"/>
          </a:xfrm>
          <a:prstGeom prst="rect">
            <a:avLst/>
          </a:prstGeom>
        </p:spPr>
      </p:pic>
      <p:sp>
        <p:nvSpPr>
          <p:cNvPr id="11" name="Text 7"/>
          <p:cNvSpPr txBox="1"/>
          <p:nvPr/>
        </p:nvSpPr>
        <p:spPr>
          <a:xfrm>
            <a:off x="2606040" y="5120640"/>
            <a:ext cx="3108960" cy="914400"/>
          </a:xfrm>
          <a:prstGeom prst="rect">
            <a:avLst/>
          </a:prstGeom>
          <a:noFill/>
          <a:ln/>
        </p:spPr>
        <p:txBody>
          <a:bodyPr wrap="square" lIns="0" tIns="0" rIns="0" bIns="0" rtlCol="0" anchor="ctr"/>
          <a:lstStyle/>
          <a:p>
            <a:pPr indent="0" marL="0">
              <a:buNone/>
            </a:pPr>
            <a:r>
              <a:rPr lang="fr-FR" altLang="en-US" sz="1800" b="1" dirty="0">
                <a:solidFill>
                  <a:srgbClr val="1B2233"/>
                </a:solidFill>
                <a:latin typeface="Calibri" pitchFamily="34" charset="0"/>
                <a:ea typeface="Calibri" pitchFamily="34" charset="-122"/>
                <a:cs typeface="Calibri" pitchFamily="34" charset="-120"/>
              </a:rPr>
              <a:t>compte-rendu.skill</a:t>
            </a:r>
            <a:endParaRPr lang="fr-FR" sz="1800" dirty="0"/>
          </a:p>
        </p:txBody>
      </p:sp>
      <p:sp>
        <p:nvSpPr>
          <p:cNvPr id="12" name="Shape 8"/>
          <p:cNvSpPr/>
          <p:nvPr/>
        </p:nvSpPr>
        <p:spPr>
          <a:xfrm>
            <a:off x="5760720" y="5321808"/>
            <a:ext cx="1463040" cy="512064"/>
          </a:xfrm>
          <a:prstGeom prst="roundRect">
            <a:avLst>
              <a:gd name="adj" fmla="val 50000"/>
            </a:avLst>
          </a:prstGeom>
          <a:solidFill>
            <a:srgbClr val="1F7A50"/>
          </a:solidFill>
          <a:ln/>
        </p:spPr>
      </p:sp>
      <p:sp>
        <p:nvSpPr>
          <p:cNvPr id="13" name="Text 9"/>
          <p:cNvSpPr txBox="1"/>
          <p:nvPr/>
        </p:nvSpPr>
        <p:spPr>
          <a:xfrm>
            <a:off x="5760720" y="5321808"/>
            <a:ext cx="1463040" cy="512064"/>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Save skill</a:t>
            </a:r>
            <a:endParaRPr lang="fr-FR" sz="1600" dirty="0"/>
          </a:p>
        </p:txBody>
      </p:sp>
      <p:sp>
        <p:nvSpPr>
          <p:cNvPr id="14" name="Shape 10"/>
          <p:cNvSpPr/>
          <p:nvPr/>
        </p:nvSpPr>
        <p:spPr>
          <a:xfrm>
            <a:off x="7955280" y="3429000"/>
            <a:ext cx="502920" cy="502920"/>
          </a:xfrm>
          <a:prstGeom prst="ellipse">
            <a:avLst/>
          </a:prstGeom>
          <a:solidFill>
            <a:srgbClr val="B8235A"/>
          </a:solidFill>
          <a:ln w="25400">
            <a:solidFill>
              <a:srgbClr val="FFFFFF"/>
            </a:solidFill>
            <a:prstDash val="solid"/>
          </a:ln>
        </p:spPr>
      </p:sp>
      <p:sp>
        <p:nvSpPr>
          <p:cNvPr id="15" name="Text 11"/>
          <p:cNvSpPr txBox="1"/>
          <p:nvPr/>
        </p:nvSpPr>
        <p:spPr>
          <a:xfrm>
            <a:off x="7955280" y="3429000"/>
            <a:ext cx="502920" cy="502920"/>
          </a:xfrm>
          <a:prstGeom prst="rect">
            <a:avLst/>
          </a:prstGeom>
          <a:noFill/>
          <a:ln/>
        </p:spPr>
        <p:txBody>
          <a:bodyPr wrap="square" lIns="0" tIns="0" rIns="0" bIns="0" rtlCol="0" anchor="ctr"/>
          <a:lstStyle/>
          <a:p>
            <a:pPr algn="ctr" indent="0" marL="0">
              <a:buNone/>
            </a:pPr>
            <a:r>
              <a:rPr lang="fr-FR" altLang="en-US" sz="2000" b="1" dirty="0">
                <a:solidFill>
                  <a:srgbClr val="FFFFFF"/>
                </a:solidFill>
                <a:latin typeface="Calibri" pitchFamily="34" charset="0"/>
                <a:ea typeface="Calibri" pitchFamily="34" charset="-122"/>
                <a:cs typeface="Calibri" pitchFamily="34" charset="-120"/>
              </a:rPr>
              <a:t>1</a:t>
            </a:r>
            <a:endParaRPr lang="fr-FR" sz="2000" dirty="0"/>
          </a:p>
        </p:txBody>
      </p:sp>
      <p:sp>
        <p:nvSpPr>
          <p:cNvPr id="16" name="Text 12"/>
          <p:cNvSpPr txBox="1"/>
          <p:nvPr/>
        </p:nvSpPr>
        <p:spPr>
          <a:xfrm>
            <a:off x="8595360" y="3429000"/>
            <a:ext cx="2560320" cy="502920"/>
          </a:xfrm>
          <a:prstGeom prst="rect">
            <a:avLst/>
          </a:prstGeom>
          <a:noFill/>
          <a:ln/>
        </p:spPr>
        <p:txBody>
          <a:bodyPr wrap="square" lIns="0" tIns="0" rIns="0" bIns="0" rtlCol="0" anchor="ctr"/>
          <a:lstStyle/>
          <a:p>
            <a:pPr indent="0" marL="0">
              <a:buNone/>
            </a:pPr>
            <a:r>
              <a:rPr lang="fr-FR" altLang="en-US" sz="2000" b="1" dirty="0">
                <a:solidFill>
                  <a:srgbClr val="1B2233"/>
                </a:solidFill>
                <a:latin typeface="Calibri" pitchFamily="34" charset="0"/>
                <a:ea typeface="Calibri" pitchFamily="34" charset="-122"/>
                <a:cs typeface="Calibri" pitchFamily="34" charset="-120"/>
              </a:rPr>
              <a:t>Je demande</a:t>
            </a:r>
            <a:endParaRPr lang="fr-FR" sz="2000" dirty="0"/>
          </a:p>
        </p:txBody>
      </p:sp>
      <p:sp>
        <p:nvSpPr>
          <p:cNvPr id="17" name="Shape 13"/>
          <p:cNvSpPr/>
          <p:nvPr/>
        </p:nvSpPr>
        <p:spPr>
          <a:xfrm>
            <a:off x="7955280" y="4087368"/>
            <a:ext cx="502920" cy="502920"/>
          </a:xfrm>
          <a:prstGeom prst="ellipse">
            <a:avLst/>
          </a:prstGeom>
          <a:solidFill>
            <a:srgbClr val="B8235A"/>
          </a:solidFill>
          <a:ln w="25400">
            <a:solidFill>
              <a:srgbClr val="FFFFFF"/>
            </a:solidFill>
            <a:prstDash val="solid"/>
          </a:ln>
        </p:spPr>
      </p:sp>
      <p:sp>
        <p:nvSpPr>
          <p:cNvPr id="18" name="Text 14"/>
          <p:cNvSpPr txBox="1"/>
          <p:nvPr/>
        </p:nvSpPr>
        <p:spPr>
          <a:xfrm>
            <a:off x="7955280" y="4087368"/>
            <a:ext cx="502920" cy="502920"/>
          </a:xfrm>
          <a:prstGeom prst="rect">
            <a:avLst/>
          </a:prstGeom>
          <a:noFill/>
          <a:ln/>
        </p:spPr>
        <p:txBody>
          <a:bodyPr wrap="square" lIns="0" tIns="0" rIns="0" bIns="0" rtlCol="0" anchor="ctr"/>
          <a:lstStyle/>
          <a:p>
            <a:pPr algn="ctr" indent="0" marL="0">
              <a:buNone/>
            </a:pPr>
            <a:r>
              <a:rPr lang="fr-FR" altLang="en-US" sz="2000" b="1" dirty="0">
                <a:solidFill>
                  <a:srgbClr val="FFFFFF"/>
                </a:solidFill>
                <a:latin typeface="Calibri" pitchFamily="34" charset="0"/>
                <a:ea typeface="Calibri" pitchFamily="34" charset="-122"/>
                <a:cs typeface="Calibri" pitchFamily="34" charset="-120"/>
              </a:rPr>
              <a:t>2</a:t>
            </a:r>
            <a:endParaRPr lang="fr-FR" sz="2000" dirty="0"/>
          </a:p>
        </p:txBody>
      </p:sp>
      <p:sp>
        <p:nvSpPr>
          <p:cNvPr id="19" name="Text 15"/>
          <p:cNvSpPr txBox="1"/>
          <p:nvPr/>
        </p:nvSpPr>
        <p:spPr>
          <a:xfrm>
            <a:off x="8595360" y="4087368"/>
            <a:ext cx="2560320" cy="502920"/>
          </a:xfrm>
          <a:prstGeom prst="rect">
            <a:avLst/>
          </a:prstGeom>
          <a:noFill/>
          <a:ln/>
        </p:spPr>
        <p:txBody>
          <a:bodyPr wrap="square" lIns="0" tIns="0" rIns="0" bIns="0" rtlCol="0" anchor="ctr"/>
          <a:lstStyle/>
          <a:p>
            <a:pPr indent="0" marL="0">
              <a:buNone/>
            </a:pPr>
            <a:r>
              <a:rPr lang="fr-FR" altLang="en-US" sz="2000" b="1" dirty="0">
                <a:solidFill>
                  <a:srgbClr val="1B2233"/>
                </a:solidFill>
                <a:latin typeface="Calibri" pitchFamily="34" charset="0"/>
                <a:ea typeface="Calibri" pitchFamily="34" charset="-122"/>
                <a:cs typeface="Calibri" pitchFamily="34" charset="-120"/>
              </a:rPr>
              <a:t>Je réponds</a:t>
            </a:r>
            <a:endParaRPr lang="fr-FR" sz="2000" dirty="0"/>
          </a:p>
        </p:txBody>
      </p:sp>
      <p:sp>
        <p:nvSpPr>
          <p:cNvPr id="20" name="Shape 16"/>
          <p:cNvSpPr/>
          <p:nvPr/>
        </p:nvSpPr>
        <p:spPr>
          <a:xfrm>
            <a:off x="7955280" y="4745736"/>
            <a:ext cx="502920" cy="502920"/>
          </a:xfrm>
          <a:prstGeom prst="ellipse">
            <a:avLst/>
          </a:prstGeom>
          <a:solidFill>
            <a:srgbClr val="B8235A"/>
          </a:solidFill>
          <a:ln w="25400">
            <a:solidFill>
              <a:srgbClr val="FFFFFF"/>
            </a:solidFill>
            <a:prstDash val="solid"/>
          </a:ln>
        </p:spPr>
      </p:sp>
      <p:sp>
        <p:nvSpPr>
          <p:cNvPr id="21" name="Text 17"/>
          <p:cNvSpPr txBox="1"/>
          <p:nvPr/>
        </p:nvSpPr>
        <p:spPr>
          <a:xfrm>
            <a:off x="7955280" y="4745736"/>
            <a:ext cx="502920" cy="502920"/>
          </a:xfrm>
          <a:prstGeom prst="rect">
            <a:avLst/>
          </a:prstGeom>
          <a:noFill/>
          <a:ln/>
        </p:spPr>
        <p:txBody>
          <a:bodyPr wrap="square" lIns="0" tIns="0" rIns="0" bIns="0" rtlCol="0" anchor="ctr"/>
          <a:lstStyle/>
          <a:p>
            <a:pPr algn="ctr" indent="0" marL="0">
              <a:buNone/>
            </a:pPr>
            <a:r>
              <a:rPr lang="fr-FR" altLang="en-US" sz="2000" b="1" dirty="0">
                <a:solidFill>
                  <a:srgbClr val="FFFFFF"/>
                </a:solidFill>
                <a:latin typeface="Calibri" pitchFamily="34" charset="0"/>
                <a:ea typeface="Calibri" pitchFamily="34" charset="-122"/>
                <a:cs typeface="Calibri" pitchFamily="34" charset="-120"/>
              </a:rPr>
              <a:t>3</a:t>
            </a:r>
            <a:endParaRPr lang="fr-FR" sz="2000" dirty="0"/>
          </a:p>
        </p:txBody>
      </p:sp>
      <p:sp>
        <p:nvSpPr>
          <p:cNvPr id="22" name="Text 18"/>
          <p:cNvSpPr txBox="1"/>
          <p:nvPr/>
        </p:nvSpPr>
        <p:spPr>
          <a:xfrm>
            <a:off x="8595360" y="4745736"/>
            <a:ext cx="2560320" cy="502920"/>
          </a:xfrm>
          <a:prstGeom prst="rect">
            <a:avLst/>
          </a:prstGeom>
          <a:noFill/>
          <a:ln/>
        </p:spPr>
        <p:txBody>
          <a:bodyPr wrap="square" lIns="0" tIns="0" rIns="0" bIns="0" rtlCol="0" anchor="ctr"/>
          <a:lstStyle/>
          <a:p>
            <a:pPr indent="0" marL="0">
              <a:buNone/>
            </a:pPr>
            <a:r>
              <a:rPr lang="fr-FR" altLang="en-US" sz="2000" b="1" dirty="0">
                <a:solidFill>
                  <a:srgbClr val="1B2233"/>
                </a:solidFill>
                <a:latin typeface="Calibri" pitchFamily="34" charset="0"/>
                <a:ea typeface="Calibri" pitchFamily="34" charset="-122"/>
                <a:cs typeface="Calibri" pitchFamily="34" charset="-120"/>
              </a:rPr>
              <a:t>J'enregistre</a:t>
            </a:r>
            <a:endParaRPr lang="fr-FR" sz="2000" dirty="0"/>
          </a:p>
        </p:txBody>
      </p:sp>
      <p:sp>
        <p:nvSpPr>
          <p:cNvPr id="23" name="Shape 19"/>
          <p:cNvSpPr/>
          <p:nvPr/>
        </p:nvSpPr>
        <p:spPr>
          <a:xfrm>
            <a:off x="7955280" y="5404104"/>
            <a:ext cx="502920" cy="502920"/>
          </a:xfrm>
          <a:prstGeom prst="ellipse">
            <a:avLst/>
          </a:prstGeom>
          <a:solidFill>
            <a:srgbClr val="B8235A"/>
          </a:solidFill>
          <a:ln w="25400">
            <a:solidFill>
              <a:srgbClr val="FFFFFF"/>
            </a:solidFill>
            <a:prstDash val="solid"/>
          </a:ln>
        </p:spPr>
      </p:sp>
      <p:sp>
        <p:nvSpPr>
          <p:cNvPr id="24" name="Text 20"/>
          <p:cNvSpPr txBox="1"/>
          <p:nvPr/>
        </p:nvSpPr>
        <p:spPr>
          <a:xfrm>
            <a:off x="7955280" y="5404104"/>
            <a:ext cx="502920" cy="502920"/>
          </a:xfrm>
          <a:prstGeom prst="rect">
            <a:avLst/>
          </a:prstGeom>
          <a:noFill/>
          <a:ln/>
        </p:spPr>
        <p:txBody>
          <a:bodyPr wrap="square" lIns="0" tIns="0" rIns="0" bIns="0" rtlCol="0" anchor="ctr"/>
          <a:lstStyle/>
          <a:p>
            <a:pPr algn="ctr" indent="0" marL="0">
              <a:buNone/>
            </a:pPr>
            <a:r>
              <a:rPr lang="fr-FR" altLang="en-US" sz="2000" b="1" dirty="0">
                <a:solidFill>
                  <a:srgbClr val="FFFFFF"/>
                </a:solidFill>
                <a:latin typeface="Calibri" pitchFamily="34" charset="0"/>
                <a:ea typeface="Calibri" pitchFamily="34" charset="-122"/>
                <a:cs typeface="Calibri" pitchFamily="34" charset="-120"/>
              </a:rPr>
              <a:t>4</a:t>
            </a:r>
            <a:endParaRPr lang="fr-FR" sz="2000" dirty="0"/>
          </a:p>
        </p:txBody>
      </p:sp>
      <p:sp>
        <p:nvSpPr>
          <p:cNvPr id="25" name="Text 21"/>
          <p:cNvSpPr txBox="1"/>
          <p:nvPr/>
        </p:nvSpPr>
        <p:spPr>
          <a:xfrm>
            <a:off x="8595360" y="5404104"/>
            <a:ext cx="2560320" cy="502920"/>
          </a:xfrm>
          <a:prstGeom prst="rect">
            <a:avLst/>
          </a:prstGeom>
          <a:noFill/>
          <a:ln/>
        </p:spPr>
        <p:txBody>
          <a:bodyPr wrap="square" lIns="0" tIns="0" rIns="0" bIns="0" rtlCol="0" anchor="ctr"/>
          <a:lstStyle/>
          <a:p>
            <a:pPr indent="0" marL="0">
              <a:buNone/>
            </a:pPr>
            <a:r>
              <a:rPr lang="fr-FR" altLang="en-US" sz="2000" b="1" dirty="0">
                <a:solidFill>
                  <a:srgbClr val="1B2233"/>
                </a:solidFill>
                <a:latin typeface="Calibri" pitchFamily="34" charset="0"/>
                <a:ea typeface="Calibri" pitchFamily="34" charset="-122"/>
                <a:cs typeface="Calibri" pitchFamily="34" charset="-120"/>
              </a:rPr>
              <a:t>Je teste</a:t>
            </a:r>
            <a:endParaRPr lang="fr-FR" sz="2000" dirty="0"/>
          </a:p>
        </p:txBody>
      </p:sp>
      <p:sp>
        <p:nvSpPr>
          <p:cNvPr id="26" name="Text 22"/>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5 · Créer</a:t>
            </a:r>
            <a:endParaRPr lang="fr-FR" sz="1400" dirty="0"/>
          </a:p>
        </p:txBody>
      </p:sp>
      <p:sp>
        <p:nvSpPr>
          <p:cNvPr id="27" name="Text 23"/>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26</a:t>
            </a:r>
            <a:endParaRPr lang="fr-FR"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Les 3 secrets d'une bonne skill</a:t>
            </a:r>
            <a:endParaRPr lang="fr-FR" sz="4000" dirty="0"/>
          </a:p>
        </p:txBody>
      </p:sp>
      <p:sp>
        <p:nvSpPr>
          <p:cNvPr id="3" name="Text 1"/>
          <p:cNvSpPr txBox="1"/>
          <p:nvPr/>
        </p:nvSpPr>
        <p:spPr>
          <a:xfrm>
            <a:off x="548640" y="1691640"/>
            <a:ext cx="1280160" cy="1280160"/>
          </a:xfrm>
          <a:prstGeom prst="rect">
            <a:avLst/>
          </a:prstGeom>
          <a:noFill/>
          <a:ln/>
        </p:spPr>
        <p:txBody>
          <a:bodyPr wrap="square" lIns="0" tIns="0" rIns="0" bIns="0" rtlCol="0" anchor="ctr"/>
          <a:lstStyle/>
          <a:p>
            <a:pPr indent="0" marL="0">
              <a:buNone/>
            </a:pPr>
            <a:r>
              <a:rPr lang="fr-FR" altLang="en-US" sz="9600" b="1" dirty="0">
                <a:solidFill>
                  <a:srgbClr val="B8235A"/>
                </a:solidFill>
                <a:latin typeface="Calibri" pitchFamily="34" charset="0"/>
                <a:ea typeface="Calibri" pitchFamily="34" charset="-122"/>
                <a:cs typeface="Calibri" pitchFamily="34" charset="-120"/>
              </a:rPr>
              <a:t>1</a:t>
            </a:r>
            <a:endParaRPr lang="fr-FR" sz="9600" dirty="0"/>
          </a:p>
        </p:txBody>
      </p:sp>
      <p:sp>
        <p:nvSpPr>
          <p:cNvPr id="4" name="Text 2"/>
          <p:cNvSpPr txBox="1"/>
          <p:nvPr/>
        </p:nvSpPr>
        <p:spPr>
          <a:xfrm>
            <a:off x="1920240" y="1783080"/>
            <a:ext cx="9692640" cy="640080"/>
          </a:xfrm>
          <a:prstGeom prst="rect">
            <a:avLst/>
          </a:prstGeom>
          <a:noFill/>
          <a:ln/>
        </p:spPr>
        <p:txBody>
          <a:bodyPr wrap="square" lIns="0" tIns="0" rIns="0" bIns="0" rtlCol="0" anchor="ctr"/>
          <a:lstStyle/>
          <a:p>
            <a:pPr indent="0" marL="0">
              <a:buNone/>
            </a:pPr>
            <a:r>
              <a:rPr lang="fr-FR" altLang="en-US" sz="3200" b="1" dirty="0">
                <a:solidFill>
                  <a:srgbClr val="1B2233"/>
                </a:solidFill>
                <a:latin typeface="Calibri" pitchFamily="34" charset="0"/>
                <a:ea typeface="Calibri" pitchFamily="34" charset="-122"/>
                <a:cs typeface="Calibri" pitchFamily="34" charset="-120"/>
              </a:rPr>
              <a:t>Une description qui dit QUAND</a:t>
            </a:r>
            <a:endParaRPr lang="fr-FR" sz="3200" dirty="0"/>
          </a:p>
        </p:txBody>
      </p:sp>
      <p:sp>
        <p:nvSpPr>
          <p:cNvPr id="5" name="Text 3"/>
          <p:cNvSpPr txBox="1"/>
          <p:nvPr/>
        </p:nvSpPr>
        <p:spPr>
          <a:xfrm>
            <a:off x="1920240" y="2423160"/>
            <a:ext cx="9692640" cy="457200"/>
          </a:xfrm>
          <a:prstGeom prst="rect">
            <a:avLst/>
          </a:prstGeom>
          <a:noFill/>
          <a:ln/>
        </p:spPr>
        <p:txBody>
          <a:bodyPr wrap="square" lIns="0" tIns="0" rIns="0" bIns="0" rtlCol="0" anchor="ctr"/>
          <a:lstStyle/>
          <a:p>
            <a:pPr indent="0" marL="0">
              <a:buNone/>
            </a:pPr>
            <a:r>
              <a:rPr lang="fr-FR" altLang="en-US" sz="2000" i="1" dirty="0">
                <a:solidFill>
                  <a:srgbClr val="566070"/>
                </a:solidFill>
                <a:latin typeface="Calibri" pitchFamily="34" charset="0"/>
                <a:ea typeface="Calibri" pitchFamily="34" charset="-122"/>
                <a:cs typeface="Calibri" pitchFamily="34" charset="-120"/>
              </a:rPr>
              <a:t>« Utiliser quand l'utilisateur demande un compte rendu… »</a:t>
            </a:r>
            <a:endParaRPr lang="fr-FR" sz="2000" dirty="0"/>
          </a:p>
        </p:txBody>
      </p:sp>
      <p:sp>
        <p:nvSpPr>
          <p:cNvPr id="6" name="Shape 4"/>
          <p:cNvSpPr/>
          <p:nvPr/>
        </p:nvSpPr>
        <p:spPr>
          <a:xfrm>
            <a:off x="1920240" y="3044952"/>
            <a:ext cx="9692640" cy="0"/>
          </a:xfrm>
          <a:prstGeom prst="line">
            <a:avLst/>
          </a:prstGeom>
          <a:noFill/>
          <a:ln w="12700">
            <a:solidFill>
              <a:srgbClr val="D5D9E0"/>
            </a:solidFill>
            <a:prstDash val="solid"/>
          </a:ln>
        </p:spPr>
      </p:sp>
      <p:sp>
        <p:nvSpPr>
          <p:cNvPr id="7" name="Text 5"/>
          <p:cNvSpPr txBox="1"/>
          <p:nvPr/>
        </p:nvSpPr>
        <p:spPr>
          <a:xfrm>
            <a:off x="548640" y="3154680"/>
            <a:ext cx="1280160" cy="1280160"/>
          </a:xfrm>
          <a:prstGeom prst="rect">
            <a:avLst/>
          </a:prstGeom>
          <a:noFill/>
          <a:ln/>
        </p:spPr>
        <p:txBody>
          <a:bodyPr wrap="square" lIns="0" tIns="0" rIns="0" bIns="0" rtlCol="0" anchor="ctr"/>
          <a:lstStyle/>
          <a:p>
            <a:pPr indent="0" marL="0">
              <a:buNone/>
            </a:pPr>
            <a:r>
              <a:rPr lang="fr-FR" altLang="en-US" sz="9600" b="1" dirty="0">
                <a:solidFill>
                  <a:srgbClr val="B8235A"/>
                </a:solidFill>
                <a:latin typeface="Calibri" pitchFamily="34" charset="0"/>
                <a:ea typeface="Calibri" pitchFamily="34" charset="-122"/>
                <a:cs typeface="Calibri" pitchFamily="34" charset="-120"/>
              </a:rPr>
              <a:t>2</a:t>
            </a:r>
            <a:endParaRPr lang="fr-FR" sz="9600" dirty="0"/>
          </a:p>
        </p:txBody>
      </p:sp>
      <p:sp>
        <p:nvSpPr>
          <p:cNvPr id="8" name="Text 6"/>
          <p:cNvSpPr txBox="1"/>
          <p:nvPr/>
        </p:nvSpPr>
        <p:spPr>
          <a:xfrm>
            <a:off x="1920240" y="3246120"/>
            <a:ext cx="9692640" cy="640080"/>
          </a:xfrm>
          <a:prstGeom prst="rect">
            <a:avLst/>
          </a:prstGeom>
          <a:noFill/>
          <a:ln/>
        </p:spPr>
        <p:txBody>
          <a:bodyPr wrap="square" lIns="0" tIns="0" rIns="0" bIns="0" rtlCol="0" anchor="ctr"/>
          <a:lstStyle/>
          <a:p>
            <a:pPr indent="0" marL="0">
              <a:buNone/>
            </a:pPr>
            <a:r>
              <a:rPr lang="fr-FR" altLang="en-US" sz="3200" b="1" dirty="0">
                <a:solidFill>
                  <a:srgbClr val="1B2233"/>
                </a:solidFill>
                <a:latin typeface="Calibri" pitchFamily="34" charset="0"/>
                <a:ea typeface="Calibri" pitchFamily="34" charset="-122"/>
                <a:cs typeface="Calibri" pitchFamily="34" charset="-120"/>
              </a:rPr>
              <a:t>Un exemple réussi</a:t>
            </a:r>
            <a:endParaRPr lang="fr-FR" sz="3200" dirty="0"/>
          </a:p>
        </p:txBody>
      </p:sp>
      <p:sp>
        <p:nvSpPr>
          <p:cNvPr id="9" name="Text 7"/>
          <p:cNvSpPr txBox="1"/>
          <p:nvPr/>
        </p:nvSpPr>
        <p:spPr>
          <a:xfrm>
            <a:off x="1920240" y="3886200"/>
            <a:ext cx="9692640" cy="457200"/>
          </a:xfrm>
          <a:prstGeom prst="rect">
            <a:avLst/>
          </a:prstGeom>
          <a:noFill/>
          <a:ln/>
        </p:spPr>
        <p:txBody>
          <a:bodyPr wrap="square" lIns="0" tIns="0" rIns="0" bIns="0" rtlCol="0" anchor="ctr"/>
          <a:lstStyle/>
          <a:p>
            <a:pPr indent="0" marL="0">
              <a:buNone/>
            </a:pPr>
            <a:r>
              <a:rPr lang="fr-FR" altLang="en-US" sz="2000" i="1" dirty="0">
                <a:solidFill>
                  <a:srgbClr val="566070"/>
                </a:solidFill>
                <a:latin typeface="Calibri" pitchFamily="34" charset="0"/>
                <a:ea typeface="Calibri" pitchFamily="34" charset="-122"/>
                <a:cs typeface="Calibri" pitchFamily="34" charset="-120"/>
              </a:rPr>
              <a:t>Claude imite mieux qu'il n'obéit</a:t>
            </a:r>
            <a:endParaRPr lang="fr-FR" sz="2000" dirty="0"/>
          </a:p>
        </p:txBody>
      </p:sp>
      <p:sp>
        <p:nvSpPr>
          <p:cNvPr id="10" name="Shape 8"/>
          <p:cNvSpPr/>
          <p:nvPr/>
        </p:nvSpPr>
        <p:spPr>
          <a:xfrm>
            <a:off x="1920240" y="4507992"/>
            <a:ext cx="9692640" cy="0"/>
          </a:xfrm>
          <a:prstGeom prst="line">
            <a:avLst/>
          </a:prstGeom>
          <a:noFill/>
          <a:ln w="12700">
            <a:solidFill>
              <a:srgbClr val="D5D9E0"/>
            </a:solidFill>
            <a:prstDash val="solid"/>
          </a:ln>
        </p:spPr>
      </p:sp>
      <p:sp>
        <p:nvSpPr>
          <p:cNvPr id="11" name="Text 9"/>
          <p:cNvSpPr txBox="1"/>
          <p:nvPr/>
        </p:nvSpPr>
        <p:spPr>
          <a:xfrm>
            <a:off x="548640" y="4617720"/>
            <a:ext cx="1280160" cy="1280160"/>
          </a:xfrm>
          <a:prstGeom prst="rect">
            <a:avLst/>
          </a:prstGeom>
          <a:noFill/>
          <a:ln/>
        </p:spPr>
        <p:txBody>
          <a:bodyPr wrap="square" lIns="0" tIns="0" rIns="0" bIns="0" rtlCol="0" anchor="ctr"/>
          <a:lstStyle/>
          <a:p>
            <a:pPr indent="0" marL="0">
              <a:buNone/>
            </a:pPr>
            <a:r>
              <a:rPr lang="fr-FR" altLang="en-US" sz="9600" b="1" dirty="0">
                <a:solidFill>
                  <a:srgbClr val="B8235A"/>
                </a:solidFill>
                <a:latin typeface="Calibri" pitchFamily="34" charset="0"/>
                <a:ea typeface="Calibri" pitchFamily="34" charset="-122"/>
                <a:cs typeface="Calibri" pitchFamily="34" charset="-120"/>
              </a:rPr>
              <a:t>3</a:t>
            </a:r>
            <a:endParaRPr lang="fr-FR" sz="9600" dirty="0"/>
          </a:p>
        </p:txBody>
      </p:sp>
      <p:sp>
        <p:nvSpPr>
          <p:cNvPr id="12" name="Text 10"/>
          <p:cNvSpPr txBox="1"/>
          <p:nvPr/>
        </p:nvSpPr>
        <p:spPr>
          <a:xfrm>
            <a:off x="1920240" y="4709160"/>
            <a:ext cx="9692640" cy="640080"/>
          </a:xfrm>
          <a:prstGeom prst="rect">
            <a:avLst/>
          </a:prstGeom>
          <a:noFill/>
          <a:ln/>
        </p:spPr>
        <p:txBody>
          <a:bodyPr wrap="square" lIns="0" tIns="0" rIns="0" bIns="0" rtlCol="0" anchor="ctr"/>
          <a:lstStyle/>
          <a:p>
            <a:pPr indent="0" marL="0">
              <a:buNone/>
            </a:pPr>
            <a:r>
              <a:rPr lang="fr-FR" altLang="en-US" sz="3200" b="1" dirty="0">
                <a:solidFill>
                  <a:srgbClr val="1B2233"/>
                </a:solidFill>
                <a:latin typeface="Calibri" pitchFamily="34" charset="0"/>
                <a:ea typeface="Calibri" pitchFamily="34" charset="-122"/>
                <a:cs typeface="Calibri" pitchFamily="34" charset="-120"/>
              </a:rPr>
              <a:t>Courte et ciblée</a:t>
            </a:r>
            <a:endParaRPr lang="fr-FR" sz="3200" dirty="0"/>
          </a:p>
        </p:txBody>
      </p:sp>
      <p:sp>
        <p:nvSpPr>
          <p:cNvPr id="13" name="Text 11"/>
          <p:cNvSpPr txBox="1"/>
          <p:nvPr/>
        </p:nvSpPr>
        <p:spPr>
          <a:xfrm>
            <a:off x="1920240" y="5349240"/>
            <a:ext cx="9692640" cy="457200"/>
          </a:xfrm>
          <a:prstGeom prst="rect">
            <a:avLst/>
          </a:prstGeom>
          <a:noFill/>
          <a:ln/>
        </p:spPr>
        <p:txBody>
          <a:bodyPr wrap="square" lIns="0" tIns="0" rIns="0" bIns="0" rtlCol="0" anchor="ctr"/>
          <a:lstStyle/>
          <a:p>
            <a:pPr indent="0" marL="0">
              <a:buNone/>
            </a:pPr>
            <a:r>
              <a:rPr lang="fr-FR" altLang="en-US" sz="2000" i="1" dirty="0">
                <a:solidFill>
                  <a:srgbClr val="566070"/>
                </a:solidFill>
                <a:latin typeface="Calibri" pitchFamily="34" charset="0"/>
                <a:ea typeface="Calibri" pitchFamily="34" charset="-122"/>
                <a:cs typeface="Calibri" pitchFamily="34" charset="-120"/>
              </a:rPr>
              <a:t>Une skill = une tâche</a:t>
            </a:r>
            <a:endParaRPr lang="fr-FR" sz="2000" dirty="0"/>
          </a:p>
        </p:txBody>
      </p:sp>
      <p:sp>
        <p:nvSpPr>
          <p:cNvPr id="14" name="Text 12"/>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5 · Créer</a:t>
            </a:r>
            <a:endParaRPr lang="fr-FR" sz="1400" dirty="0"/>
          </a:p>
        </p:txBody>
      </p:sp>
      <p:sp>
        <p:nvSpPr>
          <p:cNvPr id="15" name="Text 13"/>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27</a:t>
            </a:r>
            <a:endParaRPr lang="fr-FR"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Cas d'usage : votre charte dans une skill</a:t>
            </a:r>
            <a:endParaRPr lang="fr-FR" sz="4000" dirty="0"/>
          </a:p>
        </p:txBody>
      </p:sp>
      <p:sp>
        <p:nvSpPr>
          <p:cNvPr id="3" name="Text 1"/>
          <p:cNvSpPr txBox="1"/>
          <p:nvPr/>
        </p:nvSpPr>
        <p:spPr>
          <a:xfrm>
            <a:off x="731520" y="1783080"/>
            <a:ext cx="3474720" cy="411480"/>
          </a:xfrm>
          <a:prstGeom prst="rect">
            <a:avLst/>
          </a:prstGeom>
          <a:noFill/>
          <a:ln/>
        </p:spPr>
        <p:txBody>
          <a:bodyPr wrap="square" lIns="0" tIns="0" rIns="0" bIns="0" rtlCol="0" anchor="t"/>
          <a:lstStyle/>
          <a:p>
            <a:pPr indent="0" marL="0">
              <a:buNone/>
            </a:pPr>
            <a:r>
              <a:rPr lang="fr-FR" altLang="en-US" sz="1800" b="1" dirty="0">
                <a:solidFill>
                  <a:srgbClr val="566070"/>
                </a:solidFill>
                <a:latin typeface="Calibri" pitchFamily="34" charset="0"/>
                <a:ea typeface="Calibri" pitchFamily="34" charset="-122"/>
                <a:cs typeface="Calibri" pitchFamily="34" charset="-120"/>
              </a:rPr>
              <a:t>Vous donnez</a:t>
            </a:r>
            <a:endParaRPr lang="fr-FR" sz="1800" dirty="0"/>
          </a:p>
        </p:txBody>
      </p:sp>
      <p:sp>
        <p:nvSpPr>
          <p:cNvPr id="4" name="Shape 2"/>
          <p:cNvSpPr/>
          <p:nvPr/>
        </p:nvSpPr>
        <p:spPr>
          <a:xfrm>
            <a:off x="731520" y="2240280"/>
            <a:ext cx="3474720" cy="2834640"/>
          </a:xfrm>
          <a:prstGeom prst="roundRect">
            <a:avLst>
              <a:gd name="adj" fmla="val 4839"/>
            </a:avLst>
          </a:prstGeom>
          <a:solidFill>
            <a:srgbClr val="F1F3F6"/>
          </a:solidFill>
          <a:ln/>
        </p:spPr>
      </p:sp>
      <p:sp>
        <p:nvSpPr>
          <p:cNvPr id="5" name="Shape 3"/>
          <p:cNvSpPr/>
          <p:nvPr/>
        </p:nvSpPr>
        <p:spPr>
          <a:xfrm>
            <a:off x="960120" y="2468880"/>
            <a:ext cx="502920" cy="502920"/>
          </a:xfrm>
          <a:prstGeom prst="ellipse">
            <a:avLst/>
          </a:prstGeom>
          <a:solidFill>
            <a:srgbClr val="141413"/>
          </a:solidFill>
          <a:ln w="12700">
            <a:solidFill>
              <a:srgbClr val="D5D9E0"/>
            </a:solidFill>
            <a:prstDash val="solid"/>
          </a:ln>
        </p:spPr>
      </p:sp>
      <p:sp>
        <p:nvSpPr>
          <p:cNvPr id="6" name="Shape 4"/>
          <p:cNvSpPr/>
          <p:nvPr/>
        </p:nvSpPr>
        <p:spPr>
          <a:xfrm>
            <a:off x="1581912" y="2468880"/>
            <a:ext cx="502920" cy="502920"/>
          </a:xfrm>
          <a:prstGeom prst="ellipse">
            <a:avLst/>
          </a:prstGeom>
          <a:solidFill>
            <a:srgbClr val="FAF9F5"/>
          </a:solidFill>
          <a:ln w="12700">
            <a:solidFill>
              <a:srgbClr val="D5D9E0"/>
            </a:solidFill>
            <a:prstDash val="solid"/>
          </a:ln>
        </p:spPr>
      </p:sp>
      <p:sp>
        <p:nvSpPr>
          <p:cNvPr id="7" name="Shape 5"/>
          <p:cNvSpPr/>
          <p:nvPr/>
        </p:nvSpPr>
        <p:spPr>
          <a:xfrm>
            <a:off x="2203704" y="2468880"/>
            <a:ext cx="502920" cy="502920"/>
          </a:xfrm>
          <a:prstGeom prst="ellipse">
            <a:avLst/>
          </a:prstGeom>
          <a:solidFill>
            <a:srgbClr val="D97757"/>
          </a:solidFill>
          <a:ln w="12700">
            <a:solidFill>
              <a:srgbClr val="D5D9E0"/>
            </a:solidFill>
            <a:prstDash val="solid"/>
          </a:ln>
        </p:spPr>
      </p:sp>
      <p:sp>
        <p:nvSpPr>
          <p:cNvPr id="8" name="Shape 6"/>
          <p:cNvSpPr/>
          <p:nvPr/>
        </p:nvSpPr>
        <p:spPr>
          <a:xfrm>
            <a:off x="2825496" y="2468880"/>
            <a:ext cx="502920" cy="502920"/>
          </a:xfrm>
          <a:prstGeom prst="ellipse">
            <a:avLst/>
          </a:prstGeom>
          <a:solidFill>
            <a:srgbClr val="6A9BCC"/>
          </a:solidFill>
          <a:ln w="12700">
            <a:solidFill>
              <a:srgbClr val="D5D9E0"/>
            </a:solidFill>
            <a:prstDash val="solid"/>
          </a:ln>
        </p:spPr>
      </p:sp>
      <p:sp>
        <p:nvSpPr>
          <p:cNvPr id="9" name="Shape 7"/>
          <p:cNvSpPr/>
          <p:nvPr/>
        </p:nvSpPr>
        <p:spPr>
          <a:xfrm>
            <a:off x="3447288" y="2468880"/>
            <a:ext cx="502920" cy="502920"/>
          </a:xfrm>
          <a:prstGeom prst="ellipse">
            <a:avLst/>
          </a:prstGeom>
          <a:solidFill>
            <a:srgbClr val="788C5D"/>
          </a:solidFill>
          <a:ln w="12700">
            <a:solidFill>
              <a:srgbClr val="D5D9E0"/>
            </a:solidFill>
            <a:prstDash val="solid"/>
          </a:ln>
        </p:spPr>
      </p:sp>
      <p:sp>
        <p:nvSpPr>
          <p:cNvPr id="10" name="Text 8"/>
          <p:cNvSpPr txBox="1"/>
          <p:nvPr/>
        </p:nvSpPr>
        <p:spPr>
          <a:xfrm>
            <a:off x="960120" y="3200400"/>
            <a:ext cx="3108960" cy="411480"/>
          </a:xfrm>
          <a:prstGeom prst="rect">
            <a:avLst/>
          </a:prstGeom>
          <a:noFill/>
          <a:ln/>
        </p:spPr>
        <p:txBody>
          <a:bodyPr wrap="square" lIns="0" tIns="0" rIns="0" bIns="0" rtlCol="0" anchor="t"/>
          <a:lstStyle/>
          <a:p>
            <a:pPr indent="0" marL="0">
              <a:buNone/>
            </a:pPr>
            <a:r>
              <a:rPr lang="fr-FR" altLang="en-US" sz="1800" b="1" dirty="0">
                <a:solidFill>
                  <a:srgbClr val="1B2233"/>
                </a:solidFill>
                <a:latin typeface="Calibri" pitchFamily="34" charset="0"/>
                <a:ea typeface="Calibri" pitchFamily="34" charset="-122"/>
                <a:cs typeface="Calibri" pitchFamily="34" charset="-120"/>
              </a:rPr>
              <a:t>Poppins</a:t>
            </a:r>
            <a:pPr indent="0" marL="0">
              <a:buNone/>
            </a:pPr>
            <a:r>
              <a:rPr lang="fr-FR" altLang="en-US" sz="1800" dirty="0">
                <a:solidFill>
                  <a:srgbClr val="566070"/>
                </a:solidFill>
                <a:latin typeface="Calibri" pitchFamily="34" charset="0"/>
                <a:ea typeface="Calibri" pitchFamily="34" charset="-122"/>
                <a:cs typeface="Calibri" pitchFamily="34" charset="-120"/>
              </a:rPr>
              <a:t> titres</a:t>
            </a:r>
            <a:endParaRPr lang="fr-FR" sz="1800" dirty="0"/>
          </a:p>
        </p:txBody>
      </p:sp>
      <p:sp>
        <p:nvSpPr>
          <p:cNvPr id="11" name="Text 9"/>
          <p:cNvSpPr txBox="1"/>
          <p:nvPr/>
        </p:nvSpPr>
        <p:spPr>
          <a:xfrm>
            <a:off x="960120" y="3611880"/>
            <a:ext cx="3108960" cy="411480"/>
          </a:xfrm>
          <a:prstGeom prst="rect">
            <a:avLst/>
          </a:prstGeom>
          <a:noFill/>
          <a:ln/>
        </p:spPr>
        <p:txBody>
          <a:bodyPr wrap="square" lIns="0" tIns="0" rIns="0" bIns="0" rtlCol="0" anchor="t"/>
          <a:lstStyle/>
          <a:p>
            <a:pPr indent="0" marL="0">
              <a:buNone/>
            </a:pPr>
            <a:r>
              <a:rPr lang="fr-FR" altLang="en-US" sz="1800" b="1" dirty="0">
                <a:solidFill>
                  <a:srgbClr val="1B2233"/>
                </a:solidFill>
                <a:latin typeface="Calibri" pitchFamily="34" charset="0"/>
                <a:ea typeface="Calibri" pitchFamily="34" charset="-122"/>
                <a:cs typeface="Calibri" pitchFamily="34" charset="-120"/>
              </a:rPr>
              <a:t>Lora</a:t>
            </a:r>
            <a:pPr indent="0" marL="0">
              <a:buNone/>
            </a:pPr>
            <a:r>
              <a:rPr lang="fr-FR" altLang="en-US" sz="1800" dirty="0">
                <a:solidFill>
                  <a:srgbClr val="566070"/>
                </a:solidFill>
                <a:latin typeface="Calibri" pitchFamily="34" charset="0"/>
                <a:ea typeface="Calibri" pitchFamily="34" charset="-122"/>
                <a:cs typeface="Calibri" pitchFamily="34" charset="-120"/>
              </a:rPr>
              <a:t> texte</a:t>
            </a:r>
            <a:endParaRPr lang="fr-FR" sz="1800" dirty="0"/>
          </a:p>
        </p:txBody>
      </p:sp>
      <p:sp>
        <p:nvSpPr>
          <p:cNvPr id="12" name="Text 10"/>
          <p:cNvSpPr txBox="1"/>
          <p:nvPr/>
        </p:nvSpPr>
        <p:spPr>
          <a:xfrm>
            <a:off x="960120" y="4160520"/>
            <a:ext cx="3108960" cy="548640"/>
          </a:xfrm>
          <a:prstGeom prst="rect">
            <a:avLst/>
          </a:prstGeom>
          <a:noFill/>
          <a:ln/>
        </p:spPr>
        <p:txBody>
          <a:bodyPr wrap="square" lIns="0" tIns="0" rIns="0" bIns="0" rtlCol="0" anchor="t"/>
          <a:lstStyle/>
          <a:p>
            <a:pPr indent="0" marL="0">
              <a:buNone/>
            </a:pPr>
            <a:r>
              <a:rPr lang="fr-FR" altLang="en-US" sz="1800" b="1" dirty="0">
                <a:solidFill>
                  <a:srgbClr val="1B2233"/>
                </a:solidFill>
                <a:latin typeface="Calibri" pitchFamily="34" charset="0"/>
                <a:ea typeface="Calibri" pitchFamily="34" charset="-122"/>
                <a:cs typeface="Calibri" pitchFamily="34" charset="-120"/>
              </a:rPr>
              <a:t>+ règles d'application</a:t>
            </a:r>
            <a:endParaRPr lang="fr-FR" sz="1800" dirty="0"/>
          </a:p>
        </p:txBody>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4389120" y="3383280"/>
            <a:ext cx="502920" cy="502920"/>
          </a:xfrm>
          <a:prstGeom prst="rect">
            <a:avLst/>
          </a:prstGeom>
        </p:spPr>
      </p:pic>
      <p:sp>
        <p:nvSpPr>
          <p:cNvPr id="14" name="Text 11"/>
          <p:cNvSpPr txBox="1"/>
          <p:nvPr/>
        </p:nvSpPr>
        <p:spPr>
          <a:xfrm>
            <a:off x="5074920" y="1783080"/>
            <a:ext cx="3566160" cy="411480"/>
          </a:xfrm>
          <a:prstGeom prst="rect">
            <a:avLst/>
          </a:prstGeom>
          <a:noFill/>
          <a:ln/>
        </p:spPr>
        <p:txBody>
          <a:bodyPr wrap="square" lIns="0" tIns="0" rIns="0" bIns="0" rtlCol="0" anchor="t"/>
          <a:lstStyle/>
          <a:p>
            <a:pPr indent="0" marL="0">
              <a:buNone/>
            </a:pPr>
            <a:r>
              <a:rPr lang="fr-FR" altLang="en-US" sz="1800" b="1" dirty="0">
                <a:solidFill>
                  <a:srgbClr val="566070"/>
                </a:solidFill>
                <a:latin typeface="Calibri" pitchFamily="34" charset="0"/>
                <a:ea typeface="Calibri" pitchFamily="34" charset="-122"/>
                <a:cs typeface="Calibri" pitchFamily="34" charset="-120"/>
              </a:rPr>
              <a:t>Claude crée</a:t>
            </a:r>
            <a:endParaRPr lang="fr-FR" sz="1800" dirty="0"/>
          </a:p>
        </p:txBody>
      </p:sp>
      <p:sp>
        <p:nvSpPr>
          <p:cNvPr id="15" name="Shape 12"/>
          <p:cNvSpPr/>
          <p:nvPr/>
        </p:nvSpPr>
        <p:spPr>
          <a:xfrm>
            <a:off x="5074920" y="2240280"/>
            <a:ext cx="3794760" cy="566928"/>
          </a:xfrm>
          <a:prstGeom prst="roundRect">
            <a:avLst>
              <a:gd name="adj" fmla="val 24194"/>
            </a:avLst>
          </a:prstGeom>
          <a:solidFill>
            <a:srgbClr val="FBE7EF"/>
          </a:solidFill>
          <a:ln/>
        </p:spPr>
      </p:sp>
      <p:pic>
        <p:nvPicPr>
          <p:cNvPr id="16"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57800" y="2386584"/>
            <a:ext cx="274320" cy="274320"/>
          </a:xfrm>
          <a:prstGeom prst="rect">
            <a:avLst/>
          </a:prstGeom>
        </p:spPr>
      </p:pic>
      <p:sp>
        <p:nvSpPr>
          <p:cNvPr id="17" name="Text 13"/>
          <p:cNvSpPr txBox="1"/>
          <p:nvPr/>
        </p:nvSpPr>
        <p:spPr>
          <a:xfrm>
            <a:off x="5623560" y="2240280"/>
            <a:ext cx="3200400" cy="566928"/>
          </a:xfrm>
          <a:prstGeom prst="rect">
            <a:avLst/>
          </a:prstGeom>
          <a:noFill/>
          <a:ln/>
        </p:spPr>
        <p:txBody>
          <a:bodyPr wrap="square" lIns="0" tIns="0" rIns="0" bIns="0" rtlCol="0" anchor="ctr"/>
          <a:lstStyle/>
          <a:p>
            <a:pPr indent="0" marL="0">
              <a:buNone/>
            </a:pPr>
            <a:r>
              <a:rPr lang="fr-FR" altLang="en-US" sz="1600" b="1" dirty="0">
                <a:solidFill>
                  <a:srgbClr val="1B2233"/>
                </a:solidFill>
                <a:latin typeface="Courier New" pitchFamily="34" charset="0"/>
                <a:ea typeface="Courier New" pitchFamily="34" charset="-122"/>
                <a:cs typeface="Courier New" pitchFamily="34" charset="-120"/>
              </a:rPr>
              <a:t>SKILL.md</a:t>
            </a:r>
            <a:endParaRPr lang="fr-FR" sz="1600" dirty="0"/>
          </a:p>
        </p:txBody>
      </p:sp>
      <p:sp>
        <p:nvSpPr>
          <p:cNvPr id="18" name="Shape 14"/>
          <p:cNvSpPr/>
          <p:nvPr/>
        </p:nvSpPr>
        <p:spPr>
          <a:xfrm>
            <a:off x="5074920" y="2953512"/>
            <a:ext cx="3794760" cy="566928"/>
          </a:xfrm>
          <a:prstGeom prst="roundRect">
            <a:avLst>
              <a:gd name="adj" fmla="val 24194"/>
            </a:avLst>
          </a:prstGeom>
          <a:solidFill>
            <a:srgbClr val="F1F3F6"/>
          </a:solidFill>
          <a:ln/>
        </p:spPr>
      </p:sp>
      <p:pic>
        <p:nvPicPr>
          <p:cNvPr id="1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257800" y="3099816"/>
            <a:ext cx="274320" cy="274320"/>
          </a:xfrm>
          <a:prstGeom prst="rect">
            <a:avLst/>
          </a:prstGeom>
        </p:spPr>
      </p:pic>
      <p:sp>
        <p:nvSpPr>
          <p:cNvPr id="20" name="Text 15"/>
          <p:cNvSpPr txBox="1"/>
          <p:nvPr/>
        </p:nvSpPr>
        <p:spPr>
          <a:xfrm>
            <a:off x="5623560" y="2953512"/>
            <a:ext cx="3200400" cy="566928"/>
          </a:xfrm>
          <a:prstGeom prst="rect">
            <a:avLst/>
          </a:prstGeom>
          <a:noFill/>
          <a:ln/>
        </p:spPr>
        <p:txBody>
          <a:bodyPr wrap="square" lIns="0" tIns="0" rIns="0" bIns="0" rtlCol="0" anchor="ctr"/>
          <a:lstStyle/>
          <a:p>
            <a:pPr indent="0" marL="0">
              <a:buNone/>
            </a:pPr>
            <a:r>
              <a:rPr lang="fr-FR" altLang="en-US" sz="1600" dirty="0">
                <a:solidFill>
                  <a:srgbClr val="1B2233"/>
                </a:solidFill>
                <a:latin typeface="Courier New" pitchFamily="34" charset="0"/>
                <a:ea typeface="Courier New" pitchFamily="34" charset="-122"/>
                <a:cs typeface="Courier New" pitchFamily="34" charset="-120"/>
              </a:rPr>
              <a:t>color-typography-specs.md</a:t>
            </a:r>
            <a:endParaRPr lang="fr-FR" sz="1600" dirty="0"/>
          </a:p>
        </p:txBody>
      </p:sp>
      <p:sp>
        <p:nvSpPr>
          <p:cNvPr id="21" name="Shape 16"/>
          <p:cNvSpPr/>
          <p:nvPr/>
        </p:nvSpPr>
        <p:spPr>
          <a:xfrm>
            <a:off x="5074920" y="3666744"/>
            <a:ext cx="3794760" cy="566928"/>
          </a:xfrm>
          <a:prstGeom prst="roundRect">
            <a:avLst>
              <a:gd name="adj" fmla="val 24194"/>
            </a:avLst>
          </a:prstGeom>
          <a:solidFill>
            <a:srgbClr val="F1F3F6"/>
          </a:solidFill>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57800" y="3813048"/>
            <a:ext cx="274320" cy="274320"/>
          </a:xfrm>
          <a:prstGeom prst="rect">
            <a:avLst/>
          </a:prstGeom>
        </p:spPr>
      </p:pic>
      <p:sp>
        <p:nvSpPr>
          <p:cNvPr id="23" name="Text 17"/>
          <p:cNvSpPr txBox="1"/>
          <p:nvPr/>
        </p:nvSpPr>
        <p:spPr>
          <a:xfrm>
            <a:off x="5623560" y="3666744"/>
            <a:ext cx="3200400" cy="566928"/>
          </a:xfrm>
          <a:prstGeom prst="rect">
            <a:avLst/>
          </a:prstGeom>
          <a:noFill/>
          <a:ln/>
        </p:spPr>
        <p:txBody>
          <a:bodyPr wrap="square" lIns="0" tIns="0" rIns="0" bIns="0" rtlCol="0" anchor="ctr"/>
          <a:lstStyle/>
          <a:p>
            <a:pPr indent="0" marL="0">
              <a:buNone/>
            </a:pPr>
            <a:r>
              <a:rPr lang="fr-FR" altLang="en-US" sz="1600" dirty="0">
                <a:solidFill>
                  <a:srgbClr val="1B2233"/>
                </a:solidFill>
                <a:latin typeface="Courier New" pitchFamily="34" charset="0"/>
                <a:ea typeface="Courier New" pitchFamily="34" charset="-122"/>
                <a:cs typeface="Courier New" pitchFamily="34" charset="-120"/>
              </a:rPr>
              <a:t>usage-examples.md</a:t>
            </a:r>
            <a:endParaRPr lang="fr-FR" sz="1600" dirty="0"/>
          </a:p>
        </p:txBody>
      </p:sp>
      <p:sp>
        <p:nvSpPr>
          <p:cNvPr id="24" name="Shape 18"/>
          <p:cNvSpPr/>
          <p:nvPr/>
        </p:nvSpPr>
        <p:spPr>
          <a:xfrm>
            <a:off x="5074920" y="4379976"/>
            <a:ext cx="3794760" cy="566928"/>
          </a:xfrm>
          <a:prstGeom prst="roundRect">
            <a:avLst>
              <a:gd name="adj" fmla="val 24194"/>
            </a:avLst>
          </a:prstGeom>
          <a:solidFill>
            <a:srgbClr val="F1F3F6"/>
          </a:solidFill>
          <a:ln/>
        </p:spPr>
      </p:sp>
      <p:pic>
        <p:nvPicPr>
          <p:cNvPr id="25"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257800" y="4526280"/>
            <a:ext cx="274320" cy="274320"/>
          </a:xfrm>
          <a:prstGeom prst="rect">
            <a:avLst/>
          </a:prstGeom>
        </p:spPr>
      </p:pic>
      <p:sp>
        <p:nvSpPr>
          <p:cNvPr id="26" name="Text 19"/>
          <p:cNvSpPr txBox="1"/>
          <p:nvPr/>
        </p:nvSpPr>
        <p:spPr>
          <a:xfrm>
            <a:off x="5623560" y="4379976"/>
            <a:ext cx="3200400" cy="566928"/>
          </a:xfrm>
          <a:prstGeom prst="rect">
            <a:avLst/>
          </a:prstGeom>
          <a:noFill/>
          <a:ln/>
        </p:spPr>
        <p:txBody>
          <a:bodyPr wrap="square" lIns="0" tIns="0" rIns="0" bIns="0" rtlCol="0" anchor="ctr"/>
          <a:lstStyle/>
          <a:p>
            <a:pPr indent="0" marL="0">
              <a:buNone/>
            </a:pPr>
            <a:r>
              <a:rPr lang="fr-FR" altLang="en-US" sz="1600" dirty="0">
                <a:solidFill>
                  <a:srgbClr val="1B2233"/>
                </a:solidFill>
                <a:latin typeface="Courier New" pitchFamily="34" charset="0"/>
                <a:ea typeface="Courier New" pitchFamily="34" charset="-122"/>
                <a:cs typeface="Courier New" pitchFamily="34" charset="-120"/>
              </a:rPr>
              <a:t>brand_utils.py</a:t>
            </a:r>
            <a:endParaRPr lang="fr-FR" sz="1600" dirty="0"/>
          </a:p>
        </p:txBody>
      </p:sp>
      <p:sp>
        <p:nvSpPr>
          <p:cNvPr id="27" name="Shape 20"/>
          <p:cNvSpPr/>
          <p:nvPr/>
        </p:nvSpPr>
        <p:spPr>
          <a:xfrm>
            <a:off x="9144000" y="1783080"/>
            <a:ext cx="2560320" cy="3291840"/>
          </a:xfrm>
          <a:prstGeom prst="roundRect">
            <a:avLst>
              <a:gd name="adj" fmla="val 5357"/>
            </a:avLst>
          </a:prstGeom>
          <a:solidFill>
            <a:srgbClr val="FFFFFF"/>
          </a:solidFill>
          <a:ln w="12700">
            <a:solidFill>
              <a:srgbClr val="D5D9E0"/>
            </a:solidFill>
            <a:prstDash val="solid"/>
          </a:ln>
        </p:spPr>
      </p:sp>
      <p:pic>
        <p:nvPicPr>
          <p:cNvPr id="28" name="Image 5" descr="QR code vers la ressource Claude Academy : empaqueter sa charte de marque dans une skill">    </p:cNvPr>
          <p:cNvPicPr>
            <a:picLocks noChangeAspect="1"/>
          </p:cNvPicPr>
          <p:nvPr/>
        </p:nvPicPr>
        <p:blipFill>
          <a:blip r:embed="rId6"/>
          <a:stretch>
            <a:fillRect/>
          </a:stretch>
        </p:blipFill>
        <p:spPr>
          <a:xfrm>
            <a:off x="9464040" y="1965960"/>
            <a:ext cx="1920240" cy="1920240"/>
          </a:xfrm>
          <a:prstGeom prst="rect">
            <a:avLst/>
          </a:prstGeom>
        </p:spPr>
      </p:pic>
      <p:sp>
        <p:nvSpPr>
          <p:cNvPr id="29" name="Text 21"/>
          <p:cNvSpPr txBox="1"/>
          <p:nvPr/>
        </p:nvSpPr>
        <p:spPr>
          <a:xfrm>
            <a:off x="9189720" y="3931920"/>
            <a:ext cx="2468880" cy="365760"/>
          </a:xfrm>
          <a:prstGeom prst="rect">
            <a:avLst/>
          </a:prstGeom>
          <a:noFill/>
          <a:ln/>
        </p:spPr>
        <p:txBody>
          <a:bodyPr wrap="square" lIns="0" tIns="0" rIns="0" bIns="0" rtlCol="0" anchor="t"/>
          <a:lstStyle/>
          <a:p>
            <a:pPr algn="ctr" indent="0" marL="0">
              <a:buNone/>
            </a:pPr>
            <a:r>
              <a:rPr lang="fr-FR" altLang="en-US" sz="1600" b="1" dirty="0">
                <a:solidFill>
                  <a:srgbClr val="1B2233"/>
                </a:solidFill>
                <a:latin typeface="Calibri" pitchFamily="34" charset="0"/>
                <a:ea typeface="Calibri" pitchFamily="34" charset="-122"/>
                <a:cs typeface="Calibri" pitchFamily="34" charset="-120"/>
              </a:rPr>
              <a:t>Claude Academy</a:t>
            </a:r>
            <a:endParaRPr lang="fr-FR" sz="1600" dirty="0"/>
          </a:p>
        </p:txBody>
      </p:sp>
      <p:sp>
        <p:nvSpPr>
          <p:cNvPr id="30" name="Text 22"/>
          <p:cNvSpPr txBox="1"/>
          <p:nvPr/>
        </p:nvSpPr>
        <p:spPr>
          <a:xfrm>
            <a:off x="9235440" y="4343400"/>
            <a:ext cx="2377440" cy="640080"/>
          </a:xfrm>
          <a:prstGeom prst="rect">
            <a:avLst/>
          </a:prstGeom>
          <a:noFill/>
          <a:ln/>
        </p:spPr>
        <p:txBody>
          <a:bodyPr wrap="square" lIns="0" tIns="0" rIns="0" bIns="0" rtlCol="0" anchor="t"/>
          <a:lstStyle/>
          <a:p>
            <a:pPr algn="ctr" indent="0" marL="0">
              <a:buNone/>
            </a:pPr>
            <a:r>
              <a:rPr lang="fr-FR" altLang="en-US" sz="1600" dirty="0">
                <a:solidFill>
                  <a:srgbClr val="566070"/>
                </a:solidFill>
                <a:latin typeface="Calibri" pitchFamily="34" charset="0"/>
                <a:ea typeface="Calibri" pitchFamily="34" charset="-122"/>
                <a:cs typeface="Calibri" pitchFamily="34" charset="-120"/>
              </a:rPr>
              <a:t>Charte de marque · 20 min</a:t>
            </a:r>
            <a:endParaRPr lang="fr-FR" sz="1600" dirty="0"/>
          </a:p>
        </p:txBody>
      </p:sp>
      <p:sp>
        <p:nvSpPr>
          <p:cNvPr id="31" name="Shape 23"/>
          <p:cNvSpPr/>
          <p:nvPr/>
        </p:nvSpPr>
        <p:spPr>
          <a:xfrm>
            <a:off x="731520" y="5440680"/>
            <a:ext cx="10927080" cy="685800"/>
          </a:xfrm>
          <a:prstGeom prst="roundRect">
            <a:avLst>
              <a:gd name="adj" fmla="val 49333"/>
            </a:avLst>
          </a:prstGeom>
          <a:solidFill>
            <a:srgbClr val="1B2233"/>
          </a:solidFill>
          <a:ln/>
        </p:spPr>
      </p:sp>
      <p:pic>
        <p:nvPicPr>
          <p:cNvPr id="32"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005840" y="5596128"/>
            <a:ext cx="365760" cy="365760"/>
          </a:xfrm>
          <a:prstGeom prst="rect">
            <a:avLst/>
          </a:prstGeom>
        </p:spPr>
      </p:pic>
      <p:sp>
        <p:nvSpPr>
          <p:cNvPr id="33" name="Text 24"/>
          <p:cNvSpPr txBox="1"/>
          <p:nvPr/>
        </p:nvSpPr>
        <p:spPr>
          <a:xfrm>
            <a:off x="1554480" y="5440680"/>
            <a:ext cx="9966960" cy="685800"/>
          </a:xfrm>
          <a:prstGeom prst="rect">
            <a:avLst/>
          </a:prstGeom>
          <a:noFill/>
          <a:ln/>
        </p:spPr>
        <p:txBody>
          <a:bodyPr wrap="square" lIns="0" tIns="0" rIns="0" bIns="0" rtlCol="0" anchor="ctr"/>
          <a:lstStyle/>
          <a:p>
            <a:pPr indent="0" marL="0">
              <a:buNone/>
            </a:pPr>
            <a:r>
              <a:rPr lang="fr-FR" altLang="en-US" sz="2000" b="1" dirty="0">
                <a:solidFill>
                  <a:srgbClr val="FFFFFF"/>
                </a:solidFill>
                <a:latin typeface="Calibri" pitchFamily="34" charset="0"/>
                <a:ea typeface="Calibri" pitchFamily="34" charset="-122"/>
                <a:cs typeface="Calibri" pitchFamily="34" charset="-120"/>
              </a:rPr>
              <a:t>Test : « Crée une présentation de bilan trimestriel »</a:t>
            </a:r>
            <a:endParaRPr lang="fr-FR" sz="2000" dirty="0"/>
          </a:p>
        </p:txBody>
      </p:sp>
      <p:sp>
        <p:nvSpPr>
          <p:cNvPr id="34" name="Text 25"/>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5 · Créer</a:t>
            </a:r>
            <a:endParaRPr lang="fr-FR" sz="1400" dirty="0"/>
          </a:p>
        </p:txBody>
      </p:sp>
      <p:sp>
        <p:nvSpPr>
          <p:cNvPr id="35" name="Text 26"/>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28</a:t>
            </a:r>
            <a:endParaRPr lang="fr-FR"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Même charte, trois portes</a:t>
            </a:r>
            <a:endParaRPr lang="fr-FR" sz="4000" dirty="0"/>
          </a:p>
        </p:txBody>
      </p:sp>
      <p:sp>
        <p:nvSpPr>
          <p:cNvPr id="3" name="Shape 1"/>
          <p:cNvSpPr/>
          <p:nvPr/>
        </p:nvSpPr>
        <p:spPr>
          <a:xfrm>
            <a:off x="731520" y="1874520"/>
            <a:ext cx="1051560" cy="1051560"/>
          </a:xfrm>
          <a:prstGeom prst="ellipse">
            <a:avLst/>
          </a:prstGeom>
          <a:solidFill>
            <a:srgbClr val="B8235A"/>
          </a:solidFill>
          <a:ln/>
        </p:spPr>
      </p:sp>
      <p:pic>
        <p:nvPicPr>
          <p:cNvPr id="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94410" y="2137410"/>
            <a:ext cx="525780" cy="525780"/>
          </a:xfrm>
          <a:prstGeom prst="rect">
            <a:avLst/>
          </a:prstGeom>
        </p:spPr>
      </p:pic>
      <p:sp>
        <p:nvSpPr>
          <p:cNvPr id="5" name="Text 2"/>
          <p:cNvSpPr txBox="1"/>
          <p:nvPr/>
        </p:nvSpPr>
        <p:spPr>
          <a:xfrm>
            <a:off x="1965960" y="1874520"/>
            <a:ext cx="2011680" cy="1051560"/>
          </a:xfrm>
          <a:prstGeom prst="rect">
            <a:avLst/>
          </a:prstGeom>
          <a:noFill/>
          <a:ln/>
        </p:spPr>
        <p:txBody>
          <a:bodyPr wrap="square" lIns="0" tIns="0" rIns="0" bIns="0" rtlCol="0" anchor="ctr"/>
          <a:lstStyle/>
          <a:p>
            <a:pPr indent="0" marL="0">
              <a:buNone/>
            </a:pPr>
            <a:r>
              <a:rPr lang="fr-FR" altLang="en-US" sz="2800" b="1" dirty="0">
                <a:solidFill>
                  <a:srgbClr val="B8235A"/>
                </a:solidFill>
                <a:latin typeface="Calibri" pitchFamily="34" charset="0"/>
                <a:ea typeface="Calibri" pitchFamily="34" charset="-122"/>
                <a:cs typeface="Calibri" pitchFamily="34" charset="-120"/>
              </a:rPr>
              <a:t>Chat</a:t>
            </a:r>
            <a:endParaRPr lang="fr-FR" sz="2800" dirty="0"/>
          </a:p>
        </p:txBody>
      </p:sp>
      <p:sp>
        <p:nvSpPr>
          <p:cNvPr id="6" name="Shape 3"/>
          <p:cNvSpPr/>
          <p:nvPr/>
        </p:nvSpPr>
        <p:spPr>
          <a:xfrm>
            <a:off x="4023360" y="1965960"/>
            <a:ext cx="3657600" cy="868680"/>
          </a:xfrm>
          <a:prstGeom prst="roundRect">
            <a:avLst>
              <a:gd name="adj" fmla="val 15789"/>
            </a:avLst>
          </a:prstGeom>
          <a:solidFill>
            <a:srgbClr val="F1F3F6"/>
          </a:solidFill>
          <a:ln/>
        </p:spPr>
      </p:sp>
      <p:sp>
        <p:nvSpPr>
          <p:cNvPr id="7" name="Text 4"/>
          <p:cNvSpPr txBox="1"/>
          <p:nvPr/>
        </p:nvSpPr>
        <p:spPr>
          <a:xfrm>
            <a:off x="4206240" y="1965960"/>
            <a:ext cx="3383280" cy="868680"/>
          </a:xfrm>
          <a:prstGeom prst="rect">
            <a:avLst/>
          </a:prstGeom>
          <a:noFill/>
          <a:ln/>
        </p:spPr>
        <p:txBody>
          <a:bodyPr wrap="square" lIns="0" tIns="0" rIns="0" bIns="0" rtlCol="0" anchor="ctr"/>
          <a:lstStyle/>
          <a:p>
            <a:pPr indent="0" marL="0">
              <a:buNone/>
            </a:pPr>
            <a:r>
              <a:rPr lang="fr-FR" altLang="en-US" sz="2000" dirty="0">
                <a:solidFill>
                  <a:srgbClr val="1B2233"/>
                </a:solidFill>
                <a:latin typeface="Calibri" pitchFamily="34" charset="0"/>
                <a:ea typeface="Calibri" pitchFamily="34" charset="-122"/>
                <a:cs typeface="Calibri" pitchFamily="34" charset="-120"/>
              </a:rPr>
              <a:t>Je colle couleurs et règles</a:t>
            </a:r>
            <a:endParaRPr lang="fr-FR" sz="2000" dirty="0"/>
          </a:p>
        </p:txBody>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863840" y="2176272"/>
            <a:ext cx="457200" cy="457200"/>
          </a:xfrm>
          <a:prstGeom prst="rect">
            <a:avLst/>
          </a:prstGeom>
        </p:spPr>
      </p:pic>
      <p:sp>
        <p:nvSpPr>
          <p:cNvPr id="9" name="Shape 5"/>
          <p:cNvSpPr/>
          <p:nvPr/>
        </p:nvSpPr>
        <p:spPr>
          <a:xfrm>
            <a:off x="8503920" y="1965960"/>
            <a:ext cx="3108960" cy="868680"/>
          </a:xfrm>
          <a:prstGeom prst="roundRect">
            <a:avLst>
              <a:gd name="adj" fmla="val 15789"/>
            </a:avLst>
          </a:prstGeom>
          <a:solidFill>
            <a:srgbClr val="E2F2EA"/>
          </a:solidFill>
          <a:ln/>
        </p:spPr>
      </p:sp>
      <p:sp>
        <p:nvSpPr>
          <p:cNvPr id="10" name="Text 6"/>
          <p:cNvSpPr txBox="1"/>
          <p:nvPr/>
        </p:nvSpPr>
        <p:spPr>
          <a:xfrm>
            <a:off x="8686800" y="1965960"/>
            <a:ext cx="2834640" cy="868680"/>
          </a:xfrm>
          <a:prstGeom prst="rect">
            <a:avLst/>
          </a:prstGeom>
          <a:noFill/>
          <a:ln/>
        </p:spPr>
        <p:txBody>
          <a:bodyPr wrap="square" lIns="0" tIns="0" rIns="0" bIns="0" rtlCol="0" anchor="ctr"/>
          <a:lstStyle/>
          <a:p>
            <a:pPr indent="0" marL="0">
              <a:buNone/>
            </a:pPr>
            <a:r>
              <a:rPr lang="fr-FR" altLang="en-US" sz="1900" b="1" dirty="0">
                <a:solidFill>
                  <a:srgbClr val="1F7A50"/>
                </a:solidFill>
                <a:latin typeface="Calibri" pitchFamily="34" charset="0"/>
                <a:ea typeface="Calibri" pitchFamily="34" charset="-122"/>
                <a:cs typeface="Calibri" pitchFamily="34" charset="-120"/>
              </a:rPr>
              <a:t>Skill enregistrée</a:t>
            </a:r>
            <a:endParaRPr lang="fr-FR" sz="1900" dirty="0"/>
          </a:p>
        </p:txBody>
      </p:sp>
      <p:sp>
        <p:nvSpPr>
          <p:cNvPr id="11" name="Shape 7"/>
          <p:cNvSpPr/>
          <p:nvPr/>
        </p:nvSpPr>
        <p:spPr>
          <a:xfrm>
            <a:off x="731520" y="3246120"/>
            <a:ext cx="1051560" cy="1051560"/>
          </a:xfrm>
          <a:prstGeom prst="ellipse">
            <a:avLst/>
          </a:prstGeom>
          <a:solidFill>
            <a:srgbClr val="2F5FC4"/>
          </a:solidFill>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94410" y="3509010"/>
            <a:ext cx="525780" cy="525780"/>
          </a:xfrm>
          <a:prstGeom prst="rect">
            <a:avLst/>
          </a:prstGeom>
        </p:spPr>
      </p:pic>
      <p:sp>
        <p:nvSpPr>
          <p:cNvPr id="13" name="Text 8"/>
          <p:cNvSpPr txBox="1"/>
          <p:nvPr/>
        </p:nvSpPr>
        <p:spPr>
          <a:xfrm>
            <a:off x="1965960" y="3246120"/>
            <a:ext cx="2011680" cy="1051560"/>
          </a:xfrm>
          <a:prstGeom prst="rect">
            <a:avLst/>
          </a:prstGeom>
          <a:noFill/>
          <a:ln/>
        </p:spPr>
        <p:txBody>
          <a:bodyPr wrap="square" lIns="0" tIns="0" rIns="0" bIns="0" rtlCol="0" anchor="ctr"/>
          <a:lstStyle/>
          <a:p>
            <a:pPr indent="0" marL="0">
              <a:buNone/>
            </a:pPr>
            <a:r>
              <a:rPr lang="fr-FR" altLang="en-US" sz="2800" b="1" dirty="0">
                <a:solidFill>
                  <a:srgbClr val="2F5FC4"/>
                </a:solidFill>
                <a:latin typeface="Calibri" pitchFamily="34" charset="0"/>
                <a:ea typeface="Calibri" pitchFamily="34" charset="-122"/>
                <a:cs typeface="Calibri" pitchFamily="34" charset="-120"/>
              </a:rPr>
              <a:t>Cowork</a:t>
            </a:r>
            <a:endParaRPr lang="fr-FR" sz="2800" dirty="0"/>
          </a:p>
        </p:txBody>
      </p:sp>
      <p:sp>
        <p:nvSpPr>
          <p:cNvPr id="14" name="Shape 9"/>
          <p:cNvSpPr/>
          <p:nvPr/>
        </p:nvSpPr>
        <p:spPr>
          <a:xfrm>
            <a:off x="4023360" y="3337560"/>
            <a:ext cx="3657600" cy="868680"/>
          </a:xfrm>
          <a:prstGeom prst="roundRect">
            <a:avLst>
              <a:gd name="adj" fmla="val 15789"/>
            </a:avLst>
          </a:prstGeom>
          <a:solidFill>
            <a:srgbClr val="F1F3F6"/>
          </a:solidFill>
          <a:ln/>
        </p:spPr>
      </p:sp>
      <p:sp>
        <p:nvSpPr>
          <p:cNvPr id="15" name="Text 10"/>
          <p:cNvSpPr txBox="1"/>
          <p:nvPr/>
        </p:nvSpPr>
        <p:spPr>
          <a:xfrm>
            <a:off x="4206240" y="3337560"/>
            <a:ext cx="3383280" cy="868680"/>
          </a:xfrm>
          <a:prstGeom prst="rect">
            <a:avLst/>
          </a:prstGeom>
          <a:noFill/>
          <a:ln/>
        </p:spPr>
        <p:txBody>
          <a:bodyPr wrap="square" lIns="0" tIns="0" rIns="0" bIns="0" rtlCol="0" anchor="ctr"/>
          <a:lstStyle/>
          <a:p>
            <a:pPr indent="0" marL="0">
              <a:buNone/>
            </a:pPr>
            <a:r>
              <a:rPr lang="fr-FR" altLang="en-US" sz="2000" dirty="0">
                <a:solidFill>
                  <a:srgbClr val="1B2233"/>
                </a:solidFill>
                <a:latin typeface="Calibri" pitchFamily="34" charset="0"/>
                <a:ea typeface="Calibri" pitchFamily="34" charset="-122"/>
                <a:cs typeface="Calibri" pitchFamily="34" charset="-120"/>
              </a:rPr>
              <a:t>Claude lit charte.pdf</a:t>
            </a:r>
            <a:endParaRPr lang="fr-FR" sz="2000" dirty="0"/>
          </a:p>
        </p:txBody>
      </p:sp>
      <p:pic>
        <p:nvPicPr>
          <p:cNvPr id="16"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863840" y="3547872"/>
            <a:ext cx="457200" cy="457200"/>
          </a:xfrm>
          <a:prstGeom prst="rect">
            <a:avLst/>
          </a:prstGeom>
        </p:spPr>
      </p:pic>
      <p:sp>
        <p:nvSpPr>
          <p:cNvPr id="17" name="Shape 11"/>
          <p:cNvSpPr/>
          <p:nvPr/>
        </p:nvSpPr>
        <p:spPr>
          <a:xfrm>
            <a:off x="8503920" y="3337560"/>
            <a:ext cx="3108960" cy="868680"/>
          </a:xfrm>
          <a:prstGeom prst="roundRect">
            <a:avLst>
              <a:gd name="adj" fmla="val 15789"/>
            </a:avLst>
          </a:prstGeom>
          <a:solidFill>
            <a:srgbClr val="E2F2EA"/>
          </a:solidFill>
          <a:ln/>
        </p:spPr>
      </p:sp>
      <p:sp>
        <p:nvSpPr>
          <p:cNvPr id="18" name="Text 12"/>
          <p:cNvSpPr txBox="1"/>
          <p:nvPr/>
        </p:nvSpPr>
        <p:spPr>
          <a:xfrm>
            <a:off x="8686800" y="3337560"/>
            <a:ext cx="2834640" cy="868680"/>
          </a:xfrm>
          <a:prstGeom prst="rect">
            <a:avLst/>
          </a:prstGeom>
          <a:noFill/>
          <a:ln/>
        </p:spPr>
        <p:txBody>
          <a:bodyPr wrap="square" lIns="0" tIns="0" rIns="0" bIns="0" rtlCol="0" anchor="ctr"/>
          <a:lstStyle/>
          <a:p>
            <a:pPr indent="0" marL="0">
              <a:buNone/>
            </a:pPr>
            <a:r>
              <a:rPr lang="fr-FR" altLang="en-US" sz="1900" b="1" dirty="0">
                <a:solidFill>
                  <a:srgbClr val="1F7A50"/>
                </a:solidFill>
                <a:latin typeface="Calibri" pitchFamily="34" charset="0"/>
                <a:ea typeface="Calibri" pitchFamily="34" charset="-122"/>
                <a:cs typeface="Calibri" pitchFamily="34" charset="-120"/>
              </a:rPr>
              <a:t>Skill + exemple produit</a:t>
            </a:r>
            <a:endParaRPr lang="fr-FR" sz="1900" dirty="0"/>
          </a:p>
        </p:txBody>
      </p:sp>
      <p:sp>
        <p:nvSpPr>
          <p:cNvPr id="19" name="Shape 13"/>
          <p:cNvSpPr/>
          <p:nvPr/>
        </p:nvSpPr>
        <p:spPr>
          <a:xfrm>
            <a:off x="731520" y="4617720"/>
            <a:ext cx="1051560" cy="1051560"/>
          </a:xfrm>
          <a:prstGeom prst="ellipse">
            <a:avLst/>
          </a:prstGeom>
          <a:solidFill>
            <a:srgbClr val="1B2233"/>
          </a:solidFill>
          <a:ln/>
        </p:spPr>
      </p:sp>
      <p:pic>
        <p:nvPicPr>
          <p:cNvPr id="20"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94410" y="4880610"/>
            <a:ext cx="525780" cy="525780"/>
          </a:xfrm>
          <a:prstGeom prst="rect">
            <a:avLst/>
          </a:prstGeom>
        </p:spPr>
      </p:pic>
      <p:sp>
        <p:nvSpPr>
          <p:cNvPr id="21" name="Text 14"/>
          <p:cNvSpPr txBox="1"/>
          <p:nvPr/>
        </p:nvSpPr>
        <p:spPr>
          <a:xfrm>
            <a:off x="1965960" y="4617720"/>
            <a:ext cx="2011680" cy="1051560"/>
          </a:xfrm>
          <a:prstGeom prst="rect">
            <a:avLst/>
          </a:prstGeom>
          <a:noFill/>
          <a:ln/>
        </p:spPr>
        <p:txBody>
          <a:bodyPr wrap="square" lIns="0" tIns="0" rIns="0" bIns="0" rtlCol="0" anchor="ctr"/>
          <a:lstStyle/>
          <a:p>
            <a:pPr indent="0" marL="0">
              <a:buNone/>
            </a:pPr>
            <a:r>
              <a:rPr lang="fr-FR" altLang="en-US" sz="2800" b="1" dirty="0">
                <a:solidFill>
                  <a:srgbClr val="1B2233"/>
                </a:solidFill>
                <a:latin typeface="Calibri" pitchFamily="34" charset="0"/>
                <a:ea typeface="Calibri" pitchFamily="34" charset="-122"/>
                <a:cs typeface="Calibri" pitchFamily="34" charset="-120"/>
              </a:rPr>
              <a:t>Code</a:t>
            </a:r>
            <a:endParaRPr lang="fr-FR" sz="2800" dirty="0"/>
          </a:p>
        </p:txBody>
      </p:sp>
      <p:sp>
        <p:nvSpPr>
          <p:cNvPr id="22" name="Shape 15"/>
          <p:cNvSpPr/>
          <p:nvPr/>
        </p:nvSpPr>
        <p:spPr>
          <a:xfrm>
            <a:off x="4023360" y="4709160"/>
            <a:ext cx="3657600" cy="868680"/>
          </a:xfrm>
          <a:prstGeom prst="roundRect">
            <a:avLst>
              <a:gd name="adj" fmla="val 15789"/>
            </a:avLst>
          </a:prstGeom>
          <a:solidFill>
            <a:srgbClr val="F1F3F6"/>
          </a:solidFill>
          <a:ln/>
        </p:spPr>
      </p:sp>
      <p:sp>
        <p:nvSpPr>
          <p:cNvPr id="23" name="Text 16"/>
          <p:cNvSpPr txBox="1"/>
          <p:nvPr/>
        </p:nvSpPr>
        <p:spPr>
          <a:xfrm>
            <a:off x="4206240" y="4709160"/>
            <a:ext cx="3383280" cy="868680"/>
          </a:xfrm>
          <a:prstGeom prst="rect">
            <a:avLst/>
          </a:prstGeom>
          <a:noFill/>
          <a:ln/>
        </p:spPr>
        <p:txBody>
          <a:bodyPr wrap="square" lIns="0" tIns="0" rIns="0" bIns="0" rtlCol="0" anchor="ctr"/>
          <a:lstStyle/>
          <a:p>
            <a:pPr indent="0" marL="0">
              <a:buNone/>
            </a:pPr>
            <a:r>
              <a:rPr lang="fr-FR" altLang="en-US" sz="2000" dirty="0">
                <a:solidFill>
                  <a:srgbClr val="1B2233"/>
                </a:solidFill>
                <a:latin typeface="Calibri" pitchFamily="34" charset="0"/>
                <a:ea typeface="Calibri" pitchFamily="34" charset="-122"/>
                <a:cs typeface="Calibri" pitchFamily="34" charset="-120"/>
              </a:rPr>
              <a:t>Mode plan, je valide</a:t>
            </a:r>
            <a:endParaRPr lang="fr-FR" sz="2000" dirty="0"/>
          </a:p>
        </p:txBody>
      </p:sp>
      <p:pic>
        <p:nvPicPr>
          <p:cNvPr id="24"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863840" y="4919472"/>
            <a:ext cx="457200" cy="457200"/>
          </a:xfrm>
          <a:prstGeom prst="rect">
            <a:avLst/>
          </a:prstGeom>
        </p:spPr>
      </p:pic>
      <p:sp>
        <p:nvSpPr>
          <p:cNvPr id="25" name="Shape 17"/>
          <p:cNvSpPr/>
          <p:nvPr/>
        </p:nvSpPr>
        <p:spPr>
          <a:xfrm>
            <a:off x="8503920" y="4709160"/>
            <a:ext cx="3108960" cy="868680"/>
          </a:xfrm>
          <a:prstGeom prst="roundRect">
            <a:avLst>
              <a:gd name="adj" fmla="val 15789"/>
            </a:avLst>
          </a:prstGeom>
          <a:solidFill>
            <a:srgbClr val="E2F2EA"/>
          </a:solidFill>
          <a:ln/>
        </p:spPr>
      </p:sp>
      <p:sp>
        <p:nvSpPr>
          <p:cNvPr id="26" name="Text 18"/>
          <p:cNvSpPr txBox="1"/>
          <p:nvPr/>
        </p:nvSpPr>
        <p:spPr>
          <a:xfrm>
            <a:off x="8686800" y="4709160"/>
            <a:ext cx="2834640" cy="868680"/>
          </a:xfrm>
          <a:prstGeom prst="rect">
            <a:avLst/>
          </a:prstGeom>
          <a:noFill/>
          <a:ln/>
        </p:spPr>
        <p:txBody>
          <a:bodyPr wrap="square" lIns="0" tIns="0" rIns="0" bIns="0" rtlCol="0" anchor="ctr"/>
          <a:lstStyle/>
          <a:p>
            <a:pPr indent="0" marL="0">
              <a:buNone/>
            </a:pPr>
            <a:r>
              <a:rPr lang="fr-FR" altLang="en-US" sz="1900" b="1" dirty="0">
                <a:solidFill>
                  <a:srgbClr val="1F7A50"/>
                </a:solidFill>
                <a:latin typeface="Calibri" pitchFamily="34" charset="0"/>
                <a:ea typeface="Calibri" pitchFamily="34" charset="-122"/>
                <a:cs typeface="Calibri" pitchFamily="34" charset="-120"/>
              </a:rPr>
              <a:t>Fichiers écrits et testés</a:t>
            </a:r>
            <a:endParaRPr lang="fr-FR" sz="1900" dirty="0"/>
          </a:p>
        </p:txBody>
      </p:sp>
      <p:sp>
        <p:nvSpPr>
          <p:cNvPr id="27" name="Text 19"/>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5 · Créer</a:t>
            </a:r>
            <a:endParaRPr lang="fr-FR" sz="1400" dirty="0"/>
          </a:p>
        </p:txBody>
      </p:sp>
      <p:sp>
        <p:nvSpPr>
          <p:cNvPr id="28" name="Text 20"/>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29</a:t>
            </a:r>
            <a:endParaRPr lang="fr-FR"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B8235A"/>
        </a:solidFill>
      </p:bgPr>
    </p:bg>
    <p:spTree>
      <p:nvGrpSpPr>
        <p:cNvPr id="1" name=""/>
        <p:cNvGrpSpPr/>
        <p:nvPr/>
      </p:nvGrpSpPr>
      <p:grpSpPr>
        <a:xfrm>
          <a:off x="0" y="0"/>
          <a:ext cx="0" cy="0"/>
          <a:chOff x="0" y="0"/>
          <a:chExt cx="0" cy="0"/>
        </a:xfrm>
      </p:grpSpPr>
      <p:sp>
        <p:nvSpPr>
          <p:cNvPr id="4" name="Titre"/>
          <p:cNvSpPr>
            <a:spLocks noGrp="1"/>
          </p:cNvSpPr>
          <p:nvPr>
            <p:ph type="title"/>
          </p:nvPr>
        </p:nvSpPr>
        <p:spPr>
          <a:xfrm>
            <a:off x="4846320" y="2880360"/>
            <a:ext cx="6858000" cy="1097280"/>
          </a:xfrm>
          <a:prstGeom prst="rect">
            <a:avLst/>
          </a:prstGeom>
          <a:noFill/>
          <a:ln/>
        </p:spPr>
        <p:txBody>
          <a:bodyPr wrap="square" lIns="0" tIns="0" rIns="0" bIns="0" rtlCol="0" anchor="ctr"/>
          <a:lstStyle/>
          <a:p>
            <a:pPr algn="l" indent="0" marL="0">
              <a:buNone/>
            </a:pPr>
            <a:r>
              <a:rPr lang="fr-FR" altLang="en-US" sz="5400" b="1" dirty="0">
                <a:solidFill>
                  <a:srgbClr val="FFFFFF"/>
                </a:solidFill>
                <a:latin typeface="Calibri" pitchFamily="34" charset="0"/>
                <a:ea typeface="Calibri" pitchFamily="34" charset="-122"/>
                <a:cs typeface="Calibri" pitchFamily="34" charset="-120"/>
              </a:rPr>
              <a:t>Partager</a:t>
            </a:r>
            <a:endParaRPr lang="fr-FR" sz="5400" dirty="0"/>
          </a:p>
        </p:txBody>
      </p:sp>
      <p:sp>
        <p:nvSpPr>
          <p:cNvPr id="2" name="Text 0"/>
          <p:cNvSpPr txBox="1"/>
          <p:nvPr/>
        </p:nvSpPr>
        <p:spPr>
          <a:xfrm>
            <a:off x="548640" y="822960"/>
            <a:ext cx="3840480" cy="4754880"/>
          </a:xfrm>
          <a:prstGeom prst="rect">
            <a:avLst/>
          </a:prstGeom>
          <a:noFill/>
          <a:ln/>
        </p:spPr>
        <p:txBody>
          <a:bodyPr wrap="square" lIns="0" tIns="0" rIns="0" bIns="0" rtlCol="0" anchor="ctr"/>
          <a:lstStyle/>
          <a:p>
            <a:pPr algn="ctr" indent="0" marL="0">
              <a:buNone/>
            </a:pPr>
            <a:r>
              <a:rPr lang="fr-FR" altLang="en-US" sz="28000" b="1" dirty="0">
                <a:solidFill>
                  <a:srgbClr val="FFFFFF"/>
                </a:solidFill>
                <a:latin typeface="Calibri" pitchFamily="34" charset="0"/>
                <a:ea typeface="Calibri" pitchFamily="34" charset="-122"/>
                <a:cs typeface="Calibri" pitchFamily="34" charset="-120"/>
              </a:rPr>
              <a:t>6</a:t>
            </a:r>
            <a:endParaRPr lang="fr-FR" sz="28000" dirty="0"/>
          </a:p>
        </p:txBody>
      </p:sp>
      <p:pic>
        <p:nvPicPr>
          <p:cNvPr id="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4846320" y="2057400"/>
            <a:ext cx="731520" cy="731520"/>
          </a:xfrm>
          <a:prstGeom prst="rect">
            <a:avLst/>
          </a:prstGeom>
        </p:spPr>
      </p:pic>
      <p:sp>
        <p:nvSpPr>
          <p:cNvPr id="5" name="Text 2"/>
          <p:cNvSpPr txBox="1"/>
          <p:nvPr/>
        </p:nvSpPr>
        <p:spPr>
          <a:xfrm>
            <a:off x="4846320" y="3977640"/>
            <a:ext cx="6858000" cy="731520"/>
          </a:xfrm>
          <a:prstGeom prst="rect">
            <a:avLst/>
          </a:prstGeom>
          <a:noFill/>
          <a:ln/>
        </p:spPr>
        <p:txBody>
          <a:bodyPr wrap="square" lIns="0" tIns="0" rIns="0" bIns="0" rtlCol="0" anchor="t"/>
          <a:lstStyle/>
          <a:p>
            <a:pPr algn="l" indent="0" marL="0">
              <a:buNone/>
            </a:pPr>
            <a:r>
              <a:rPr lang="fr-FR" altLang="en-US" sz="2800" dirty="0">
                <a:solidFill>
                  <a:srgbClr val="FFFFFF"/>
                </a:solidFill>
                <a:latin typeface="Calibri" pitchFamily="34" charset="0"/>
                <a:ea typeface="Calibri" pitchFamily="34" charset="-122"/>
                <a:cs typeface="Calibri" pitchFamily="34" charset="-120"/>
              </a:rPr>
              <a:t>De moi à tout le monde</a:t>
            </a:r>
            <a:endParaRPr lang="fr-FR"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Partager : trois cercles</a:t>
            </a:r>
            <a:endParaRPr lang="fr-FR" sz="4000" dirty="0"/>
          </a:p>
        </p:txBody>
      </p:sp>
      <p:sp>
        <p:nvSpPr>
          <p:cNvPr id="3" name="Shape 1"/>
          <p:cNvSpPr/>
          <p:nvPr/>
        </p:nvSpPr>
        <p:spPr>
          <a:xfrm>
            <a:off x="1188720" y="1920240"/>
            <a:ext cx="4206240" cy="4206240"/>
          </a:xfrm>
          <a:prstGeom prst="ellipse">
            <a:avLst/>
          </a:prstGeom>
          <a:solidFill>
            <a:srgbClr val="E6EDFA"/>
          </a:solidFill>
          <a:ln w="38100">
            <a:solidFill>
              <a:srgbClr val="FFFFFF"/>
            </a:solidFill>
            <a:prstDash val="solid"/>
          </a:ln>
        </p:spPr>
      </p:sp>
      <p:sp>
        <p:nvSpPr>
          <p:cNvPr id="4" name="Shape 2"/>
          <p:cNvSpPr/>
          <p:nvPr/>
        </p:nvSpPr>
        <p:spPr>
          <a:xfrm>
            <a:off x="1874520" y="2606040"/>
            <a:ext cx="2834640" cy="2834640"/>
          </a:xfrm>
          <a:prstGeom prst="ellipse">
            <a:avLst/>
          </a:prstGeom>
          <a:solidFill>
            <a:srgbClr val="FBE7EF"/>
          </a:solidFill>
          <a:ln w="38100">
            <a:solidFill>
              <a:srgbClr val="FFFFFF"/>
            </a:solidFill>
            <a:prstDash val="solid"/>
          </a:ln>
        </p:spPr>
      </p:sp>
      <p:sp>
        <p:nvSpPr>
          <p:cNvPr id="5" name="Shape 3"/>
          <p:cNvSpPr/>
          <p:nvPr/>
        </p:nvSpPr>
        <p:spPr>
          <a:xfrm>
            <a:off x="2560320" y="3291840"/>
            <a:ext cx="1463040" cy="1463040"/>
          </a:xfrm>
          <a:prstGeom prst="ellipse">
            <a:avLst/>
          </a:prstGeom>
          <a:solidFill>
            <a:srgbClr val="B8235A"/>
          </a:solidFill>
          <a:ln w="38100">
            <a:solidFill>
              <a:srgbClr val="FFFFFF"/>
            </a:solidFill>
            <a:prstDash val="solid"/>
          </a:ln>
        </p:spPr>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971800" y="3703320"/>
            <a:ext cx="640080" cy="640080"/>
          </a:xfrm>
          <a:prstGeom prst="rect">
            <a:avLst/>
          </a:prstGeom>
        </p:spPr>
      </p:pic>
      <p:pic>
        <p:nvPicPr>
          <p:cNvPr id="7"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017520" y="2743200"/>
            <a:ext cx="548640" cy="457200"/>
          </a:xfrm>
          <a:prstGeom prst="rect">
            <a:avLst/>
          </a:prstGeom>
        </p:spPr>
      </p:pic>
      <p:pic>
        <p:nvPicPr>
          <p:cNvPr id="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035808" y="2057400"/>
            <a:ext cx="457200" cy="457200"/>
          </a:xfrm>
          <a:prstGeom prst="rect">
            <a:avLst/>
          </a:prstGeom>
        </p:spPr>
      </p:pic>
      <p:sp>
        <p:nvSpPr>
          <p:cNvPr id="9" name="Shape 4"/>
          <p:cNvSpPr/>
          <p:nvPr/>
        </p:nvSpPr>
        <p:spPr>
          <a:xfrm>
            <a:off x="6400800" y="2103120"/>
            <a:ext cx="822960" cy="822960"/>
          </a:xfrm>
          <a:prstGeom prst="ellipse">
            <a:avLst/>
          </a:prstGeom>
          <a:solidFill>
            <a:srgbClr val="B8235A"/>
          </a:solidFill>
          <a:ln/>
        </p:spPr>
      </p:sp>
      <p:pic>
        <p:nvPicPr>
          <p:cNvPr id="10"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06540" y="2308860"/>
            <a:ext cx="411480" cy="411480"/>
          </a:xfrm>
          <a:prstGeom prst="rect">
            <a:avLst/>
          </a:prstGeom>
        </p:spPr>
      </p:pic>
      <p:sp>
        <p:nvSpPr>
          <p:cNvPr id="11" name="Text 5"/>
          <p:cNvSpPr txBox="1"/>
          <p:nvPr/>
        </p:nvSpPr>
        <p:spPr>
          <a:xfrm>
            <a:off x="7452360" y="2057400"/>
            <a:ext cx="4297680" cy="457200"/>
          </a:xfrm>
          <a:prstGeom prst="rect">
            <a:avLst/>
          </a:prstGeom>
          <a:noFill/>
          <a:ln/>
        </p:spPr>
        <p:txBody>
          <a:bodyPr wrap="square" lIns="0" tIns="0" rIns="0" bIns="0" rtlCol="0" anchor="t"/>
          <a:lstStyle/>
          <a:p>
            <a:pPr indent="0" marL="0">
              <a:buNone/>
            </a:pPr>
            <a:r>
              <a:rPr lang="fr-FR" altLang="en-US" sz="2600" b="1" dirty="0">
                <a:solidFill>
                  <a:srgbClr val="1B2233"/>
                </a:solidFill>
                <a:latin typeface="Calibri" pitchFamily="34" charset="0"/>
                <a:ea typeface="Calibri" pitchFamily="34" charset="-122"/>
                <a:cs typeface="Calibri" pitchFamily="34" charset="-120"/>
              </a:rPr>
              <a:t>Moi</a:t>
            </a:r>
            <a:endParaRPr lang="fr-FR" sz="2600" dirty="0"/>
          </a:p>
        </p:txBody>
      </p:sp>
      <p:sp>
        <p:nvSpPr>
          <p:cNvPr id="12" name="Text 6"/>
          <p:cNvSpPr txBox="1"/>
          <p:nvPr/>
        </p:nvSpPr>
        <p:spPr>
          <a:xfrm>
            <a:off x="7452360" y="2514600"/>
            <a:ext cx="4297680" cy="457200"/>
          </a:xfrm>
          <a:prstGeom prst="rect">
            <a:avLst/>
          </a:prstGeom>
          <a:noFill/>
          <a:ln/>
        </p:spPr>
        <p:txBody>
          <a:bodyPr wrap="square" lIns="0" tIns="0" rIns="0" bIns="0" rtlCol="0" anchor="t"/>
          <a:lstStyle/>
          <a:p>
            <a:pPr indent="0" marL="0">
              <a:buNone/>
            </a:pPr>
            <a:r>
              <a:rPr lang="fr-FR" altLang="en-US" sz="1800" dirty="0">
                <a:solidFill>
                  <a:srgbClr val="566070"/>
                </a:solidFill>
                <a:latin typeface="Calibri" pitchFamily="34" charset="0"/>
                <a:ea typeface="Calibri" pitchFamily="34" charset="-122"/>
                <a:cs typeface="Calibri" pitchFamily="34" charset="-120"/>
              </a:rPr>
              <a:t>Envoyer le fichier de la skill</a:t>
            </a:r>
            <a:endParaRPr lang="fr-FR" sz="1800" dirty="0"/>
          </a:p>
        </p:txBody>
      </p:sp>
      <p:sp>
        <p:nvSpPr>
          <p:cNvPr id="13" name="Shape 7"/>
          <p:cNvSpPr/>
          <p:nvPr/>
        </p:nvSpPr>
        <p:spPr>
          <a:xfrm>
            <a:off x="6400800" y="3429000"/>
            <a:ext cx="822960" cy="822960"/>
          </a:xfrm>
          <a:prstGeom prst="ellipse">
            <a:avLst/>
          </a:prstGeom>
          <a:solidFill>
            <a:srgbClr val="D5608C"/>
          </a:solidFill>
          <a:ln/>
        </p:spPr>
      </p:sp>
      <p:pic>
        <p:nvPicPr>
          <p:cNvPr id="14"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06540" y="3634740"/>
            <a:ext cx="411480" cy="411480"/>
          </a:xfrm>
          <a:prstGeom prst="rect">
            <a:avLst/>
          </a:prstGeom>
        </p:spPr>
      </p:pic>
      <p:sp>
        <p:nvSpPr>
          <p:cNvPr id="15" name="Text 8"/>
          <p:cNvSpPr txBox="1"/>
          <p:nvPr/>
        </p:nvSpPr>
        <p:spPr>
          <a:xfrm>
            <a:off x="7452360" y="3383280"/>
            <a:ext cx="4297680" cy="457200"/>
          </a:xfrm>
          <a:prstGeom prst="rect">
            <a:avLst/>
          </a:prstGeom>
          <a:noFill/>
          <a:ln/>
        </p:spPr>
        <p:txBody>
          <a:bodyPr wrap="square" lIns="0" tIns="0" rIns="0" bIns="0" rtlCol="0" anchor="t"/>
          <a:lstStyle/>
          <a:p>
            <a:pPr indent="0" marL="0">
              <a:buNone/>
            </a:pPr>
            <a:r>
              <a:rPr lang="fr-FR" altLang="en-US" sz="2600" b="1" dirty="0">
                <a:solidFill>
                  <a:srgbClr val="1B2233"/>
                </a:solidFill>
                <a:latin typeface="Calibri" pitchFamily="34" charset="0"/>
                <a:ea typeface="Calibri" pitchFamily="34" charset="-122"/>
                <a:cs typeface="Calibri" pitchFamily="34" charset="-120"/>
              </a:rPr>
              <a:t>Mon équipe</a:t>
            </a:r>
            <a:endParaRPr lang="fr-FR" sz="2600" dirty="0"/>
          </a:p>
        </p:txBody>
      </p:sp>
      <p:sp>
        <p:nvSpPr>
          <p:cNvPr id="16" name="Text 9"/>
          <p:cNvSpPr txBox="1"/>
          <p:nvPr/>
        </p:nvSpPr>
        <p:spPr>
          <a:xfrm>
            <a:off x="7452360" y="3840480"/>
            <a:ext cx="4297680" cy="457200"/>
          </a:xfrm>
          <a:prstGeom prst="rect">
            <a:avLst/>
          </a:prstGeom>
          <a:noFill/>
          <a:ln/>
        </p:spPr>
        <p:txBody>
          <a:bodyPr wrap="square" lIns="0" tIns="0" rIns="0" bIns="0" rtlCol="0" anchor="t"/>
          <a:lstStyle/>
          <a:p>
            <a:pPr indent="0" marL="0">
              <a:buNone/>
            </a:pPr>
            <a:r>
              <a:rPr lang="fr-FR" altLang="en-US" sz="1800" dirty="0">
                <a:solidFill>
                  <a:srgbClr val="566070"/>
                </a:solidFill>
                <a:latin typeface="Calibri" pitchFamily="34" charset="0"/>
                <a:ea typeface="Calibri" pitchFamily="34" charset="-122"/>
                <a:cs typeface="Calibri" pitchFamily="34" charset="-120"/>
              </a:rPr>
              <a:t>Partager · Publier dans l'organisation</a:t>
            </a:r>
            <a:endParaRPr lang="fr-FR" sz="1800" dirty="0"/>
          </a:p>
        </p:txBody>
      </p:sp>
      <p:sp>
        <p:nvSpPr>
          <p:cNvPr id="17" name="Shape 10"/>
          <p:cNvSpPr/>
          <p:nvPr/>
        </p:nvSpPr>
        <p:spPr>
          <a:xfrm>
            <a:off x="6400800" y="4754880"/>
            <a:ext cx="822960" cy="822960"/>
          </a:xfrm>
          <a:prstGeom prst="ellipse">
            <a:avLst/>
          </a:prstGeom>
          <a:solidFill>
            <a:srgbClr val="2F5FC4"/>
          </a:solidFill>
          <a:ln/>
        </p:spPr>
      </p:sp>
      <p:pic>
        <p:nvPicPr>
          <p:cNvPr id="18"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06540" y="4960620"/>
            <a:ext cx="411480" cy="411480"/>
          </a:xfrm>
          <a:prstGeom prst="rect">
            <a:avLst/>
          </a:prstGeom>
        </p:spPr>
      </p:pic>
      <p:sp>
        <p:nvSpPr>
          <p:cNvPr id="19" name="Text 11"/>
          <p:cNvSpPr txBox="1"/>
          <p:nvPr/>
        </p:nvSpPr>
        <p:spPr>
          <a:xfrm>
            <a:off x="7452360" y="4709160"/>
            <a:ext cx="4297680" cy="457200"/>
          </a:xfrm>
          <a:prstGeom prst="rect">
            <a:avLst/>
          </a:prstGeom>
          <a:noFill/>
          <a:ln/>
        </p:spPr>
        <p:txBody>
          <a:bodyPr wrap="square" lIns="0" tIns="0" rIns="0" bIns="0" rtlCol="0" anchor="t"/>
          <a:lstStyle/>
          <a:p>
            <a:pPr indent="0" marL="0">
              <a:buNone/>
            </a:pPr>
            <a:r>
              <a:rPr lang="fr-FR" altLang="en-US" sz="2600" b="1" dirty="0">
                <a:solidFill>
                  <a:srgbClr val="1B2233"/>
                </a:solidFill>
                <a:latin typeface="Calibri" pitchFamily="34" charset="0"/>
                <a:ea typeface="Calibri" pitchFamily="34" charset="-122"/>
                <a:cs typeface="Calibri" pitchFamily="34" charset="-120"/>
              </a:rPr>
              <a:t>Tout le monde</a:t>
            </a:r>
            <a:endParaRPr lang="fr-FR" sz="2600" dirty="0"/>
          </a:p>
        </p:txBody>
      </p:sp>
      <p:sp>
        <p:nvSpPr>
          <p:cNvPr id="20" name="Text 12"/>
          <p:cNvSpPr txBox="1"/>
          <p:nvPr/>
        </p:nvSpPr>
        <p:spPr>
          <a:xfrm>
            <a:off x="7452360" y="5166360"/>
            <a:ext cx="4297680" cy="457200"/>
          </a:xfrm>
          <a:prstGeom prst="rect">
            <a:avLst/>
          </a:prstGeom>
          <a:noFill/>
          <a:ln/>
        </p:spPr>
        <p:txBody>
          <a:bodyPr wrap="square" lIns="0" tIns="0" rIns="0" bIns="0" rtlCol="0" anchor="t"/>
          <a:lstStyle/>
          <a:p>
            <a:pPr indent="0" marL="0">
              <a:buNone/>
            </a:pPr>
            <a:r>
              <a:rPr lang="fr-FR" altLang="en-US" sz="1800" dirty="0">
                <a:solidFill>
                  <a:srgbClr val="566070"/>
                </a:solidFill>
                <a:latin typeface="Calibri" pitchFamily="34" charset="0"/>
                <a:ea typeface="Calibri" pitchFamily="34" charset="-122"/>
                <a:cs typeface="Calibri" pitchFamily="34" charset="-120"/>
              </a:rPr>
              <a:t>GitHub · plugin</a:t>
            </a:r>
            <a:endParaRPr lang="fr-FR" sz="1800" dirty="0"/>
          </a:p>
        </p:txBody>
      </p:sp>
      <p:sp>
        <p:nvSpPr>
          <p:cNvPr id="21" name="Shape 13"/>
          <p:cNvSpPr/>
          <p:nvPr/>
        </p:nvSpPr>
        <p:spPr>
          <a:xfrm>
            <a:off x="9555480" y="3474720"/>
            <a:ext cx="2194560" cy="347472"/>
          </a:xfrm>
          <a:prstGeom prst="roundRect">
            <a:avLst>
              <a:gd name="adj" fmla="val 50000"/>
            </a:avLst>
          </a:prstGeom>
          <a:solidFill>
            <a:srgbClr val="1B2233"/>
          </a:solidFill>
          <a:ln/>
        </p:spPr>
      </p:sp>
      <p:sp>
        <p:nvSpPr>
          <p:cNvPr id="22" name="Text 14"/>
          <p:cNvSpPr txBox="1"/>
          <p:nvPr/>
        </p:nvSpPr>
        <p:spPr>
          <a:xfrm>
            <a:off x="9555480" y="3474720"/>
            <a:ext cx="2194560" cy="347472"/>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Team / Enterprise</a:t>
            </a:r>
            <a:endParaRPr lang="fr-FR" sz="1600" dirty="0"/>
          </a:p>
        </p:txBody>
      </p:sp>
      <p:sp>
        <p:nvSpPr>
          <p:cNvPr id="23" name="Text 15"/>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6 · Partager</a:t>
            </a:r>
            <a:endParaRPr lang="fr-FR" sz="1400" dirty="0"/>
          </a:p>
        </p:txBody>
      </p:sp>
      <p:sp>
        <p:nvSpPr>
          <p:cNvPr id="24" name="Text 16"/>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31</a:t>
            </a:r>
            <a:endParaRPr lang="fr-FR"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233"/>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914400"/>
            <a:ext cx="11277295" cy="914400"/>
          </a:xfrm>
          <a:prstGeom prst="rect">
            <a:avLst/>
          </a:prstGeom>
          <a:noFill/>
          <a:ln/>
        </p:spPr>
        <p:txBody>
          <a:bodyPr wrap="square" lIns="0" tIns="0" rIns="0" bIns="0" rtlCol="0" anchor="ctr"/>
          <a:lstStyle/>
          <a:p>
            <a:pPr algn="ctr" indent="0" marL="0">
              <a:buNone/>
            </a:pPr>
            <a:r>
              <a:rPr lang="fr-FR" altLang="en-US" sz="4800" b="1" dirty="0">
                <a:solidFill>
                  <a:srgbClr val="FFFFFF"/>
                </a:solidFill>
                <a:latin typeface="Calibri" pitchFamily="34" charset="0"/>
                <a:ea typeface="Calibri" pitchFamily="34" charset="-122"/>
                <a:cs typeface="Calibri" pitchFamily="34" charset="-120"/>
              </a:rPr>
              <a:t>Quiz : à vous de répondre !</a:t>
            </a:r>
            <a:endParaRPr lang="fr-FR" sz="4800" dirty="0"/>
          </a:p>
        </p:txBody>
      </p:sp>
      <p:pic>
        <p:nvPicPr>
          <p:cNvPr id="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272888" y="2240280"/>
            <a:ext cx="1645920" cy="1645920"/>
          </a:xfrm>
          <a:prstGeom prst="rect">
            <a:avLst/>
          </a:prstGeom>
        </p:spPr>
      </p:pic>
      <p:sp>
        <p:nvSpPr>
          <p:cNvPr id="4" name="Text 1"/>
          <p:cNvSpPr txBox="1"/>
          <p:nvPr/>
        </p:nvSpPr>
        <p:spPr>
          <a:xfrm>
            <a:off x="457200" y="4206240"/>
            <a:ext cx="11277295" cy="548640"/>
          </a:xfrm>
          <a:prstGeom prst="rect">
            <a:avLst/>
          </a:prstGeom>
          <a:noFill/>
          <a:ln/>
        </p:spPr>
        <p:txBody>
          <a:bodyPr wrap="square" lIns="0" tIns="0" rIns="0" bIns="0" rtlCol="0" anchor="t"/>
          <a:lstStyle/>
          <a:p>
            <a:pPr algn="ctr" indent="0" marL="0">
              <a:buNone/>
            </a:pPr>
            <a:r>
              <a:rPr lang="fr-FR" altLang="en-US" sz="2800" dirty="0">
                <a:solidFill>
                  <a:srgbClr val="C9CFDA"/>
                </a:solidFill>
                <a:latin typeface="Calibri" pitchFamily="34" charset="0"/>
                <a:ea typeface="Calibri" pitchFamily="34" charset="-122"/>
                <a:cs typeface="Calibri" pitchFamily="34" charset="-120"/>
              </a:rPr>
              <a:t>9 questions · réponse à voix haute</a:t>
            </a:r>
            <a:endParaRPr lang="fr-FR" sz="2800" dirty="0"/>
          </a:p>
        </p:txBody>
      </p:sp>
      <p:sp>
        <p:nvSpPr>
          <p:cNvPr id="5" name="Text 2"/>
          <p:cNvSpPr txBox="1"/>
          <p:nvPr/>
        </p:nvSpPr>
        <p:spPr>
          <a:xfrm>
            <a:off x="457200" y="4846320"/>
            <a:ext cx="11277295" cy="457200"/>
          </a:xfrm>
          <a:prstGeom prst="rect">
            <a:avLst/>
          </a:prstGeom>
          <a:noFill/>
          <a:ln/>
        </p:spPr>
        <p:txBody>
          <a:bodyPr wrap="square" lIns="0" tIns="0" rIns="0" bIns="0" rtlCol="0" anchor="t"/>
          <a:lstStyle/>
          <a:p>
            <a:pPr algn="ctr" indent="0" marL="0">
              <a:buNone/>
            </a:pPr>
            <a:r>
              <a:rPr lang="fr-FR" altLang="en-US" sz="2200" i="1" dirty="0">
                <a:solidFill>
                  <a:srgbClr val="AEB5C2"/>
                </a:solidFill>
                <a:latin typeface="Calibri" pitchFamily="34" charset="0"/>
                <a:ea typeface="Calibri" pitchFamily="34" charset="-122"/>
                <a:cs typeface="Calibri" pitchFamily="34" charset="-120"/>
              </a:rPr>
              <a:t>Dites simplement la lettre : « B ! »</a:t>
            </a:r>
            <a:endParaRPr lang="fr-FR" sz="2200" dirty="0"/>
          </a:p>
        </p:txBody>
      </p:sp>
      <p:sp>
        <p:nvSpPr>
          <p:cNvPr id="6" name="Text 3"/>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7" name="Text 4"/>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32</a:t>
            </a:r>
            <a:endParaRPr lang="fr-FR"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Qu'est-ce qui décide Claude à utiliser une skill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1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Son nom de fichier</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Sa description</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Sa longueur</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Sa date de création</a:t>
            </a:r>
            <a:endParaRPr lang="fr-FR" sz="2400" dirty="0"/>
          </a:p>
        </p:txBody>
      </p:sp>
      <p:sp>
        <p:nvSpPr>
          <p:cNvPr id="20"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1"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33</a:t>
            </a:r>
            <a:endParaRPr lang="fr-FR"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Qu'est-ce qui décide Claude à utiliser une skill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1 / 9</a:t>
            </a:r>
            <a:endParaRPr lang="fr-FR" sz="2000" dirty="0"/>
          </a:p>
        </p:txBody>
      </p:sp>
      <p:sp>
        <p:nvSpPr>
          <p:cNvPr id="4" name="Shape 2"/>
          <p:cNvSpPr/>
          <p:nvPr/>
        </p:nvSpPr>
        <p:spPr>
          <a:xfrm>
            <a:off x="548640" y="2788920"/>
            <a:ext cx="5440680" cy="1463040"/>
          </a:xfrm>
          <a:prstGeom prst="roundRect">
            <a:avLst>
              <a:gd name="adj" fmla="val 9375"/>
            </a:avLst>
          </a:prstGeom>
          <a:solidFill>
            <a:srgbClr val="262E3F"/>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Son nom de fichier</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w="50800">
            <a:solidFill>
              <a:srgbClr val="1F7A50"/>
            </a:solidFill>
            <a:prstDash val="solid"/>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Sa description</a:t>
            </a:r>
            <a:endParaRPr lang="fr-FR" sz="2400" dirty="0"/>
          </a:p>
        </p:txBody>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927080" y="3264408"/>
            <a:ext cx="512064" cy="512064"/>
          </a:xfrm>
          <a:prstGeom prst="rect">
            <a:avLst/>
          </a:prstGeom>
        </p:spPr>
      </p:pic>
      <p:sp>
        <p:nvSpPr>
          <p:cNvPr id="13" name="Shape 10"/>
          <p:cNvSpPr/>
          <p:nvPr/>
        </p:nvSpPr>
        <p:spPr>
          <a:xfrm>
            <a:off x="548640" y="4480560"/>
            <a:ext cx="5440680" cy="1463040"/>
          </a:xfrm>
          <a:prstGeom prst="roundRect">
            <a:avLst>
              <a:gd name="adj" fmla="val 9375"/>
            </a:avLst>
          </a:prstGeom>
          <a:solidFill>
            <a:srgbClr val="262E3F"/>
          </a:solidFill>
          <a:ln/>
        </p:spPr>
      </p:sp>
      <p:sp>
        <p:nvSpPr>
          <p:cNvPr id="14" name="Shape 11"/>
          <p:cNvSpPr/>
          <p:nvPr/>
        </p:nvSpPr>
        <p:spPr>
          <a:xfrm>
            <a:off x="731520" y="4709160"/>
            <a:ext cx="1005840" cy="1005840"/>
          </a:xfrm>
          <a:prstGeom prst="roundRect">
            <a:avLst>
              <a:gd name="adj" fmla="val 9091"/>
            </a:avLst>
          </a:prstGeom>
          <a:solidFill>
            <a:srgbClr val="1F7A50"/>
          </a:solidFill>
          <a:ln/>
        </p:spPr>
      </p:sp>
      <p:sp>
        <p:nvSpPr>
          <p:cNvPr id="15"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C</a:t>
            </a:r>
            <a:endParaRPr lang="fr-FR" sz="4000" dirty="0"/>
          </a:p>
        </p:txBody>
      </p:sp>
      <p:sp>
        <p:nvSpPr>
          <p:cNvPr id="16"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Sa longueur</a:t>
            </a:r>
            <a:endParaRPr lang="fr-FR" sz="2400" dirty="0"/>
          </a:p>
        </p:txBody>
      </p:sp>
      <p:sp>
        <p:nvSpPr>
          <p:cNvPr id="17" name="Shape 14"/>
          <p:cNvSpPr/>
          <p:nvPr/>
        </p:nvSpPr>
        <p:spPr>
          <a:xfrm>
            <a:off x="6172200" y="4480560"/>
            <a:ext cx="5440680" cy="1463040"/>
          </a:xfrm>
          <a:prstGeom prst="roundRect">
            <a:avLst>
              <a:gd name="adj" fmla="val 9375"/>
            </a:avLst>
          </a:prstGeom>
          <a:solidFill>
            <a:srgbClr val="262E3F"/>
          </a:solidFill>
          <a:ln/>
        </p:spPr>
      </p:sp>
      <p:sp>
        <p:nvSpPr>
          <p:cNvPr id="18" name="Shape 15"/>
          <p:cNvSpPr/>
          <p:nvPr/>
        </p:nvSpPr>
        <p:spPr>
          <a:xfrm>
            <a:off x="6355080" y="4709160"/>
            <a:ext cx="1005840" cy="1005840"/>
          </a:xfrm>
          <a:prstGeom prst="roundRect">
            <a:avLst>
              <a:gd name="adj" fmla="val 9091"/>
            </a:avLst>
          </a:prstGeom>
          <a:solidFill>
            <a:srgbClr val="E8B21E"/>
          </a:solidFill>
          <a:ln/>
        </p:spPr>
      </p:sp>
      <p:sp>
        <p:nvSpPr>
          <p:cNvPr id="19"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alpha val="40000"/>
                  </a:srgbClr>
                </a:solidFill>
                <a:latin typeface="Calibri" pitchFamily="34" charset="0"/>
                <a:ea typeface="Calibri" pitchFamily="34" charset="-122"/>
                <a:cs typeface="Calibri" pitchFamily="34" charset="-120"/>
              </a:rPr>
              <a:t>D</a:t>
            </a:r>
            <a:endParaRPr lang="fr-FR" sz="4000" dirty="0"/>
          </a:p>
        </p:txBody>
      </p:sp>
      <p:sp>
        <p:nvSpPr>
          <p:cNvPr id="20"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Sa date de création</a:t>
            </a:r>
            <a:endParaRPr lang="fr-FR" sz="2400" dirty="0"/>
          </a:p>
        </p:txBody>
      </p:sp>
      <p:sp>
        <p:nvSpPr>
          <p:cNvPr id="21"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2"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34</a:t>
            </a:r>
            <a:endParaRPr lang="fr-FR"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 Tout le suivi du client Dupont » : projet ou skill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2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Un projet</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Une skill</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Les deux, obligatoirement</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Ni l'un ni l'autre</a:t>
            </a:r>
            <a:endParaRPr lang="fr-FR" sz="2400" dirty="0"/>
          </a:p>
        </p:txBody>
      </p:sp>
      <p:sp>
        <p:nvSpPr>
          <p:cNvPr id="20"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1"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35</a:t>
            </a:r>
            <a:endParaRPr lang="fr-FR"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 Tout le suivi du client Dupont » : projet ou skill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2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w="50800">
            <a:solidFill>
              <a:srgbClr val="1F7A50"/>
            </a:solidFill>
            <a:prstDash val="solid"/>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Un projet</a:t>
            </a:r>
            <a:endParaRPr lang="fr-FR" sz="2400" dirty="0"/>
          </a:p>
        </p:txBody>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303520" y="3264408"/>
            <a:ext cx="512064" cy="512064"/>
          </a:xfrm>
          <a:prstGeom prst="rect">
            <a:avLst/>
          </a:prstGeom>
        </p:spPr>
      </p:pic>
      <p:sp>
        <p:nvSpPr>
          <p:cNvPr id="9" name="Shape 6"/>
          <p:cNvSpPr/>
          <p:nvPr/>
        </p:nvSpPr>
        <p:spPr>
          <a:xfrm>
            <a:off x="6172200" y="2788920"/>
            <a:ext cx="5440680" cy="1463040"/>
          </a:xfrm>
          <a:prstGeom prst="roundRect">
            <a:avLst>
              <a:gd name="adj" fmla="val 9375"/>
            </a:avLst>
          </a:prstGeom>
          <a:solidFill>
            <a:srgbClr val="262E3F"/>
          </a:solidFill>
          <a:ln/>
        </p:spPr>
      </p:sp>
      <p:sp>
        <p:nvSpPr>
          <p:cNvPr id="10" name="Shape 7"/>
          <p:cNvSpPr/>
          <p:nvPr/>
        </p:nvSpPr>
        <p:spPr>
          <a:xfrm>
            <a:off x="6355080" y="3017520"/>
            <a:ext cx="1005840" cy="1005840"/>
          </a:xfrm>
          <a:prstGeom prst="roundRect">
            <a:avLst>
              <a:gd name="adj" fmla="val 9091"/>
            </a:avLst>
          </a:prstGeom>
          <a:solidFill>
            <a:srgbClr val="2F5FC4"/>
          </a:solidFill>
          <a:ln/>
        </p:spPr>
      </p:sp>
      <p:sp>
        <p:nvSpPr>
          <p:cNvPr id="11"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B</a:t>
            </a:r>
            <a:endParaRPr lang="fr-FR" sz="4000" dirty="0"/>
          </a:p>
        </p:txBody>
      </p:sp>
      <p:sp>
        <p:nvSpPr>
          <p:cNvPr id="12"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Une skill</a:t>
            </a:r>
            <a:endParaRPr lang="fr-FR" sz="2400" dirty="0"/>
          </a:p>
        </p:txBody>
      </p:sp>
      <p:sp>
        <p:nvSpPr>
          <p:cNvPr id="13" name="Shape 10"/>
          <p:cNvSpPr/>
          <p:nvPr/>
        </p:nvSpPr>
        <p:spPr>
          <a:xfrm>
            <a:off x="548640" y="4480560"/>
            <a:ext cx="5440680" cy="1463040"/>
          </a:xfrm>
          <a:prstGeom prst="roundRect">
            <a:avLst>
              <a:gd name="adj" fmla="val 9375"/>
            </a:avLst>
          </a:prstGeom>
          <a:solidFill>
            <a:srgbClr val="262E3F"/>
          </a:solidFill>
          <a:ln/>
        </p:spPr>
      </p:sp>
      <p:sp>
        <p:nvSpPr>
          <p:cNvPr id="14" name="Shape 11"/>
          <p:cNvSpPr/>
          <p:nvPr/>
        </p:nvSpPr>
        <p:spPr>
          <a:xfrm>
            <a:off x="731520" y="4709160"/>
            <a:ext cx="1005840" cy="1005840"/>
          </a:xfrm>
          <a:prstGeom prst="roundRect">
            <a:avLst>
              <a:gd name="adj" fmla="val 9091"/>
            </a:avLst>
          </a:prstGeom>
          <a:solidFill>
            <a:srgbClr val="1F7A50"/>
          </a:solidFill>
          <a:ln/>
        </p:spPr>
      </p:sp>
      <p:sp>
        <p:nvSpPr>
          <p:cNvPr id="15"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C</a:t>
            </a:r>
            <a:endParaRPr lang="fr-FR" sz="4000" dirty="0"/>
          </a:p>
        </p:txBody>
      </p:sp>
      <p:sp>
        <p:nvSpPr>
          <p:cNvPr id="16"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Les deux, obligatoirement</a:t>
            </a:r>
            <a:endParaRPr lang="fr-FR" sz="2400" dirty="0"/>
          </a:p>
        </p:txBody>
      </p:sp>
      <p:sp>
        <p:nvSpPr>
          <p:cNvPr id="17" name="Shape 14"/>
          <p:cNvSpPr/>
          <p:nvPr/>
        </p:nvSpPr>
        <p:spPr>
          <a:xfrm>
            <a:off x="6172200" y="4480560"/>
            <a:ext cx="5440680" cy="1463040"/>
          </a:xfrm>
          <a:prstGeom prst="roundRect">
            <a:avLst>
              <a:gd name="adj" fmla="val 9375"/>
            </a:avLst>
          </a:prstGeom>
          <a:solidFill>
            <a:srgbClr val="262E3F"/>
          </a:solidFill>
          <a:ln/>
        </p:spPr>
      </p:sp>
      <p:sp>
        <p:nvSpPr>
          <p:cNvPr id="18" name="Shape 15"/>
          <p:cNvSpPr/>
          <p:nvPr/>
        </p:nvSpPr>
        <p:spPr>
          <a:xfrm>
            <a:off x="6355080" y="4709160"/>
            <a:ext cx="1005840" cy="1005840"/>
          </a:xfrm>
          <a:prstGeom prst="roundRect">
            <a:avLst>
              <a:gd name="adj" fmla="val 9091"/>
            </a:avLst>
          </a:prstGeom>
          <a:solidFill>
            <a:srgbClr val="E8B21E"/>
          </a:solidFill>
          <a:ln/>
        </p:spPr>
      </p:sp>
      <p:sp>
        <p:nvSpPr>
          <p:cNvPr id="19"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alpha val="40000"/>
                  </a:srgbClr>
                </a:solidFill>
                <a:latin typeface="Calibri" pitchFamily="34" charset="0"/>
                <a:ea typeface="Calibri" pitchFamily="34" charset="-122"/>
                <a:cs typeface="Calibri" pitchFamily="34" charset="-120"/>
              </a:rPr>
              <a:t>D</a:t>
            </a:r>
            <a:endParaRPr lang="fr-FR" sz="4000" dirty="0"/>
          </a:p>
        </p:txBody>
      </p:sp>
      <p:sp>
        <p:nvSpPr>
          <p:cNvPr id="20"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Ni l'un ni l'autre</a:t>
            </a:r>
            <a:endParaRPr lang="fr-FR" sz="2400" dirty="0"/>
          </a:p>
        </p:txBody>
      </p:sp>
      <p:sp>
        <p:nvSpPr>
          <p:cNvPr id="21"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2"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36</a:t>
            </a:r>
            <a:endParaRPr lang="fr-FR"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Quel fichier est indispensable dans une skill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3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README.txt</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config.json</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SKILL.md</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index.html</a:t>
            </a:r>
            <a:endParaRPr lang="fr-FR" sz="2400" dirty="0"/>
          </a:p>
        </p:txBody>
      </p:sp>
      <p:sp>
        <p:nvSpPr>
          <p:cNvPr id="20"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1"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37</a:t>
            </a:r>
            <a:endParaRPr lang="fr-FR"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Quel fichier est indispensable dans une skill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3 / 9</a:t>
            </a:r>
            <a:endParaRPr lang="fr-FR" sz="2000" dirty="0"/>
          </a:p>
        </p:txBody>
      </p:sp>
      <p:sp>
        <p:nvSpPr>
          <p:cNvPr id="4" name="Shape 2"/>
          <p:cNvSpPr/>
          <p:nvPr/>
        </p:nvSpPr>
        <p:spPr>
          <a:xfrm>
            <a:off x="548640" y="2788920"/>
            <a:ext cx="5440680" cy="1463040"/>
          </a:xfrm>
          <a:prstGeom prst="roundRect">
            <a:avLst>
              <a:gd name="adj" fmla="val 9375"/>
            </a:avLst>
          </a:prstGeom>
          <a:solidFill>
            <a:srgbClr val="262E3F"/>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README.txt</a:t>
            </a:r>
            <a:endParaRPr lang="fr-FR" sz="2400" dirty="0"/>
          </a:p>
        </p:txBody>
      </p:sp>
      <p:sp>
        <p:nvSpPr>
          <p:cNvPr id="8" name="Shape 6"/>
          <p:cNvSpPr/>
          <p:nvPr/>
        </p:nvSpPr>
        <p:spPr>
          <a:xfrm>
            <a:off x="6172200" y="2788920"/>
            <a:ext cx="5440680" cy="1463040"/>
          </a:xfrm>
          <a:prstGeom prst="roundRect">
            <a:avLst>
              <a:gd name="adj" fmla="val 9375"/>
            </a:avLst>
          </a:prstGeom>
          <a:solidFill>
            <a:srgbClr val="262E3F"/>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config.json</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w="50800">
            <a:solidFill>
              <a:srgbClr val="1F7A50"/>
            </a:solidFill>
            <a:prstDash val="solid"/>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SKILL.md</a:t>
            </a:r>
            <a:endParaRPr lang="fr-FR" sz="2400" dirty="0"/>
          </a:p>
        </p:txBody>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303520" y="4956048"/>
            <a:ext cx="512064" cy="512064"/>
          </a:xfrm>
          <a:prstGeom prst="rect">
            <a:avLst/>
          </a:prstGeom>
        </p:spPr>
      </p:pic>
      <p:sp>
        <p:nvSpPr>
          <p:cNvPr id="17" name="Shape 14"/>
          <p:cNvSpPr/>
          <p:nvPr/>
        </p:nvSpPr>
        <p:spPr>
          <a:xfrm>
            <a:off x="6172200" y="4480560"/>
            <a:ext cx="5440680" cy="1463040"/>
          </a:xfrm>
          <a:prstGeom prst="roundRect">
            <a:avLst>
              <a:gd name="adj" fmla="val 9375"/>
            </a:avLst>
          </a:prstGeom>
          <a:solidFill>
            <a:srgbClr val="262E3F"/>
          </a:solidFill>
          <a:ln/>
        </p:spPr>
      </p:sp>
      <p:sp>
        <p:nvSpPr>
          <p:cNvPr id="18" name="Shape 15"/>
          <p:cNvSpPr/>
          <p:nvPr/>
        </p:nvSpPr>
        <p:spPr>
          <a:xfrm>
            <a:off x="6355080" y="4709160"/>
            <a:ext cx="1005840" cy="1005840"/>
          </a:xfrm>
          <a:prstGeom prst="roundRect">
            <a:avLst>
              <a:gd name="adj" fmla="val 9091"/>
            </a:avLst>
          </a:prstGeom>
          <a:solidFill>
            <a:srgbClr val="E8B21E"/>
          </a:solidFill>
          <a:ln/>
        </p:spPr>
      </p:sp>
      <p:sp>
        <p:nvSpPr>
          <p:cNvPr id="19"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alpha val="40000"/>
                  </a:srgbClr>
                </a:solidFill>
                <a:latin typeface="Calibri" pitchFamily="34" charset="0"/>
                <a:ea typeface="Calibri" pitchFamily="34" charset="-122"/>
                <a:cs typeface="Calibri" pitchFamily="34" charset="-120"/>
              </a:rPr>
              <a:t>D</a:t>
            </a:r>
            <a:endParaRPr lang="fr-FR" sz="4000" dirty="0"/>
          </a:p>
        </p:txBody>
      </p:sp>
      <p:sp>
        <p:nvSpPr>
          <p:cNvPr id="20"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index.html</a:t>
            </a:r>
            <a:endParaRPr lang="fr-FR" sz="2400" dirty="0"/>
          </a:p>
        </p:txBody>
      </p:sp>
      <p:sp>
        <p:nvSpPr>
          <p:cNvPr id="21"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2"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38</a:t>
            </a:r>
            <a:endParaRPr lang="fr-FR"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Une skill géniale trouvée sur GitHub. Première chose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4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L'installer tout de suite</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La partager à l'équipe</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La renommer</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Lire son contenu</a:t>
            </a:r>
            <a:endParaRPr lang="fr-FR" sz="2400" dirty="0"/>
          </a:p>
        </p:txBody>
      </p:sp>
      <p:sp>
        <p:nvSpPr>
          <p:cNvPr id="20"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1"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39</a:t>
            </a:r>
            <a:endParaRPr lang="fr-FR"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Une skill géniale trouvée sur GitHub. Première chose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4 / 9</a:t>
            </a:r>
            <a:endParaRPr lang="fr-FR" sz="2000" dirty="0"/>
          </a:p>
        </p:txBody>
      </p:sp>
      <p:sp>
        <p:nvSpPr>
          <p:cNvPr id="4" name="Shape 2"/>
          <p:cNvSpPr/>
          <p:nvPr/>
        </p:nvSpPr>
        <p:spPr>
          <a:xfrm>
            <a:off x="548640" y="2788920"/>
            <a:ext cx="5440680" cy="1463040"/>
          </a:xfrm>
          <a:prstGeom prst="roundRect">
            <a:avLst>
              <a:gd name="adj" fmla="val 9375"/>
            </a:avLst>
          </a:prstGeom>
          <a:solidFill>
            <a:srgbClr val="262E3F"/>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L'installer tout de suite</a:t>
            </a:r>
            <a:endParaRPr lang="fr-FR" sz="2400" dirty="0"/>
          </a:p>
        </p:txBody>
      </p:sp>
      <p:sp>
        <p:nvSpPr>
          <p:cNvPr id="8" name="Shape 6"/>
          <p:cNvSpPr/>
          <p:nvPr/>
        </p:nvSpPr>
        <p:spPr>
          <a:xfrm>
            <a:off x="6172200" y="2788920"/>
            <a:ext cx="5440680" cy="1463040"/>
          </a:xfrm>
          <a:prstGeom prst="roundRect">
            <a:avLst>
              <a:gd name="adj" fmla="val 9375"/>
            </a:avLst>
          </a:prstGeom>
          <a:solidFill>
            <a:srgbClr val="262E3F"/>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La partager à l'équipe</a:t>
            </a:r>
            <a:endParaRPr lang="fr-FR" sz="2400" dirty="0"/>
          </a:p>
        </p:txBody>
      </p:sp>
      <p:sp>
        <p:nvSpPr>
          <p:cNvPr id="12" name="Shape 10"/>
          <p:cNvSpPr/>
          <p:nvPr/>
        </p:nvSpPr>
        <p:spPr>
          <a:xfrm>
            <a:off x="548640" y="4480560"/>
            <a:ext cx="5440680" cy="1463040"/>
          </a:xfrm>
          <a:prstGeom prst="roundRect">
            <a:avLst>
              <a:gd name="adj" fmla="val 9375"/>
            </a:avLst>
          </a:prstGeom>
          <a:solidFill>
            <a:srgbClr val="262E3F"/>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La renommer</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w="50800">
            <a:solidFill>
              <a:srgbClr val="1F7A50"/>
            </a:solidFill>
            <a:prstDash val="solid"/>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Lire son contenu</a:t>
            </a:r>
            <a:endParaRPr lang="fr-FR" sz="2400" dirty="0"/>
          </a:p>
        </p:txBody>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927080" y="4956048"/>
            <a:ext cx="512064" cy="512064"/>
          </a:xfrm>
          <a:prstGeom prst="rect">
            <a:avLst/>
          </a:prstGeom>
        </p:spPr>
      </p:pic>
      <p:sp>
        <p:nvSpPr>
          <p:cNvPr id="21"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2"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40</a:t>
            </a:r>
            <a:endParaRPr lang="fr-FR"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Le plus simple pour créer votre première skill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5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Apprendre à coder</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Le demander à Claude</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Acheter un plugin</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Écrire au support</a:t>
            </a:r>
            <a:endParaRPr lang="fr-FR" sz="2400" dirty="0"/>
          </a:p>
        </p:txBody>
      </p:sp>
      <p:sp>
        <p:nvSpPr>
          <p:cNvPr id="20"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1"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41</a:t>
            </a:r>
            <a:endParaRPr lang="fr-FR"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Le plus simple pour créer votre première skill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5 / 9</a:t>
            </a:r>
            <a:endParaRPr lang="fr-FR" sz="2000" dirty="0"/>
          </a:p>
        </p:txBody>
      </p:sp>
      <p:sp>
        <p:nvSpPr>
          <p:cNvPr id="4" name="Shape 2"/>
          <p:cNvSpPr/>
          <p:nvPr/>
        </p:nvSpPr>
        <p:spPr>
          <a:xfrm>
            <a:off x="548640" y="2788920"/>
            <a:ext cx="5440680" cy="1463040"/>
          </a:xfrm>
          <a:prstGeom prst="roundRect">
            <a:avLst>
              <a:gd name="adj" fmla="val 9375"/>
            </a:avLst>
          </a:prstGeom>
          <a:solidFill>
            <a:srgbClr val="262E3F"/>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Apprendre à coder</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w="50800">
            <a:solidFill>
              <a:srgbClr val="1F7A50"/>
            </a:solidFill>
            <a:prstDash val="solid"/>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Le demander à Claude</a:t>
            </a:r>
            <a:endParaRPr lang="fr-FR" sz="2400" dirty="0"/>
          </a:p>
        </p:txBody>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927080" y="3264408"/>
            <a:ext cx="512064" cy="512064"/>
          </a:xfrm>
          <a:prstGeom prst="rect">
            <a:avLst/>
          </a:prstGeom>
        </p:spPr>
      </p:pic>
      <p:sp>
        <p:nvSpPr>
          <p:cNvPr id="13" name="Shape 10"/>
          <p:cNvSpPr/>
          <p:nvPr/>
        </p:nvSpPr>
        <p:spPr>
          <a:xfrm>
            <a:off x="548640" y="4480560"/>
            <a:ext cx="5440680" cy="1463040"/>
          </a:xfrm>
          <a:prstGeom prst="roundRect">
            <a:avLst>
              <a:gd name="adj" fmla="val 9375"/>
            </a:avLst>
          </a:prstGeom>
          <a:solidFill>
            <a:srgbClr val="262E3F"/>
          </a:solidFill>
          <a:ln/>
        </p:spPr>
      </p:sp>
      <p:sp>
        <p:nvSpPr>
          <p:cNvPr id="14" name="Shape 11"/>
          <p:cNvSpPr/>
          <p:nvPr/>
        </p:nvSpPr>
        <p:spPr>
          <a:xfrm>
            <a:off x="731520" y="4709160"/>
            <a:ext cx="1005840" cy="1005840"/>
          </a:xfrm>
          <a:prstGeom prst="roundRect">
            <a:avLst>
              <a:gd name="adj" fmla="val 9091"/>
            </a:avLst>
          </a:prstGeom>
          <a:solidFill>
            <a:srgbClr val="1F7A50"/>
          </a:solidFill>
          <a:ln/>
        </p:spPr>
      </p:sp>
      <p:sp>
        <p:nvSpPr>
          <p:cNvPr id="15"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C</a:t>
            </a:r>
            <a:endParaRPr lang="fr-FR" sz="4000" dirty="0"/>
          </a:p>
        </p:txBody>
      </p:sp>
      <p:sp>
        <p:nvSpPr>
          <p:cNvPr id="16"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Acheter un plugin</a:t>
            </a:r>
            <a:endParaRPr lang="fr-FR" sz="2400" dirty="0"/>
          </a:p>
        </p:txBody>
      </p:sp>
      <p:sp>
        <p:nvSpPr>
          <p:cNvPr id="17" name="Shape 14"/>
          <p:cNvSpPr/>
          <p:nvPr/>
        </p:nvSpPr>
        <p:spPr>
          <a:xfrm>
            <a:off x="6172200" y="4480560"/>
            <a:ext cx="5440680" cy="1463040"/>
          </a:xfrm>
          <a:prstGeom prst="roundRect">
            <a:avLst>
              <a:gd name="adj" fmla="val 9375"/>
            </a:avLst>
          </a:prstGeom>
          <a:solidFill>
            <a:srgbClr val="262E3F"/>
          </a:solidFill>
          <a:ln/>
        </p:spPr>
      </p:sp>
      <p:sp>
        <p:nvSpPr>
          <p:cNvPr id="18" name="Shape 15"/>
          <p:cNvSpPr/>
          <p:nvPr/>
        </p:nvSpPr>
        <p:spPr>
          <a:xfrm>
            <a:off x="6355080" y="4709160"/>
            <a:ext cx="1005840" cy="1005840"/>
          </a:xfrm>
          <a:prstGeom prst="roundRect">
            <a:avLst>
              <a:gd name="adj" fmla="val 9091"/>
            </a:avLst>
          </a:prstGeom>
          <a:solidFill>
            <a:srgbClr val="E8B21E"/>
          </a:solidFill>
          <a:ln/>
        </p:spPr>
      </p:sp>
      <p:sp>
        <p:nvSpPr>
          <p:cNvPr id="19"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alpha val="40000"/>
                  </a:srgbClr>
                </a:solidFill>
                <a:latin typeface="Calibri" pitchFamily="34" charset="0"/>
                <a:ea typeface="Calibri" pitchFamily="34" charset="-122"/>
                <a:cs typeface="Calibri" pitchFamily="34" charset="-120"/>
              </a:rPr>
              <a:t>D</a:t>
            </a:r>
            <a:endParaRPr lang="fr-FR" sz="4000" dirty="0"/>
          </a:p>
        </p:txBody>
      </p:sp>
      <p:sp>
        <p:nvSpPr>
          <p:cNvPr id="20"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Écrire au support</a:t>
            </a:r>
            <a:endParaRPr lang="fr-FR" sz="2400" dirty="0"/>
          </a:p>
        </p:txBody>
      </p:sp>
      <p:sp>
        <p:nvSpPr>
          <p:cNvPr id="21"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2"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42</a:t>
            </a:r>
            <a:endParaRPr lang="fr-FR"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Team/Enterprise : la rendre disponible à tous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6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L'envoyer par mail à chacun</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La copier dans un projet</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La publier dans l'organisation</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C'est impossible</a:t>
            </a:r>
            <a:endParaRPr lang="fr-FR" sz="2400" dirty="0"/>
          </a:p>
        </p:txBody>
      </p:sp>
      <p:sp>
        <p:nvSpPr>
          <p:cNvPr id="20"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1"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43</a:t>
            </a:r>
            <a:endParaRPr lang="fr-FR"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Team/Enterprise : la rendre disponible à tous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6 / 9</a:t>
            </a:r>
            <a:endParaRPr lang="fr-FR" sz="2000" dirty="0"/>
          </a:p>
        </p:txBody>
      </p:sp>
      <p:sp>
        <p:nvSpPr>
          <p:cNvPr id="4" name="Shape 2"/>
          <p:cNvSpPr/>
          <p:nvPr/>
        </p:nvSpPr>
        <p:spPr>
          <a:xfrm>
            <a:off x="548640" y="2788920"/>
            <a:ext cx="5440680" cy="1463040"/>
          </a:xfrm>
          <a:prstGeom prst="roundRect">
            <a:avLst>
              <a:gd name="adj" fmla="val 9375"/>
            </a:avLst>
          </a:prstGeom>
          <a:solidFill>
            <a:srgbClr val="262E3F"/>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L'envoyer par mail à chacun</a:t>
            </a:r>
            <a:endParaRPr lang="fr-FR" sz="2400" dirty="0"/>
          </a:p>
        </p:txBody>
      </p:sp>
      <p:sp>
        <p:nvSpPr>
          <p:cNvPr id="8" name="Shape 6"/>
          <p:cNvSpPr/>
          <p:nvPr/>
        </p:nvSpPr>
        <p:spPr>
          <a:xfrm>
            <a:off x="6172200" y="2788920"/>
            <a:ext cx="5440680" cy="1463040"/>
          </a:xfrm>
          <a:prstGeom prst="roundRect">
            <a:avLst>
              <a:gd name="adj" fmla="val 9375"/>
            </a:avLst>
          </a:prstGeom>
          <a:solidFill>
            <a:srgbClr val="262E3F"/>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La copier dans un projet</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w="50800">
            <a:solidFill>
              <a:srgbClr val="1F7A50"/>
            </a:solidFill>
            <a:prstDash val="solid"/>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La publier dans l'organisation</a:t>
            </a:r>
            <a:endParaRPr lang="fr-FR" sz="2400" dirty="0"/>
          </a:p>
        </p:txBody>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303520" y="4956048"/>
            <a:ext cx="512064" cy="512064"/>
          </a:xfrm>
          <a:prstGeom prst="rect">
            <a:avLst/>
          </a:prstGeom>
        </p:spPr>
      </p:pic>
      <p:sp>
        <p:nvSpPr>
          <p:cNvPr id="17" name="Shape 14"/>
          <p:cNvSpPr/>
          <p:nvPr/>
        </p:nvSpPr>
        <p:spPr>
          <a:xfrm>
            <a:off x="6172200" y="4480560"/>
            <a:ext cx="5440680" cy="1463040"/>
          </a:xfrm>
          <a:prstGeom prst="roundRect">
            <a:avLst>
              <a:gd name="adj" fmla="val 9375"/>
            </a:avLst>
          </a:prstGeom>
          <a:solidFill>
            <a:srgbClr val="262E3F"/>
          </a:solidFill>
          <a:ln/>
        </p:spPr>
      </p:sp>
      <p:sp>
        <p:nvSpPr>
          <p:cNvPr id="18" name="Shape 15"/>
          <p:cNvSpPr/>
          <p:nvPr/>
        </p:nvSpPr>
        <p:spPr>
          <a:xfrm>
            <a:off x="6355080" y="4709160"/>
            <a:ext cx="1005840" cy="1005840"/>
          </a:xfrm>
          <a:prstGeom prst="roundRect">
            <a:avLst>
              <a:gd name="adj" fmla="val 9091"/>
            </a:avLst>
          </a:prstGeom>
          <a:solidFill>
            <a:srgbClr val="E8B21E"/>
          </a:solidFill>
          <a:ln/>
        </p:spPr>
      </p:sp>
      <p:sp>
        <p:nvSpPr>
          <p:cNvPr id="19"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alpha val="40000"/>
                  </a:srgbClr>
                </a:solidFill>
                <a:latin typeface="Calibri" pitchFamily="34" charset="0"/>
                <a:ea typeface="Calibri" pitchFamily="34" charset="-122"/>
                <a:cs typeface="Calibri" pitchFamily="34" charset="-120"/>
              </a:rPr>
              <a:t>D</a:t>
            </a:r>
            <a:endParaRPr lang="fr-FR" sz="4000" dirty="0"/>
          </a:p>
        </p:txBody>
      </p:sp>
      <p:sp>
        <p:nvSpPr>
          <p:cNvPr id="20"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C'est impossible</a:t>
            </a:r>
            <a:endParaRPr lang="fr-FR" sz="2400" dirty="0"/>
          </a:p>
        </p:txBody>
      </p:sp>
      <p:sp>
        <p:nvSpPr>
          <p:cNvPr id="21"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2"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44</a:t>
            </a:r>
            <a:endParaRPr lang="fr-FR"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En mode plan, que fait Claude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7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Il modifie directement vos fichiers</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Il propose un plan et attend votre feu vert</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Il programme une tâche récurrente</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Il remplit votre agenda</a:t>
            </a:r>
            <a:endParaRPr lang="fr-FR" sz="2400" dirty="0"/>
          </a:p>
        </p:txBody>
      </p:sp>
      <p:sp>
        <p:nvSpPr>
          <p:cNvPr id="20"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1"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45</a:t>
            </a:r>
            <a:endParaRPr lang="fr-FR"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En mode plan, que fait Claude ?</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7 / 9</a:t>
            </a:r>
            <a:endParaRPr lang="fr-FR" sz="2000" dirty="0"/>
          </a:p>
        </p:txBody>
      </p:sp>
      <p:sp>
        <p:nvSpPr>
          <p:cNvPr id="4" name="Shape 2"/>
          <p:cNvSpPr/>
          <p:nvPr/>
        </p:nvSpPr>
        <p:spPr>
          <a:xfrm>
            <a:off x="548640" y="2788920"/>
            <a:ext cx="5440680" cy="1463040"/>
          </a:xfrm>
          <a:prstGeom prst="roundRect">
            <a:avLst>
              <a:gd name="adj" fmla="val 9375"/>
            </a:avLst>
          </a:prstGeom>
          <a:solidFill>
            <a:srgbClr val="262E3F"/>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Il modifie directement vos fichiers</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w="50800">
            <a:solidFill>
              <a:srgbClr val="1F7A50"/>
            </a:solidFill>
            <a:prstDash val="solid"/>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Il propose un plan et attend votre feu vert</a:t>
            </a:r>
            <a:endParaRPr lang="fr-FR" sz="2400" dirty="0"/>
          </a:p>
        </p:txBody>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927080" y="3264408"/>
            <a:ext cx="512064" cy="512064"/>
          </a:xfrm>
          <a:prstGeom prst="rect">
            <a:avLst/>
          </a:prstGeom>
        </p:spPr>
      </p:pic>
      <p:sp>
        <p:nvSpPr>
          <p:cNvPr id="13" name="Shape 10"/>
          <p:cNvSpPr/>
          <p:nvPr/>
        </p:nvSpPr>
        <p:spPr>
          <a:xfrm>
            <a:off x="548640" y="4480560"/>
            <a:ext cx="5440680" cy="1463040"/>
          </a:xfrm>
          <a:prstGeom prst="roundRect">
            <a:avLst>
              <a:gd name="adj" fmla="val 9375"/>
            </a:avLst>
          </a:prstGeom>
          <a:solidFill>
            <a:srgbClr val="262E3F"/>
          </a:solidFill>
          <a:ln/>
        </p:spPr>
      </p:sp>
      <p:sp>
        <p:nvSpPr>
          <p:cNvPr id="14" name="Shape 11"/>
          <p:cNvSpPr/>
          <p:nvPr/>
        </p:nvSpPr>
        <p:spPr>
          <a:xfrm>
            <a:off x="731520" y="4709160"/>
            <a:ext cx="1005840" cy="1005840"/>
          </a:xfrm>
          <a:prstGeom prst="roundRect">
            <a:avLst>
              <a:gd name="adj" fmla="val 9091"/>
            </a:avLst>
          </a:prstGeom>
          <a:solidFill>
            <a:srgbClr val="1F7A50"/>
          </a:solidFill>
          <a:ln/>
        </p:spPr>
      </p:sp>
      <p:sp>
        <p:nvSpPr>
          <p:cNvPr id="15"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C</a:t>
            </a:r>
            <a:endParaRPr lang="fr-FR" sz="4000" dirty="0"/>
          </a:p>
        </p:txBody>
      </p:sp>
      <p:sp>
        <p:nvSpPr>
          <p:cNvPr id="16"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Il programme une tâche récurrente</a:t>
            </a:r>
            <a:endParaRPr lang="fr-FR" sz="2400" dirty="0"/>
          </a:p>
        </p:txBody>
      </p:sp>
      <p:sp>
        <p:nvSpPr>
          <p:cNvPr id="17" name="Shape 14"/>
          <p:cNvSpPr/>
          <p:nvPr/>
        </p:nvSpPr>
        <p:spPr>
          <a:xfrm>
            <a:off x="6172200" y="4480560"/>
            <a:ext cx="5440680" cy="1463040"/>
          </a:xfrm>
          <a:prstGeom prst="roundRect">
            <a:avLst>
              <a:gd name="adj" fmla="val 9375"/>
            </a:avLst>
          </a:prstGeom>
          <a:solidFill>
            <a:srgbClr val="262E3F"/>
          </a:solidFill>
          <a:ln/>
        </p:spPr>
      </p:sp>
      <p:sp>
        <p:nvSpPr>
          <p:cNvPr id="18" name="Shape 15"/>
          <p:cNvSpPr/>
          <p:nvPr/>
        </p:nvSpPr>
        <p:spPr>
          <a:xfrm>
            <a:off x="6355080" y="4709160"/>
            <a:ext cx="1005840" cy="1005840"/>
          </a:xfrm>
          <a:prstGeom prst="roundRect">
            <a:avLst>
              <a:gd name="adj" fmla="val 9091"/>
            </a:avLst>
          </a:prstGeom>
          <a:solidFill>
            <a:srgbClr val="E8B21E"/>
          </a:solidFill>
          <a:ln/>
        </p:spPr>
      </p:sp>
      <p:sp>
        <p:nvSpPr>
          <p:cNvPr id="19"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alpha val="40000"/>
                  </a:srgbClr>
                </a:solidFill>
                <a:latin typeface="Calibri" pitchFamily="34" charset="0"/>
                <a:ea typeface="Calibri" pitchFamily="34" charset="-122"/>
                <a:cs typeface="Calibri" pitchFamily="34" charset="-120"/>
              </a:rPr>
              <a:t>D</a:t>
            </a:r>
            <a:endParaRPr lang="fr-FR" sz="4000" dirty="0"/>
          </a:p>
        </p:txBody>
      </p:sp>
      <p:sp>
        <p:nvSpPr>
          <p:cNvPr id="20"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Il remplit votre agenda</a:t>
            </a:r>
            <a:endParaRPr lang="fr-FR" sz="2400" dirty="0"/>
          </a:p>
        </p:txBody>
      </p:sp>
      <p:sp>
        <p:nvSpPr>
          <p:cNvPr id="21"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2"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46</a:t>
            </a:r>
            <a:endParaRPr lang="fr-FR"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Pour utiliser Claude Code, il faut…</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8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Savoir programmer</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Ouvrir un terminal</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Un dossier et des consignes en français</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Une licence développeur</a:t>
            </a:r>
            <a:endParaRPr lang="fr-FR" sz="2400" dirty="0"/>
          </a:p>
        </p:txBody>
      </p:sp>
      <p:sp>
        <p:nvSpPr>
          <p:cNvPr id="20"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1"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47</a:t>
            </a:r>
            <a:endParaRPr lang="fr-FR"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Pour utiliser Claude Code, il faut…</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8 / 9</a:t>
            </a:r>
            <a:endParaRPr lang="fr-FR" sz="2000" dirty="0"/>
          </a:p>
        </p:txBody>
      </p:sp>
      <p:sp>
        <p:nvSpPr>
          <p:cNvPr id="4" name="Shape 2"/>
          <p:cNvSpPr/>
          <p:nvPr/>
        </p:nvSpPr>
        <p:spPr>
          <a:xfrm>
            <a:off x="548640" y="2788920"/>
            <a:ext cx="5440680" cy="1463040"/>
          </a:xfrm>
          <a:prstGeom prst="roundRect">
            <a:avLst>
              <a:gd name="adj" fmla="val 9375"/>
            </a:avLst>
          </a:prstGeom>
          <a:solidFill>
            <a:srgbClr val="262E3F"/>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Savoir programmer</a:t>
            </a:r>
            <a:endParaRPr lang="fr-FR" sz="2400" dirty="0"/>
          </a:p>
        </p:txBody>
      </p:sp>
      <p:sp>
        <p:nvSpPr>
          <p:cNvPr id="8" name="Shape 6"/>
          <p:cNvSpPr/>
          <p:nvPr/>
        </p:nvSpPr>
        <p:spPr>
          <a:xfrm>
            <a:off x="6172200" y="2788920"/>
            <a:ext cx="5440680" cy="1463040"/>
          </a:xfrm>
          <a:prstGeom prst="roundRect">
            <a:avLst>
              <a:gd name="adj" fmla="val 9375"/>
            </a:avLst>
          </a:prstGeom>
          <a:solidFill>
            <a:srgbClr val="262E3F"/>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Ouvrir un terminal</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w="50800">
            <a:solidFill>
              <a:srgbClr val="1F7A50"/>
            </a:solidFill>
            <a:prstDash val="solid"/>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Un dossier et des consignes en français</a:t>
            </a:r>
            <a:endParaRPr lang="fr-FR" sz="2400" dirty="0"/>
          </a:p>
        </p:txBody>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303520" y="4956048"/>
            <a:ext cx="512064" cy="512064"/>
          </a:xfrm>
          <a:prstGeom prst="rect">
            <a:avLst/>
          </a:prstGeom>
        </p:spPr>
      </p:pic>
      <p:sp>
        <p:nvSpPr>
          <p:cNvPr id="17" name="Shape 14"/>
          <p:cNvSpPr/>
          <p:nvPr/>
        </p:nvSpPr>
        <p:spPr>
          <a:xfrm>
            <a:off x="6172200" y="4480560"/>
            <a:ext cx="5440680" cy="1463040"/>
          </a:xfrm>
          <a:prstGeom prst="roundRect">
            <a:avLst>
              <a:gd name="adj" fmla="val 9375"/>
            </a:avLst>
          </a:prstGeom>
          <a:solidFill>
            <a:srgbClr val="262E3F"/>
          </a:solidFill>
          <a:ln/>
        </p:spPr>
      </p:sp>
      <p:sp>
        <p:nvSpPr>
          <p:cNvPr id="18" name="Shape 15"/>
          <p:cNvSpPr/>
          <p:nvPr/>
        </p:nvSpPr>
        <p:spPr>
          <a:xfrm>
            <a:off x="6355080" y="4709160"/>
            <a:ext cx="1005840" cy="1005840"/>
          </a:xfrm>
          <a:prstGeom prst="roundRect">
            <a:avLst>
              <a:gd name="adj" fmla="val 9091"/>
            </a:avLst>
          </a:prstGeom>
          <a:solidFill>
            <a:srgbClr val="E8B21E"/>
          </a:solidFill>
          <a:ln/>
        </p:spPr>
      </p:sp>
      <p:sp>
        <p:nvSpPr>
          <p:cNvPr id="19"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alpha val="40000"/>
                  </a:srgbClr>
                </a:solidFill>
                <a:latin typeface="Calibri" pitchFamily="34" charset="0"/>
                <a:ea typeface="Calibri" pitchFamily="34" charset="-122"/>
                <a:cs typeface="Calibri" pitchFamily="34" charset="-120"/>
              </a:rPr>
              <a:t>D</a:t>
            </a:r>
            <a:endParaRPr lang="fr-FR" sz="4000" dirty="0"/>
          </a:p>
        </p:txBody>
      </p:sp>
      <p:sp>
        <p:nvSpPr>
          <p:cNvPr id="20"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Une licence développeur</a:t>
            </a:r>
            <a:endParaRPr lang="fr-FR" sz="2400" dirty="0"/>
          </a:p>
        </p:txBody>
      </p:sp>
      <p:sp>
        <p:nvSpPr>
          <p:cNvPr id="21"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2"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48</a:t>
            </a:r>
            <a:endParaRPr lang="fr-FR"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Pour vous aider à créer une skill, Claude s'appuie sur…</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9 / 9</a:t>
            </a:r>
            <a:endParaRPr lang="fr-FR" sz="2000" dirty="0"/>
          </a:p>
        </p:txBody>
      </p:sp>
      <p:sp>
        <p:nvSpPr>
          <p:cNvPr id="4" name="Shape 2"/>
          <p:cNvSpPr/>
          <p:nvPr/>
        </p:nvSpPr>
        <p:spPr>
          <a:xfrm>
            <a:off x="548640" y="2788920"/>
            <a:ext cx="5440680" cy="1463040"/>
          </a:xfrm>
          <a:prstGeom prst="roundRect">
            <a:avLst>
              <a:gd name="adj" fmla="val 9375"/>
            </a:avLst>
          </a:prstGeom>
          <a:solidFill>
            <a:srgbClr val="2C3446"/>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brand-guidelines</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skill-creator</a:t>
            </a:r>
            <a:endParaRPr lang="fr-FR" sz="2400" dirty="0"/>
          </a:p>
        </p:txBody>
      </p:sp>
      <p:sp>
        <p:nvSpPr>
          <p:cNvPr id="12" name="Shape 10"/>
          <p:cNvSpPr/>
          <p:nvPr/>
        </p:nvSpPr>
        <p:spPr>
          <a:xfrm>
            <a:off x="548640" y="4480560"/>
            <a:ext cx="5440680" cy="1463040"/>
          </a:xfrm>
          <a:prstGeom prst="roundRect">
            <a:avLst>
              <a:gd name="adj" fmla="val 9375"/>
            </a:avLst>
          </a:prstGeom>
          <a:solidFill>
            <a:srgbClr val="2C3446"/>
          </a:solidFill>
          <a:ln/>
        </p:spPr>
      </p:sp>
      <p:sp>
        <p:nvSpPr>
          <p:cNvPr id="13" name="Shape 11"/>
          <p:cNvSpPr/>
          <p:nvPr/>
        </p:nvSpPr>
        <p:spPr>
          <a:xfrm>
            <a:off x="731520" y="4709160"/>
            <a:ext cx="1005840" cy="1005840"/>
          </a:xfrm>
          <a:prstGeom prst="roundRect">
            <a:avLst>
              <a:gd name="adj" fmla="val 9091"/>
            </a:avLst>
          </a:prstGeom>
          <a:solidFill>
            <a:srgbClr val="1F7A50"/>
          </a:solidFill>
          <a:ln/>
        </p:spPr>
      </p:sp>
      <p:sp>
        <p:nvSpPr>
          <p:cNvPr id="14"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C</a:t>
            </a:r>
            <a:endParaRPr lang="fr-FR" sz="4000" dirty="0"/>
          </a:p>
        </p:txBody>
      </p:sp>
      <p:sp>
        <p:nvSpPr>
          <p:cNvPr id="15"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docx</a:t>
            </a:r>
            <a:endParaRPr lang="fr-FR" sz="2400" dirty="0"/>
          </a:p>
        </p:txBody>
      </p:sp>
      <p:sp>
        <p:nvSpPr>
          <p:cNvPr id="16" name="Shape 14"/>
          <p:cNvSpPr/>
          <p:nvPr/>
        </p:nvSpPr>
        <p:spPr>
          <a:xfrm>
            <a:off x="6172200" y="4480560"/>
            <a:ext cx="5440680" cy="1463040"/>
          </a:xfrm>
          <a:prstGeom prst="roundRect">
            <a:avLst>
              <a:gd name="adj" fmla="val 9375"/>
            </a:avLst>
          </a:prstGeom>
          <a:solidFill>
            <a:srgbClr val="2C3446"/>
          </a:solidFill>
          <a:ln/>
        </p:spPr>
      </p:sp>
      <p:sp>
        <p:nvSpPr>
          <p:cNvPr id="17" name="Shape 15"/>
          <p:cNvSpPr/>
          <p:nvPr/>
        </p:nvSpPr>
        <p:spPr>
          <a:xfrm>
            <a:off x="6355080" y="4709160"/>
            <a:ext cx="1005840" cy="1005840"/>
          </a:xfrm>
          <a:prstGeom prst="roundRect">
            <a:avLst>
              <a:gd name="adj" fmla="val 9091"/>
            </a:avLst>
          </a:prstGeom>
          <a:solidFill>
            <a:srgbClr val="E8B21E"/>
          </a:solidFill>
          <a:ln/>
        </p:spPr>
      </p:sp>
      <p:sp>
        <p:nvSpPr>
          <p:cNvPr id="18"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solidFill>
                <a:latin typeface="Calibri" pitchFamily="34" charset="0"/>
                <a:ea typeface="Calibri" pitchFamily="34" charset="-122"/>
                <a:cs typeface="Calibri" pitchFamily="34" charset="-120"/>
              </a:rPr>
              <a:t>D</a:t>
            </a:r>
            <a:endParaRPr lang="fr-FR" sz="4000" dirty="0"/>
          </a:p>
        </p:txBody>
      </p:sp>
      <p:sp>
        <p:nvSpPr>
          <p:cNvPr id="19"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FFFFFF"/>
                </a:solidFill>
                <a:latin typeface="Calibri" pitchFamily="34" charset="0"/>
                <a:ea typeface="Calibri" pitchFamily="34" charset="-122"/>
                <a:cs typeface="Calibri" pitchFamily="34" charset="-120"/>
              </a:rPr>
              <a:t>Rien, il improvise</a:t>
            </a:r>
            <a:endParaRPr lang="fr-FR" sz="2400" dirty="0"/>
          </a:p>
        </p:txBody>
      </p:sp>
      <p:sp>
        <p:nvSpPr>
          <p:cNvPr id="20"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1"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49</a:t>
            </a:r>
            <a:endParaRPr lang="fr-FR"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B2233"/>
        </a:solidFill>
      </p:bgPr>
    </p:bg>
    <p:spTree>
      <p:nvGrpSpPr>
        <p:cNvPr id="1" name=""/>
        <p:cNvGrpSpPr/>
        <p:nvPr/>
      </p:nvGrpSpPr>
      <p:grpSpPr>
        <a:xfrm>
          <a:off x="0" y="0"/>
          <a:ext cx="0" cy="0"/>
          <a:chOff x="0" y="0"/>
          <a:chExt cx="0" cy="0"/>
        </a:xfrm>
      </p:grpSpPr>
      <p:sp>
        <p:nvSpPr>
          <p:cNvPr id="3" name="Titre"/>
          <p:cNvSpPr>
            <a:spLocks noGrp="1"/>
          </p:cNvSpPr>
          <p:nvPr>
            <p:ph type="title"/>
          </p:nvPr>
        </p:nvSpPr>
        <p:spPr>
          <a:xfrm>
            <a:off x="457200" y="1234440"/>
            <a:ext cx="11277295" cy="1280160"/>
          </a:xfrm>
          <a:prstGeom prst="rect">
            <a:avLst/>
          </a:prstGeom>
          <a:noFill/>
          <a:ln/>
        </p:spPr>
        <p:txBody>
          <a:bodyPr wrap="square" lIns="0" tIns="0" rIns="0" bIns="0" rtlCol="0" anchor="ctr">
            <a:normAutofit/>
          </a:bodyPr>
          <a:lstStyle/>
          <a:p>
            <a:pPr algn="l" indent="0" marL="0">
              <a:buNone/>
            </a:pPr>
            <a:r>
              <a:rPr lang="fr-FR" altLang="en-US" sz="3600" b="1" dirty="0">
                <a:solidFill>
                  <a:srgbClr val="FFFFFF"/>
                </a:solidFill>
                <a:latin typeface="Calibri" pitchFamily="34" charset="0"/>
                <a:ea typeface="Calibri" pitchFamily="34" charset="-122"/>
                <a:cs typeface="Calibri" pitchFamily="34" charset="-120"/>
              </a:rPr>
              <a:t>Pour vous aider à créer une skill, Claude s'appuie sur…</a:t>
            </a:r>
            <a:endParaRPr lang="fr-FR" sz="3600" dirty="0"/>
          </a:p>
        </p:txBody>
      </p:sp>
      <p:sp>
        <p:nvSpPr>
          <p:cNvPr id="2" name="Text 0"/>
          <p:cNvSpPr txBox="1"/>
          <p:nvPr/>
        </p:nvSpPr>
        <p:spPr>
          <a:xfrm>
            <a:off x="457200" y="411480"/>
            <a:ext cx="3657600" cy="420624"/>
          </a:xfrm>
          <a:prstGeom prst="rect">
            <a:avLst/>
          </a:prstGeom>
          <a:noFill/>
          <a:ln/>
        </p:spPr>
        <p:txBody>
          <a:bodyPr wrap="square" lIns="0" tIns="0" rIns="0" bIns="0" rtlCol="0" anchor="ctr"/>
          <a:lstStyle/>
          <a:p>
            <a:pPr indent="0" marL="0">
              <a:buNone/>
            </a:pPr>
            <a:r>
              <a:rPr lang="fr-FR" altLang="en-US" sz="2000" b="1" dirty="0">
                <a:solidFill>
                  <a:srgbClr val="E57AA3"/>
                </a:solidFill>
                <a:latin typeface="Calibri" pitchFamily="34" charset="0"/>
                <a:ea typeface="Calibri" pitchFamily="34" charset="-122"/>
                <a:cs typeface="Calibri" pitchFamily="34" charset="-120"/>
              </a:rPr>
              <a:t>Question 9 / 9</a:t>
            </a:r>
            <a:endParaRPr lang="fr-FR" sz="2000" dirty="0"/>
          </a:p>
        </p:txBody>
      </p:sp>
      <p:sp>
        <p:nvSpPr>
          <p:cNvPr id="4" name="Shape 2"/>
          <p:cNvSpPr/>
          <p:nvPr/>
        </p:nvSpPr>
        <p:spPr>
          <a:xfrm>
            <a:off x="548640" y="2788920"/>
            <a:ext cx="5440680" cy="1463040"/>
          </a:xfrm>
          <a:prstGeom prst="roundRect">
            <a:avLst>
              <a:gd name="adj" fmla="val 9375"/>
            </a:avLst>
          </a:prstGeom>
          <a:solidFill>
            <a:srgbClr val="262E3F"/>
          </a:solidFill>
          <a:ln/>
        </p:spPr>
      </p:sp>
      <p:sp>
        <p:nvSpPr>
          <p:cNvPr id="5" name="Shape 3"/>
          <p:cNvSpPr/>
          <p:nvPr/>
        </p:nvSpPr>
        <p:spPr>
          <a:xfrm>
            <a:off x="731520" y="3017520"/>
            <a:ext cx="1005840" cy="1005840"/>
          </a:xfrm>
          <a:prstGeom prst="roundRect">
            <a:avLst>
              <a:gd name="adj" fmla="val 9091"/>
            </a:avLst>
          </a:prstGeom>
          <a:solidFill>
            <a:srgbClr val="C8373B"/>
          </a:solidFill>
          <a:ln/>
        </p:spPr>
      </p:sp>
      <p:sp>
        <p:nvSpPr>
          <p:cNvPr id="6" name="Text 4"/>
          <p:cNvSpPr txBox="1"/>
          <p:nvPr/>
        </p:nvSpPr>
        <p:spPr>
          <a:xfrm>
            <a:off x="73152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A</a:t>
            </a:r>
            <a:endParaRPr lang="fr-FR" sz="4000" dirty="0"/>
          </a:p>
        </p:txBody>
      </p:sp>
      <p:sp>
        <p:nvSpPr>
          <p:cNvPr id="7" name="Text 5"/>
          <p:cNvSpPr txBox="1"/>
          <p:nvPr/>
        </p:nvSpPr>
        <p:spPr>
          <a:xfrm>
            <a:off x="1965960" y="278892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brand-guidelines</a:t>
            </a:r>
            <a:endParaRPr lang="fr-FR" sz="2400" dirty="0"/>
          </a:p>
        </p:txBody>
      </p:sp>
      <p:sp>
        <p:nvSpPr>
          <p:cNvPr id="8" name="Shape 6"/>
          <p:cNvSpPr/>
          <p:nvPr/>
        </p:nvSpPr>
        <p:spPr>
          <a:xfrm>
            <a:off x="6172200" y="2788920"/>
            <a:ext cx="5440680" cy="1463040"/>
          </a:xfrm>
          <a:prstGeom prst="roundRect">
            <a:avLst>
              <a:gd name="adj" fmla="val 9375"/>
            </a:avLst>
          </a:prstGeom>
          <a:solidFill>
            <a:srgbClr val="2C3446"/>
          </a:solidFill>
          <a:ln w="50800">
            <a:solidFill>
              <a:srgbClr val="1F7A50"/>
            </a:solidFill>
            <a:prstDash val="solid"/>
          </a:ln>
        </p:spPr>
      </p:sp>
      <p:sp>
        <p:nvSpPr>
          <p:cNvPr id="9" name="Shape 7"/>
          <p:cNvSpPr/>
          <p:nvPr/>
        </p:nvSpPr>
        <p:spPr>
          <a:xfrm>
            <a:off x="6355080" y="3017520"/>
            <a:ext cx="1005840" cy="1005840"/>
          </a:xfrm>
          <a:prstGeom prst="roundRect">
            <a:avLst>
              <a:gd name="adj" fmla="val 9091"/>
            </a:avLst>
          </a:prstGeom>
          <a:solidFill>
            <a:srgbClr val="2F5FC4"/>
          </a:solidFill>
          <a:ln/>
        </p:spPr>
      </p:sp>
      <p:sp>
        <p:nvSpPr>
          <p:cNvPr id="10" name="Text 8"/>
          <p:cNvSpPr txBox="1"/>
          <p:nvPr/>
        </p:nvSpPr>
        <p:spPr>
          <a:xfrm>
            <a:off x="6355080" y="301752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solidFill>
                <a:latin typeface="Calibri" pitchFamily="34" charset="0"/>
                <a:ea typeface="Calibri" pitchFamily="34" charset="-122"/>
                <a:cs typeface="Calibri" pitchFamily="34" charset="-120"/>
              </a:rPr>
              <a:t>B</a:t>
            </a:r>
            <a:endParaRPr lang="fr-FR" sz="4000" dirty="0"/>
          </a:p>
        </p:txBody>
      </p:sp>
      <p:sp>
        <p:nvSpPr>
          <p:cNvPr id="11" name="Text 9"/>
          <p:cNvSpPr txBox="1"/>
          <p:nvPr/>
        </p:nvSpPr>
        <p:spPr>
          <a:xfrm>
            <a:off x="7589520" y="2788920"/>
            <a:ext cx="3383280" cy="14630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skill-creator</a:t>
            </a:r>
            <a:endParaRPr lang="fr-FR" sz="2400" dirty="0"/>
          </a:p>
        </p:txBody>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927080" y="3264408"/>
            <a:ext cx="512064" cy="512064"/>
          </a:xfrm>
          <a:prstGeom prst="rect">
            <a:avLst/>
          </a:prstGeom>
        </p:spPr>
      </p:pic>
      <p:sp>
        <p:nvSpPr>
          <p:cNvPr id="13" name="Shape 10"/>
          <p:cNvSpPr/>
          <p:nvPr/>
        </p:nvSpPr>
        <p:spPr>
          <a:xfrm>
            <a:off x="548640" y="4480560"/>
            <a:ext cx="5440680" cy="1463040"/>
          </a:xfrm>
          <a:prstGeom prst="roundRect">
            <a:avLst>
              <a:gd name="adj" fmla="val 9375"/>
            </a:avLst>
          </a:prstGeom>
          <a:solidFill>
            <a:srgbClr val="262E3F"/>
          </a:solidFill>
          <a:ln/>
        </p:spPr>
      </p:sp>
      <p:sp>
        <p:nvSpPr>
          <p:cNvPr id="14" name="Shape 11"/>
          <p:cNvSpPr/>
          <p:nvPr/>
        </p:nvSpPr>
        <p:spPr>
          <a:xfrm>
            <a:off x="731520" y="4709160"/>
            <a:ext cx="1005840" cy="1005840"/>
          </a:xfrm>
          <a:prstGeom prst="roundRect">
            <a:avLst>
              <a:gd name="adj" fmla="val 9091"/>
            </a:avLst>
          </a:prstGeom>
          <a:solidFill>
            <a:srgbClr val="1F7A50"/>
          </a:solidFill>
          <a:ln/>
        </p:spPr>
      </p:sp>
      <p:sp>
        <p:nvSpPr>
          <p:cNvPr id="15" name="Text 12"/>
          <p:cNvSpPr txBox="1"/>
          <p:nvPr/>
        </p:nvSpPr>
        <p:spPr>
          <a:xfrm>
            <a:off x="73152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FFFFFF">
                    <a:alpha val="40000"/>
                  </a:srgbClr>
                </a:solidFill>
                <a:latin typeface="Calibri" pitchFamily="34" charset="0"/>
                <a:ea typeface="Calibri" pitchFamily="34" charset="-122"/>
                <a:cs typeface="Calibri" pitchFamily="34" charset="-120"/>
              </a:rPr>
              <a:t>C</a:t>
            </a:r>
            <a:endParaRPr lang="fr-FR" sz="4000" dirty="0"/>
          </a:p>
        </p:txBody>
      </p:sp>
      <p:sp>
        <p:nvSpPr>
          <p:cNvPr id="16" name="Text 13"/>
          <p:cNvSpPr txBox="1"/>
          <p:nvPr/>
        </p:nvSpPr>
        <p:spPr>
          <a:xfrm>
            <a:off x="196596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docx</a:t>
            </a:r>
            <a:endParaRPr lang="fr-FR" sz="2400" dirty="0"/>
          </a:p>
        </p:txBody>
      </p:sp>
      <p:sp>
        <p:nvSpPr>
          <p:cNvPr id="17" name="Shape 14"/>
          <p:cNvSpPr/>
          <p:nvPr/>
        </p:nvSpPr>
        <p:spPr>
          <a:xfrm>
            <a:off x="6172200" y="4480560"/>
            <a:ext cx="5440680" cy="1463040"/>
          </a:xfrm>
          <a:prstGeom prst="roundRect">
            <a:avLst>
              <a:gd name="adj" fmla="val 9375"/>
            </a:avLst>
          </a:prstGeom>
          <a:solidFill>
            <a:srgbClr val="262E3F"/>
          </a:solidFill>
          <a:ln/>
        </p:spPr>
      </p:sp>
      <p:sp>
        <p:nvSpPr>
          <p:cNvPr id="18" name="Shape 15"/>
          <p:cNvSpPr/>
          <p:nvPr/>
        </p:nvSpPr>
        <p:spPr>
          <a:xfrm>
            <a:off x="6355080" y="4709160"/>
            <a:ext cx="1005840" cy="1005840"/>
          </a:xfrm>
          <a:prstGeom prst="roundRect">
            <a:avLst>
              <a:gd name="adj" fmla="val 9091"/>
            </a:avLst>
          </a:prstGeom>
          <a:solidFill>
            <a:srgbClr val="E8B21E"/>
          </a:solidFill>
          <a:ln/>
        </p:spPr>
      </p:sp>
      <p:sp>
        <p:nvSpPr>
          <p:cNvPr id="19" name="Text 16"/>
          <p:cNvSpPr txBox="1"/>
          <p:nvPr/>
        </p:nvSpPr>
        <p:spPr>
          <a:xfrm>
            <a:off x="6355080" y="4709160"/>
            <a:ext cx="1005840" cy="1005840"/>
          </a:xfrm>
          <a:prstGeom prst="rect">
            <a:avLst/>
          </a:prstGeom>
          <a:noFill/>
          <a:ln/>
        </p:spPr>
        <p:txBody>
          <a:bodyPr wrap="square" lIns="0" tIns="0" rIns="0" bIns="0" rtlCol="0" anchor="ctr"/>
          <a:lstStyle/>
          <a:p>
            <a:pPr algn="ctr" indent="0" marL="0">
              <a:buNone/>
            </a:pPr>
            <a:r>
              <a:rPr lang="fr-FR" altLang="en-US" sz="4000" b="1" dirty="0">
                <a:solidFill>
                  <a:srgbClr val="1B2233">
                    <a:alpha val="40000"/>
                  </a:srgbClr>
                </a:solidFill>
                <a:latin typeface="Calibri" pitchFamily="34" charset="0"/>
                <a:ea typeface="Calibri" pitchFamily="34" charset="-122"/>
                <a:cs typeface="Calibri" pitchFamily="34" charset="-120"/>
              </a:rPr>
              <a:t>D</a:t>
            </a:r>
            <a:endParaRPr lang="fr-FR" sz="4000" dirty="0"/>
          </a:p>
        </p:txBody>
      </p:sp>
      <p:sp>
        <p:nvSpPr>
          <p:cNvPr id="20" name="Text 17"/>
          <p:cNvSpPr txBox="1"/>
          <p:nvPr/>
        </p:nvSpPr>
        <p:spPr>
          <a:xfrm>
            <a:off x="7589520" y="4480560"/>
            <a:ext cx="3383280" cy="1463040"/>
          </a:xfrm>
          <a:prstGeom prst="rect">
            <a:avLst/>
          </a:prstGeom>
          <a:noFill/>
          <a:ln/>
        </p:spPr>
        <p:txBody>
          <a:bodyPr wrap="square" lIns="0" tIns="0" rIns="0" bIns="0" rtlCol="0" anchor="ctr"/>
          <a:lstStyle/>
          <a:p>
            <a:pPr indent="0" marL="0">
              <a:buNone/>
            </a:pPr>
            <a:r>
              <a:rPr lang="fr-FR" altLang="en-US" sz="2400" dirty="0">
                <a:solidFill>
                  <a:srgbClr val="8A91A0"/>
                </a:solidFill>
                <a:latin typeface="Calibri" pitchFamily="34" charset="0"/>
                <a:ea typeface="Calibri" pitchFamily="34" charset="-122"/>
                <a:cs typeface="Calibri" pitchFamily="34" charset="-120"/>
              </a:rPr>
              <a:t>Rien, il improvise</a:t>
            </a:r>
            <a:endParaRPr lang="fr-FR" sz="2400" dirty="0"/>
          </a:p>
        </p:txBody>
      </p:sp>
      <p:sp>
        <p:nvSpPr>
          <p:cNvPr id="21" name="Text 18"/>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AEB5C2"/>
                </a:solidFill>
                <a:latin typeface="Calibri" pitchFamily="34" charset="0"/>
                <a:ea typeface="Calibri" pitchFamily="34" charset="-122"/>
                <a:cs typeface="Calibri" pitchFamily="34" charset="-120"/>
              </a:rPr>
              <a:t>Stéphane Bayle  ·  Quiz</a:t>
            </a:r>
            <a:endParaRPr lang="fr-FR" sz="1400" dirty="0"/>
          </a:p>
        </p:txBody>
      </p:sp>
      <p:sp>
        <p:nvSpPr>
          <p:cNvPr id="22" name="Text 19"/>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AEB5C2"/>
                </a:solidFill>
                <a:latin typeface="Calibri" pitchFamily="34" charset="0"/>
                <a:ea typeface="Calibri" pitchFamily="34" charset="-122"/>
                <a:cs typeface="Calibri" pitchFamily="34" charset="-120"/>
              </a:rPr>
              <a:t>50</a:t>
            </a:r>
            <a:endParaRPr lang="fr-FR"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457200" y="502920"/>
            <a:ext cx="11277295" cy="914400"/>
          </a:xfrm>
          <a:prstGeom prst="rect">
            <a:avLst/>
          </a:prstGeom>
          <a:noFill/>
          <a:ln/>
        </p:spPr>
        <p:txBody>
          <a:bodyPr wrap="square" lIns="0" tIns="0" rIns="0" bIns="0" rtlCol="0" anchor="ctr">
            <a:normAutofit/>
          </a:bodyPr>
          <a:lstStyle/>
          <a:p>
            <a:pPr algn="l" indent="0" marL="0">
              <a:buNone/>
            </a:pPr>
            <a:r>
              <a:rPr lang="fr-FR" altLang="en-US" sz="4000" b="1" dirty="0">
                <a:solidFill>
                  <a:srgbClr val="1B2233"/>
                </a:solidFill>
                <a:latin typeface="Calibri" pitchFamily="34" charset="0"/>
                <a:ea typeface="Calibri" pitchFamily="34" charset="-122"/>
                <a:cs typeface="Calibri" pitchFamily="34" charset="-120"/>
              </a:rPr>
              <a:t>À retenir</a:t>
            </a:r>
            <a:endParaRPr lang="fr-FR" sz="4000" dirty="0"/>
          </a:p>
        </p:txBody>
      </p:sp>
      <p:sp>
        <p:nvSpPr>
          <p:cNvPr id="3" name="Text 1"/>
          <p:cNvSpPr txBox="1"/>
          <p:nvPr/>
        </p:nvSpPr>
        <p:spPr>
          <a:xfrm>
            <a:off x="548640" y="1691640"/>
            <a:ext cx="914400" cy="1280160"/>
          </a:xfrm>
          <a:prstGeom prst="rect">
            <a:avLst/>
          </a:prstGeom>
          <a:noFill/>
          <a:ln/>
        </p:spPr>
        <p:txBody>
          <a:bodyPr wrap="square" lIns="0" tIns="0" rIns="0" bIns="0" rtlCol="0" anchor="ctr"/>
          <a:lstStyle/>
          <a:p>
            <a:pPr indent="0" marL="0">
              <a:buNone/>
            </a:pPr>
            <a:r>
              <a:rPr lang="fr-FR" altLang="en-US" sz="7200" b="1" dirty="0">
                <a:solidFill>
                  <a:srgbClr val="B8235A"/>
                </a:solidFill>
                <a:latin typeface="Calibri" pitchFamily="34" charset="0"/>
                <a:ea typeface="Calibri" pitchFamily="34" charset="-122"/>
                <a:cs typeface="Calibri" pitchFamily="34" charset="-120"/>
              </a:rPr>
              <a:t>1</a:t>
            </a:r>
            <a:endParaRPr lang="fr-FR" sz="7200" dirty="0"/>
          </a:p>
        </p:txBody>
      </p:sp>
      <p:sp>
        <p:nvSpPr>
          <p:cNvPr id="4" name="Text 2"/>
          <p:cNvSpPr txBox="1"/>
          <p:nvPr/>
        </p:nvSpPr>
        <p:spPr>
          <a:xfrm>
            <a:off x="1508760" y="1691640"/>
            <a:ext cx="4480560" cy="1280160"/>
          </a:xfrm>
          <a:prstGeom prst="rect">
            <a:avLst/>
          </a:prstGeom>
          <a:noFill/>
          <a:ln/>
        </p:spPr>
        <p:txBody>
          <a:bodyPr wrap="square" lIns="0" tIns="0" rIns="0" bIns="0" rtlCol="0" anchor="ctr"/>
          <a:lstStyle/>
          <a:p>
            <a:pPr indent="0" marL="0">
              <a:buNone/>
            </a:pPr>
            <a:r>
              <a:rPr lang="fr-FR" altLang="en-US" sz="2600" b="1" dirty="0">
                <a:solidFill>
                  <a:srgbClr val="1B2233"/>
                </a:solidFill>
                <a:latin typeface="Calibri" pitchFamily="34" charset="0"/>
                <a:ea typeface="Calibri" pitchFamily="34" charset="-122"/>
                <a:cs typeface="Calibri" pitchFamily="34" charset="-120"/>
              </a:rPr>
              <a:t>Une skill = un savoir-faire rangé</a:t>
            </a:r>
            <a:endParaRPr lang="fr-FR" sz="2600" dirty="0"/>
          </a:p>
        </p:txBody>
      </p:sp>
      <p:sp>
        <p:nvSpPr>
          <p:cNvPr id="5" name="Text 3"/>
          <p:cNvSpPr txBox="1"/>
          <p:nvPr/>
        </p:nvSpPr>
        <p:spPr>
          <a:xfrm>
            <a:off x="6217920" y="1691640"/>
            <a:ext cx="914400" cy="1280160"/>
          </a:xfrm>
          <a:prstGeom prst="rect">
            <a:avLst/>
          </a:prstGeom>
          <a:noFill/>
          <a:ln/>
        </p:spPr>
        <p:txBody>
          <a:bodyPr wrap="square" lIns="0" tIns="0" rIns="0" bIns="0" rtlCol="0" anchor="ctr"/>
          <a:lstStyle/>
          <a:p>
            <a:pPr indent="0" marL="0">
              <a:buNone/>
            </a:pPr>
            <a:r>
              <a:rPr lang="fr-FR" altLang="en-US" sz="7200" b="1" dirty="0">
                <a:solidFill>
                  <a:srgbClr val="B8235A"/>
                </a:solidFill>
                <a:latin typeface="Calibri" pitchFamily="34" charset="0"/>
                <a:ea typeface="Calibri" pitchFamily="34" charset="-122"/>
                <a:cs typeface="Calibri" pitchFamily="34" charset="-120"/>
              </a:rPr>
              <a:t>2</a:t>
            </a:r>
            <a:endParaRPr lang="fr-FR" sz="7200" dirty="0"/>
          </a:p>
        </p:txBody>
      </p:sp>
      <p:sp>
        <p:nvSpPr>
          <p:cNvPr id="6" name="Text 4"/>
          <p:cNvSpPr txBox="1"/>
          <p:nvPr/>
        </p:nvSpPr>
        <p:spPr>
          <a:xfrm>
            <a:off x="7178040" y="1691640"/>
            <a:ext cx="4480560" cy="1280160"/>
          </a:xfrm>
          <a:prstGeom prst="rect">
            <a:avLst/>
          </a:prstGeom>
          <a:noFill/>
          <a:ln/>
        </p:spPr>
        <p:txBody>
          <a:bodyPr wrap="square" lIns="0" tIns="0" rIns="0" bIns="0" rtlCol="0" anchor="ctr"/>
          <a:lstStyle/>
          <a:p>
            <a:pPr indent="0" marL="0">
              <a:buNone/>
            </a:pPr>
            <a:r>
              <a:rPr lang="fr-FR" altLang="en-US" sz="2600" b="1" dirty="0">
                <a:solidFill>
                  <a:srgbClr val="1B2233"/>
                </a:solidFill>
                <a:latin typeface="Calibri" pitchFamily="34" charset="0"/>
                <a:ea typeface="Calibri" pitchFamily="34" charset="-122"/>
                <a:cs typeface="Calibri" pitchFamily="34" charset="-120"/>
              </a:rPr>
              <a:t>Décrire QUAND, donner un exemple</a:t>
            </a:r>
            <a:endParaRPr lang="fr-FR" sz="2600" dirty="0"/>
          </a:p>
        </p:txBody>
      </p:sp>
      <p:sp>
        <p:nvSpPr>
          <p:cNvPr id="7" name="Text 5"/>
          <p:cNvSpPr txBox="1"/>
          <p:nvPr/>
        </p:nvSpPr>
        <p:spPr>
          <a:xfrm>
            <a:off x="548640" y="3291840"/>
            <a:ext cx="914400" cy="1280160"/>
          </a:xfrm>
          <a:prstGeom prst="rect">
            <a:avLst/>
          </a:prstGeom>
          <a:noFill/>
          <a:ln/>
        </p:spPr>
        <p:txBody>
          <a:bodyPr wrap="square" lIns="0" tIns="0" rIns="0" bIns="0" rtlCol="0" anchor="ctr"/>
          <a:lstStyle/>
          <a:p>
            <a:pPr indent="0" marL="0">
              <a:buNone/>
            </a:pPr>
            <a:r>
              <a:rPr lang="fr-FR" altLang="en-US" sz="7200" b="1" dirty="0">
                <a:solidFill>
                  <a:srgbClr val="B8235A"/>
                </a:solidFill>
                <a:latin typeface="Calibri" pitchFamily="34" charset="0"/>
                <a:ea typeface="Calibri" pitchFamily="34" charset="-122"/>
                <a:cs typeface="Calibri" pitchFamily="34" charset="-120"/>
              </a:rPr>
              <a:t>3</a:t>
            </a:r>
            <a:endParaRPr lang="fr-FR" sz="7200" dirty="0"/>
          </a:p>
        </p:txBody>
      </p:sp>
      <p:sp>
        <p:nvSpPr>
          <p:cNvPr id="8" name="Text 6"/>
          <p:cNvSpPr txBox="1"/>
          <p:nvPr/>
        </p:nvSpPr>
        <p:spPr>
          <a:xfrm>
            <a:off x="1508760" y="3291840"/>
            <a:ext cx="4480560" cy="1280160"/>
          </a:xfrm>
          <a:prstGeom prst="rect">
            <a:avLst/>
          </a:prstGeom>
          <a:noFill/>
          <a:ln/>
        </p:spPr>
        <p:txBody>
          <a:bodyPr wrap="square" lIns="0" tIns="0" rIns="0" bIns="0" rtlCol="0" anchor="ctr"/>
          <a:lstStyle/>
          <a:p>
            <a:pPr indent="0" marL="0">
              <a:buNone/>
            </a:pPr>
            <a:r>
              <a:rPr lang="fr-FR" altLang="en-US" sz="2600" b="1" dirty="0">
                <a:solidFill>
                  <a:srgbClr val="1B2233"/>
                </a:solidFill>
                <a:latin typeface="Calibri" pitchFamily="34" charset="0"/>
                <a:ea typeface="Calibri" pitchFamily="34" charset="-122"/>
                <a:cs typeface="Calibri" pitchFamily="34" charset="-120"/>
              </a:rPr>
              <a:t>Tester, ajuster, puis partager</a:t>
            </a:r>
            <a:endParaRPr lang="fr-FR" sz="2600" dirty="0"/>
          </a:p>
        </p:txBody>
      </p:sp>
      <p:sp>
        <p:nvSpPr>
          <p:cNvPr id="9" name="Text 7"/>
          <p:cNvSpPr txBox="1"/>
          <p:nvPr/>
        </p:nvSpPr>
        <p:spPr>
          <a:xfrm>
            <a:off x="6217920" y="3291840"/>
            <a:ext cx="914400" cy="1280160"/>
          </a:xfrm>
          <a:prstGeom prst="rect">
            <a:avLst/>
          </a:prstGeom>
          <a:noFill/>
          <a:ln/>
        </p:spPr>
        <p:txBody>
          <a:bodyPr wrap="square" lIns="0" tIns="0" rIns="0" bIns="0" rtlCol="0" anchor="ctr"/>
          <a:lstStyle/>
          <a:p>
            <a:pPr indent="0" marL="0">
              <a:buNone/>
            </a:pPr>
            <a:r>
              <a:rPr lang="fr-FR" altLang="en-US" sz="7200" b="1" dirty="0">
                <a:solidFill>
                  <a:srgbClr val="2F5FC4"/>
                </a:solidFill>
                <a:latin typeface="Calibri" pitchFamily="34" charset="0"/>
                <a:ea typeface="Calibri" pitchFamily="34" charset="-122"/>
                <a:cs typeface="Calibri" pitchFamily="34" charset="-120"/>
              </a:rPr>
              <a:t>4</a:t>
            </a:r>
            <a:endParaRPr lang="fr-FR" sz="7200" dirty="0"/>
          </a:p>
        </p:txBody>
      </p:sp>
      <p:sp>
        <p:nvSpPr>
          <p:cNvPr id="10" name="Text 8"/>
          <p:cNvSpPr txBox="1"/>
          <p:nvPr/>
        </p:nvSpPr>
        <p:spPr>
          <a:xfrm>
            <a:off x="7178040" y="3291840"/>
            <a:ext cx="4480560" cy="1280160"/>
          </a:xfrm>
          <a:prstGeom prst="rect">
            <a:avLst/>
          </a:prstGeom>
          <a:noFill/>
          <a:ln/>
        </p:spPr>
        <p:txBody>
          <a:bodyPr wrap="square" lIns="0" tIns="0" rIns="0" bIns="0" rtlCol="0" anchor="ctr"/>
          <a:lstStyle/>
          <a:p>
            <a:pPr indent="0" marL="0">
              <a:buNone/>
            </a:pPr>
            <a:r>
              <a:rPr lang="fr-FR" altLang="en-US" sz="2600" b="1" dirty="0">
                <a:solidFill>
                  <a:srgbClr val="1B2233"/>
                </a:solidFill>
                <a:latin typeface="Calibri" pitchFamily="34" charset="0"/>
                <a:ea typeface="Calibri" pitchFamily="34" charset="-122"/>
                <a:cs typeface="Calibri" pitchFamily="34" charset="-120"/>
              </a:rPr>
              <a:t>Code : commencez en mode plan</a:t>
            </a:r>
            <a:endParaRPr lang="fr-FR" sz="2600" dirty="0"/>
          </a:p>
        </p:txBody>
      </p:sp>
      <p:sp>
        <p:nvSpPr>
          <p:cNvPr id="11" name="Shape 9"/>
          <p:cNvSpPr/>
          <p:nvPr/>
        </p:nvSpPr>
        <p:spPr>
          <a:xfrm>
            <a:off x="548640" y="5074920"/>
            <a:ext cx="11094415" cy="1005840"/>
          </a:xfrm>
          <a:prstGeom prst="roundRect">
            <a:avLst>
              <a:gd name="adj" fmla="val 18182"/>
            </a:avLst>
          </a:prstGeom>
          <a:solidFill>
            <a:srgbClr val="1B2233"/>
          </a:solidFill>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8680" y="5285232"/>
            <a:ext cx="594360" cy="594360"/>
          </a:xfrm>
          <a:prstGeom prst="rect">
            <a:avLst/>
          </a:prstGeom>
        </p:spPr>
      </p:pic>
      <p:sp>
        <p:nvSpPr>
          <p:cNvPr id="13" name="Text 10"/>
          <p:cNvSpPr txBox="1"/>
          <p:nvPr/>
        </p:nvSpPr>
        <p:spPr>
          <a:xfrm>
            <a:off x="1737360" y="5074920"/>
            <a:ext cx="9601200" cy="1005840"/>
          </a:xfrm>
          <a:prstGeom prst="rect">
            <a:avLst/>
          </a:prstGeom>
          <a:noFill/>
          <a:ln/>
        </p:spPr>
        <p:txBody>
          <a:bodyPr wrap="square" lIns="0" tIns="0" rIns="0" bIns="0" rtlCol="0" anchor="ctr"/>
          <a:lstStyle/>
          <a:p>
            <a:pPr indent="0" marL="0">
              <a:buNone/>
            </a:pPr>
            <a:r>
              <a:rPr lang="fr-FR" altLang="en-US" sz="2400" b="1" dirty="0">
                <a:solidFill>
                  <a:srgbClr val="FFFFFF"/>
                </a:solidFill>
                <a:latin typeface="Calibri" pitchFamily="34" charset="0"/>
                <a:ea typeface="Calibri" pitchFamily="34" charset="-122"/>
                <a:cs typeface="Calibri" pitchFamily="34" charset="-120"/>
              </a:rPr>
              <a:t>Atelier : créez la skill d'une tâche que vous répétez chaque semaine.</a:t>
            </a:r>
            <a:endParaRPr lang="fr-FR" sz="2400" dirty="0"/>
          </a:p>
          <a:p>
            <a:pPr indent="0" marL="0">
              <a:buNone/>
            </a:pPr>
            <a:r>
              <a:rPr lang="fr-FR" altLang="en-US" sz="1800" dirty="0">
                <a:solidFill>
                  <a:srgbClr val="C9CFDA"/>
                </a:solidFill>
                <a:latin typeface="Calibri" pitchFamily="34" charset="0"/>
                <a:ea typeface="Calibri" pitchFamily="34" charset="-122"/>
                <a:cs typeface="Calibri" pitchFamily="34" charset="-120"/>
              </a:rPr>
              <a:t>Supports : github.com/StephaneBayle/creer-une-skill-claude</a:t>
            </a:r>
            <a:endParaRPr lang="fr-FR" sz="2400" dirty="0"/>
          </a:p>
        </p:txBody>
      </p:sp>
      <p:sp>
        <p:nvSpPr>
          <p:cNvPr id="14" name="Text 11"/>
          <p:cNvSpPr txBox="1"/>
          <p:nvPr/>
        </p:nvSpPr>
        <p:spPr>
          <a:xfrm>
            <a:off x="457200" y="6400800"/>
            <a:ext cx="7315200" cy="320040"/>
          </a:xfrm>
          <a:prstGeom prst="rect">
            <a:avLst/>
          </a:prstGeom>
          <a:noFill/>
          <a:ln/>
        </p:spPr>
        <p:txBody>
          <a:bodyPr wrap="square" lIns="0" tIns="0" rIns="0" bIns="0" rtlCol="0" anchor="t"/>
          <a:lstStyle/>
          <a:p>
            <a:pPr indent="0" marL="0">
              <a:buNone/>
            </a:pPr>
            <a:r>
              <a:rPr lang="fr-FR" altLang="en-US" sz="1400" dirty="0">
                <a:solidFill>
                  <a:srgbClr val="5F6878"/>
                </a:solidFill>
                <a:latin typeface="Calibri" pitchFamily="34" charset="0"/>
                <a:ea typeface="Calibri" pitchFamily="34" charset="-122"/>
                <a:cs typeface="Calibri" pitchFamily="34" charset="-120"/>
              </a:rPr>
              <a:t>Stéphane Bayle  ·  Conclusion</a:t>
            </a:r>
            <a:endParaRPr lang="fr-FR" sz="1400" dirty="0"/>
          </a:p>
        </p:txBody>
      </p:sp>
      <p:sp>
        <p:nvSpPr>
          <p:cNvPr id="15" name="Text 12"/>
          <p:cNvSpPr txBox="1"/>
          <p:nvPr/>
        </p:nvSpPr>
        <p:spPr>
          <a:xfrm>
            <a:off x="10820095" y="6400800"/>
            <a:ext cx="914400" cy="320040"/>
          </a:xfrm>
          <a:prstGeom prst="rect">
            <a:avLst/>
          </a:prstGeom>
          <a:noFill/>
          <a:ln/>
        </p:spPr>
        <p:txBody>
          <a:bodyPr wrap="square" lIns="0" tIns="0" rIns="0" bIns="0" rtlCol="0" anchor="t"/>
          <a:lstStyle/>
          <a:p>
            <a:pPr algn="r" indent="0" marL="0">
              <a:buNone/>
            </a:pPr>
            <a:r>
              <a:rPr lang="fr-FR" altLang="en-US" sz="1400" b="1" dirty="0">
                <a:solidFill>
                  <a:srgbClr val="5F6878"/>
                </a:solidFill>
                <a:latin typeface="Calibri" pitchFamily="34" charset="0"/>
                <a:ea typeface="Calibri" pitchFamily="34" charset="-122"/>
                <a:cs typeface="Calibri" pitchFamily="34" charset="-120"/>
              </a:rPr>
              <a:t>51</a:t>
            </a:r>
            <a:endParaRPr lang="fr-FR"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B2233"/>
        </a:solidFill>
      </p:bgPr>
    </p:bg>
    <p:spTree>
      <p:nvGrpSpPr>
        <p:cNvPr id="1" name=""/>
        <p:cNvGrpSpPr/>
        <p:nvPr/>
      </p:nvGrpSpPr>
      <p:grpSpPr>
        <a:xfrm>
          <a:off x="0" y="0"/>
          <a:ext cx="0" cy="0"/>
          <a:chOff x="0" y="0"/>
          <a:chExt cx="0" cy="0"/>
        </a:xfrm>
      </p:grpSpPr>
      <p:sp>
        <p:nvSpPr>
          <p:cNvPr id="2" name="Titre"/>
          <p:cNvSpPr>
            <a:spLocks noGrp="1"/>
          </p:cNvSpPr>
          <p:nvPr>
            <p:ph type="title"/>
          </p:nvPr>
        </p:nvSpPr>
        <p:spPr>
          <a:xfrm>
            <a:off x="731520" y="548640"/>
            <a:ext cx="5486400" cy="822960"/>
          </a:xfrm>
          <a:prstGeom prst="rect">
            <a:avLst/>
          </a:prstGeom>
          <a:noFill/>
          <a:ln/>
        </p:spPr>
        <p:txBody>
          <a:bodyPr wrap="square" lIns="0" tIns="0" rIns="0" bIns="0" rtlCol="0" anchor="ctr"/>
          <a:lstStyle/>
          <a:p>
            <a:pPr algn="l" indent="0" marL="0">
              <a:buNone/>
            </a:pPr>
            <a:r>
              <a:rPr lang="fr-FR" altLang="en-US" sz="4400" b="1" dirty="0">
                <a:solidFill>
                  <a:srgbClr val="FFFFFF"/>
                </a:solidFill>
                <a:latin typeface="Calibri" pitchFamily="34" charset="0"/>
                <a:ea typeface="Calibri" pitchFamily="34" charset="-122"/>
                <a:cs typeface="Calibri" pitchFamily="34" charset="-120"/>
              </a:rPr>
              <a:t>Restons en contact</a:t>
            </a:r>
            <a:endParaRPr lang="fr-FR" sz="4400" dirty="0"/>
          </a:p>
        </p:txBody>
      </p:sp>
      <p:sp>
        <p:nvSpPr>
          <p:cNvPr id="3" name="Text 1"/>
          <p:cNvSpPr txBox="1"/>
          <p:nvPr/>
        </p:nvSpPr>
        <p:spPr>
          <a:xfrm>
            <a:off x="731520" y="1463040"/>
            <a:ext cx="5486400" cy="640080"/>
          </a:xfrm>
          <a:prstGeom prst="rect">
            <a:avLst/>
          </a:prstGeom>
          <a:noFill/>
          <a:ln/>
        </p:spPr>
        <p:txBody>
          <a:bodyPr wrap="square" lIns="0" tIns="0" rIns="0" bIns="0" rtlCol="0" anchor="t"/>
          <a:lstStyle/>
          <a:p>
            <a:pPr indent="0" marL="0">
              <a:buNone/>
            </a:pPr>
            <a:r>
              <a:rPr lang="fr-FR" altLang="en-US" sz="3200" b="1" dirty="0">
                <a:solidFill>
                  <a:srgbClr val="E57AA3"/>
                </a:solidFill>
                <a:latin typeface="Calibri" pitchFamily="34" charset="0"/>
                <a:ea typeface="Calibri" pitchFamily="34" charset="-122"/>
                <a:cs typeface="Calibri" pitchFamily="34" charset="-120"/>
              </a:rPr>
              <a:t>Stéphane Bayle</a:t>
            </a:r>
            <a:endParaRPr lang="fr-FR" sz="3200" dirty="0"/>
          </a:p>
        </p:txBody>
      </p:sp>
      <p:sp>
        <p:nvSpPr>
          <p:cNvPr id="4" name="Shape 2"/>
          <p:cNvSpPr/>
          <p:nvPr/>
        </p:nvSpPr>
        <p:spPr>
          <a:xfrm>
            <a:off x="731520" y="2377440"/>
            <a:ext cx="594360" cy="594360"/>
          </a:xfrm>
          <a:prstGeom prst="ellipse">
            <a:avLst/>
          </a:prstGeom>
          <a:solidFill>
            <a:srgbClr val="2C3446"/>
          </a:solidFill>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0110" y="2526030"/>
            <a:ext cx="297180" cy="297180"/>
          </a:xfrm>
          <a:prstGeom prst="rect">
            <a:avLst/>
          </a:prstGeom>
        </p:spPr>
      </p:pic>
      <p:sp>
        <p:nvSpPr>
          <p:cNvPr id="6" name="Text 3"/>
          <p:cNvSpPr txBox="1"/>
          <p:nvPr/>
        </p:nvSpPr>
        <p:spPr>
          <a:xfrm>
            <a:off x="1554480" y="2377440"/>
            <a:ext cx="4572000" cy="594360"/>
          </a:xfrm>
          <a:prstGeom prst="rect">
            <a:avLst/>
          </a:prstGeom>
          <a:noFill/>
          <a:ln/>
        </p:spPr>
        <p:txBody>
          <a:bodyPr wrap="square" lIns="0" tIns="0" rIns="0" bIns="0" rtlCol="0" anchor="ctr"/>
          <a:lstStyle/>
          <a:p>
            <a:pPr indent="0" marL="0">
              <a:buNone/>
            </a:pPr>
            <a:r>
              <a:rPr lang="fr-FR" altLang="en-US" sz="2200" dirty="0">
                <a:solidFill>
                  <a:srgbClr val="FFFFFF"/>
                </a:solidFill>
                <a:latin typeface="Calibri" pitchFamily="34" charset="0"/>
                <a:ea typeface="Calibri" pitchFamily="34" charset="-122"/>
                <a:cs typeface="Calibri" pitchFamily="34" charset="-120"/>
              </a:rPr>
              <a:t>stephane.bayle@gmail.com</a:t>
            </a:r>
            <a:endParaRPr lang="fr-FR" sz="2200" dirty="0"/>
          </a:p>
        </p:txBody>
      </p:sp>
      <p:sp>
        <p:nvSpPr>
          <p:cNvPr id="7" name="Shape 4"/>
          <p:cNvSpPr/>
          <p:nvPr/>
        </p:nvSpPr>
        <p:spPr>
          <a:xfrm>
            <a:off x="731520" y="3154680"/>
            <a:ext cx="594360" cy="594360"/>
          </a:xfrm>
          <a:prstGeom prst="ellipse">
            <a:avLst/>
          </a:prstGeom>
          <a:solidFill>
            <a:srgbClr val="2C3446"/>
          </a:solidFill>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0110" y="3303270"/>
            <a:ext cx="297180" cy="297180"/>
          </a:xfrm>
          <a:prstGeom prst="rect">
            <a:avLst/>
          </a:prstGeom>
        </p:spPr>
      </p:pic>
      <p:sp>
        <p:nvSpPr>
          <p:cNvPr id="9" name="Text 5"/>
          <p:cNvSpPr txBox="1"/>
          <p:nvPr/>
        </p:nvSpPr>
        <p:spPr>
          <a:xfrm>
            <a:off x="1554480" y="3154680"/>
            <a:ext cx="4572000" cy="594360"/>
          </a:xfrm>
          <a:prstGeom prst="rect">
            <a:avLst/>
          </a:prstGeom>
          <a:noFill/>
          <a:ln/>
        </p:spPr>
        <p:txBody>
          <a:bodyPr wrap="square" lIns="0" tIns="0" rIns="0" bIns="0" rtlCol="0" anchor="ctr"/>
          <a:lstStyle/>
          <a:p>
            <a:pPr indent="0" marL="0">
              <a:buNone/>
            </a:pPr>
            <a:r>
              <a:rPr lang="fr-FR" altLang="en-US" sz="2200" dirty="0">
                <a:solidFill>
                  <a:srgbClr val="FFFFFF"/>
                </a:solidFill>
                <a:latin typeface="Calibri" pitchFamily="34" charset="0"/>
                <a:ea typeface="Calibri" pitchFamily="34" charset="-122"/>
                <a:cs typeface="Calibri" pitchFamily="34" charset="-120"/>
              </a:rPr>
              <a:t>linkedin.com/in/stephanebayle</a:t>
            </a:r>
            <a:endParaRPr lang="fr-FR" sz="2200" dirty="0"/>
          </a:p>
        </p:txBody>
      </p:sp>
      <p:sp>
        <p:nvSpPr>
          <p:cNvPr id="10" name="Shape 6"/>
          <p:cNvSpPr/>
          <p:nvPr/>
        </p:nvSpPr>
        <p:spPr>
          <a:xfrm>
            <a:off x="731520" y="3931920"/>
            <a:ext cx="594360" cy="594360"/>
          </a:xfrm>
          <a:prstGeom prst="ellipse">
            <a:avLst/>
          </a:prstGeom>
          <a:solidFill>
            <a:srgbClr val="2C3446"/>
          </a:solidFill>
          <a:ln/>
        </p:spPr>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0110" y="4080510"/>
            <a:ext cx="297180" cy="297180"/>
          </a:xfrm>
          <a:prstGeom prst="rect">
            <a:avLst/>
          </a:prstGeom>
        </p:spPr>
      </p:pic>
      <p:sp>
        <p:nvSpPr>
          <p:cNvPr id="12" name="Text 7"/>
          <p:cNvSpPr txBox="1"/>
          <p:nvPr/>
        </p:nvSpPr>
        <p:spPr>
          <a:xfrm>
            <a:off x="1554480" y="3931920"/>
            <a:ext cx="4572000" cy="594360"/>
          </a:xfrm>
          <a:prstGeom prst="rect">
            <a:avLst/>
          </a:prstGeom>
          <a:noFill/>
          <a:ln/>
        </p:spPr>
        <p:txBody>
          <a:bodyPr wrap="square" lIns="0" tIns="0" rIns="0" bIns="0" rtlCol="0" anchor="ctr"/>
          <a:lstStyle/>
          <a:p>
            <a:pPr indent="0" marL="0">
              <a:buNone/>
            </a:pPr>
            <a:r>
              <a:rPr lang="fr-FR" altLang="en-US" sz="2200" dirty="0">
                <a:solidFill>
                  <a:srgbClr val="FFFFFF"/>
                </a:solidFill>
                <a:latin typeface="Calibri" pitchFamily="34" charset="0"/>
                <a:ea typeface="Calibri" pitchFamily="34" charset="-122"/>
                <a:cs typeface="Calibri" pitchFamily="34" charset="-120"/>
              </a:rPr>
              <a:t>github.com/StephaneBayle</a:t>
            </a:r>
            <a:endParaRPr lang="fr-FR" sz="2200" dirty="0"/>
          </a:p>
        </p:txBody>
      </p:sp>
      <p:sp>
        <p:nvSpPr>
          <p:cNvPr id="13" name="Shape 8"/>
          <p:cNvSpPr/>
          <p:nvPr/>
        </p:nvSpPr>
        <p:spPr>
          <a:xfrm>
            <a:off x="676656" y="4754880"/>
            <a:ext cx="1298448" cy="1298448"/>
          </a:xfrm>
          <a:prstGeom prst="roundRect">
            <a:avLst>
              <a:gd name="adj" fmla="val 5634"/>
            </a:avLst>
          </a:prstGeom>
          <a:solidFill>
            <a:srgbClr val="FFFFFF"/>
          </a:solidFill>
          <a:ln/>
        </p:spPr>
      </p:sp>
      <p:pic>
        <p:nvPicPr>
          <p:cNvPr id="14" name="Image 3" descr="QR code : LinkedIn (https://www.linkedin.com/in/stephanebayle/)">    </p:cNvPr>
          <p:cNvPicPr>
            <a:picLocks noChangeAspect="1"/>
          </p:cNvPicPr>
          <p:nvPr/>
        </p:nvPicPr>
        <p:blipFill>
          <a:blip r:embed="rId4"/>
          <a:stretch>
            <a:fillRect/>
          </a:stretch>
        </p:blipFill>
        <p:spPr>
          <a:xfrm>
            <a:off x="731520" y="4809744"/>
            <a:ext cx="1188720" cy="1188720"/>
          </a:xfrm>
          <a:prstGeom prst="rect">
            <a:avLst/>
          </a:prstGeom>
        </p:spPr>
      </p:pic>
      <p:sp>
        <p:nvSpPr>
          <p:cNvPr id="15" name="Text 9"/>
          <p:cNvSpPr txBox="1"/>
          <p:nvPr/>
        </p:nvSpPr>
        <p:spPr>
          <a:xfrm>
            <a:off x="457200" y="6144768"/>
            <a:ext cx="1737360" cy="365760"/>
          </a:xfrm>
          <a:prstGeom prst="rect">
            <a:avLst/>
          </a:prstGeom>
          <a:noFill/>
          <a:ln/>
        </p:spPr>
        <p:txBody>
          <a:bodyPr wrap="square" lIns="0" tIns="0" rIns="0" bIns="0" rtlCol="0" anchor="t"/>
          <a:lstStyle/>
          <a:p>
            <a:pPr algn="ctr" indent="0" marL="0">
              <a:buNone/>
            </a:pPr>
            <a:r>
              <a:rPr lang="fr-FR" altLang="en-US" sz="1600" b="1" dirty="0">
                <a:solidFill>
                  <a:srgbClr val="C9CFDA"/>
                </a:solidFill>
                <a:latin typeface="Calibri" pitchFamily="34" charset="0"/>
                <a:ea typeface="Calibri" pitchFamily="34" charset="-122"/>
                <a:cs typeface="Calibri" pitchFamily="34" charset="-120"/>
              </a:rPr>
              <a:t>LinkedIn</a:t>
            </a:r>
            <a:endParaRPr lang="fr-FR" sz="1600" dirty="0"/>
          </a:p>
        </p:txBody>
      </p:sp>
      <p:sp>
        <p:nvSpPr>
          <p:cNvPr id="16" name="Shape 10"/>
          <p:cNvSpPr/>
          <p:nvPr/>
        </p:nvSpPr>
        <p:spPr>
          <a:xfrm>
            <a:off x="2459736" y="4754880"/>
            <a:ext cx="1298448" cy="1298448"/>
          </a:xfrm>
          <a:prstGeom prst="roundRect">
            <a:avLst>
              <a:gd name="adj" fmla="val 5634"/>
            </a:avLst>
          </a:prstGeom>
          <a:solidFill>
            <a:srgbClr val="FFFFFF"/>
          </a:solidFill>
          <a:ln/>
        </p:spPr>
      </p:sp>
      <p:pic>
        <p:nvPicPr>
          <p:cNvPr id="17" name="Image 4" descr="QR code : GitHub (https://github.com/StephaneBayle)">    </p:cNvPr>
          <p:cNvPicPr>
            <a:picLocks noChangeAspect="1"/>
          </p:cNvPicPr>
          <p:nvPr/>
        </p:nvPicPr>
        <p:blipFill>
          <a:blip r:embed="rId5"/>
          <a:stretch>
            <a:fillRect/>
          </a:stretch>
        </p:blipFill>
        <p:spPr>
          <a:xfrm>
            <a:off x="2514600" y="4809744"/>
            <a:ext cx="1188720" cy="1188720"/>
          </a:xfrm>
          <a:prstGeom prst="rect">
            <a:avLst/>
          </a:prstGeom>
        </p:spPr>
      </p:pic>
      <p:sp>
        <p:nvSpPr>
          <p:cNvPr id="18" name="Text 11"/>
          <p:cNvSpPr txBox="1"/>
          <p:nvPr/>
        </p:nvSpPr>
        <p:spPr>
          <a:xfrm>
            <a:off x="2240280" y="6144768"/>
            <a:ext cx="1737360" cy="365760"/>
          </a:xfrm>
          <a:prstGeom prst="rect">
            <a:avLst/>
          </a:prstGeom>
          <a:noFill/>
          <a:ln/>
        </p:spPr>
        <p:txBody>
          <a:bodyPr wrap="square" lIns="0" tIns="0" rIns="0" bIns="0" rtlCol="0" anchor="t"/>
          <a:lstStyle/>
          <a:p>
            <a:pPr algn="ctr" indent="0" marL="0">
              <a:buNone/>
            </a:pPr>
            <a:r>
              <a:rPr lang="fr-FR" altLang="en-US" sz="1600" b="1" dirty="0">
                <a:solidFill>
                  <a:srgbClr val="C9CFDA"/>
                </a:solidFill>
                <a:latin typeface="Calibri" pitchFamily="34" charset="0"/>
                <a:ea typeface="Calibri" pitchFamily="34" charset="-122"/>
                <a:cs typeface="Calibri" pitchFamily="34" charset="-120"/>
              </a:rPr>
              <a:t>GitHub</a:t>
            </a:r>
            <a:endParaRPr lang="fr-FR" sz="1600" dirty="0"/>
          </a:p>
        </p:txBody>
      </p:sp>
      <p:sp>
        <p:nvSpPr>
          <p:cNvPr id="19" name="Shape 12"/>
          <p:cNvSpPr/>
          <p:nvPr/>
        </p:nvSpPr>
        <p:spPr>
          <a:xfrm>
            <a:off x="4242816" y="4754880"/>
            <a:ext cx="1298448" cy="1298448"/>
          </a:xfrm>
          <a:prstGeom prst="roundRect">
            <a:avLst>
              <a:gd name="adj" fmla="val 5634"/>
            </a:avLst>
          </a:prstGeom>
          <a:solidFill>
            <a:srgbClr val="FFFFFF"/>
          </a:solidFill>
          <a:ln/>
        </p:spPr>
      </p:sp>
      <p:pic>
        <p:nvPicPr>
          <p:cNvPr id="20" name="Image 5" descr="QR code : Cas Academy (https://academy.claude.com/fr/use-cases/package-your-brand-guidelines-in-a-skill)">    </p:cNvPr>
          <p:cNvPicPr>
            <a:picLocks noChangeAspect="1"/>
          </p:cNvPicPr>
          <p:nvPr/>
        </p:nvPicPr>
        <p:blipFill>
          <a:blip r:embed="rId6"/>
          <a:stretch>
            <a:fillRect/>
          </a:stretch>
        </p:blipFill>
        <p:spPr>
          <a:xfrm>
            <a:off x="4297680" y="4809744"/>
            <a:ext cx="1188720" cy="1188720"/>
          </a:xfrm>
          <a:prstGeom prst="rect">
            <a:avLst/>
          </a:prstGeom>
        </p:spPr>
      </p:pic>
      <p:sp>
        <p:nvSpPr>
          <p:cNvPr id="21" name="Text 13"/>
          <p:cNvSpPr txBox="1"/>
          <p:nvPr/>
        </p:nvSpPr>
        <p:spPr>
          <a:xfrm>
            <a:off x="4023360" y="6144768"/>
            <a:ext cx="1737360" cy="365760"/>
          </a:xfrm>
          <a:prstGeom prst="rect">
            <a:avLst/>
          </a:prstGeom>
          <a:noFill/>
          <a:ln/>
        </p:spPr>
        <p:txBody>
          <a:bodyPr wrap="square" lIns="0" tIns="0" rIns="0" bIns="0" rtlCol="0" anchor="t"/>
          <a:lstStyle/>
          <a:p>
            <a:pPr algn="ctr" indent="0" marL="0">
              <a:buNone/>
            </a:pPr>
            <a:r>
              <a:rPr lang="fr-FR" altLang="en-US" sz="1600" b="1" dirty="0">
                <a:solidFill>
                  <a:srgbClr val="C9CFDA"/>
                </a:solidFill>
                <a:latin typeface="Calibri" pitchFamily="34" charset="0"/>
                <a:ea typeface="Calibri" pitchFamily="34" charset="-122"/>
                <a:cs typeface="Calibri" pitchFamily="34" charset="-120"/>
              </a:rPr>
              <a:t>Cas Academy</a:t>
            </a:r>
            <a:endParaRPr lang="fr-FR" sz="1600" dirty="0"/>
          </a:p>
        </p:txBody>
      </p:sp>
      <p:sp>
        <p:nvSpPr>
          <p:cNvPr id="22" name="Shape 14"/>
          <p:cNvSpPr/>
          <p:nvPr/>
        </p:nvSpPr>
        <p:spPr>
          <a:xfrm>
            <a:off x="6675120" y="548640"/>
            <a:ext cx="5029200" cy="5760720"/>
          </a:xfrm>
          <a:prstGeom prst="roundRect">
            <a:avLst>
              <a:gd name="adj" fmla="val 3636"/>
            </a:avLst>
          </a:prstGeom>
          <a:solidFill>
            <a:srgbClr val="FFFFFF"/>
          </a:solidFill>
          <a:ln/>
        </p:spPr>
      </p:sp>
      <p:pic>
        <p:nvPicPr>
          <p:cNvPr id="23" name="Image 6" descr="QR code vers le dépôt GitHub des supports de la séance (https://github.com/StephaneBayle/creer-une-skill-claude)">    </p:cNvPr>
          <p:cNvPicPr>
            <a:picLocks noChangeAspect="1"/>
          </p:cNvPicPr>
          <p:nvPr/>
        </p:nvPicPr>
        <p:blipFill>
          <a:blip r:embed="rId7"/>
          <a:stretch>
            <a:fillRect/>
          </a:stretch>
        </p:blipFill>
        <p:spPr>
          <a:xfrm>
            <a:off x="7635240" y="868680"/>
            <a:ext cx="3108960" cy="3108960"/>
          </a:xfrm>
          <a:prstGeom prst="rect">
            <a:avLst/>
          </a:prstGeom>
        </p:spPr>
      </p:pic>
      <p:sp>
        <p:nvSpPr>
          <p:cNvPr id="24" name="Text 15"/>
          <p:cNvSpPr txBox="1"/>
          <p:nvPr/>
        </p:nvSpPr>
        <p:spPr>
          <a:xfrm>
            <a:off x="6949440" y="4160520"/>
            <a:ext cx="4480560" cy="548640"/>
          </a:xfrm>
          <a:prstGeom prst="rect">
            <a:avLst/>
          </a:prstGeom>
          <a:noFill/>
          <a:ln/>
        </p:spPr>
        <p:txBody>
          <a:bodyPr wrap="square" lIns="0" tIns="0" rIns="0" bIns="0" rtlCol="0" anchor="ctr"/>
          <a:lstStyle/>
          <a:p>
            <a:pPr algn="ctr" indent="0" marL="0">
              <a:buNone/>
            </a:pPr>
            <a:r>
              <a:rPr lang="fr-FR" altLang="en-US" sz="2800" b="1" dirty="0">
                <a:solidFill>
                  <a:srgbClr val="1B2233"/>
                </a:solidFill>
                <a:latin typeface="Calibri" pitchFamily="34" charset="0"/>
                <a:ea typeface="Calibri" pitchFamily="34" charset="-122"/>
                <a:cs typeface="Calibri" pitchFamily="34" charset="-120"/>
              </a:rPr>
              <a:t>Tous les supports</a:t>
            </a:r>
            <a:endParaRPr lang="fr-FR" sz="2800" dirty="0"/>
          </a:p>
        </p:txBody>
      </p:sp>
      <p:sp>
        <p:nvSpPr>
          <p:cNvPr id="25" name="Text 16"/>
          <p:cNvSpPr txBox="1"/>
          <p:nvPr/>
        </p:nvSpPr>
        <p:spPr>
          <a:xfrm>
            <a:off x="6949440" y="4709160"/>
            <a:ext cx="4480560" cy="822960"/>
          </a:xfrm>
          <a:prstGeom prst="rect">
            <a:avLst/>
          </a:prstGeom>
          <a:noFill/>
          <a:ln/>
        </p:spPr>
        <p:txBody>
          <a:bodyPr wrap="square" lIns="0" tIns="0" rIns="0" bIns="0" rtlCol="0" anchor="ctr"/>
          <a:lstStyle/>
          <a:p>
            <a:pPr algn="ctr" indent="0" marL="0">
              <a:buNone/>
            </a:pPr>
            <a:r>
              <a:rPr lang="fr-FR" altLang="en-US" sz="2000" b="1" dirty="0">
                <a:solidFill>
                  <a:srgbClr val="B8235A"/>
                </a:solidFill>
                <a:latin typeface="Calibri" pitchFamily="34" charset="0"/>
                <a:ea typeface="Calibri" pitchFamily="34" charset="-122"/>
                <a:cs typeface="Calibri" pitchFamily="34" charset="-120"/>
              </a:rPr>
              <a:t>github.com/StephaneBayle/</a:t>
            </a:r>
            <a:endParaRPr lang="fr-FR" sz="2000" dirty="0"/>
          </a:p>
          <a:p>
            <a:pPr algn="ctr" indent="0" marL="0">
              <a:buNone/>
            </a:pPr>
            <a:r>
              <a:rPr lang="fr-FR" altLang="en-US" sz="2000" b="1" dirty="0">
                <a:solidFill>
                  <a:srgbClr val="B8235A"/>
                </a:solidFill>
                <a:latin typeface="Calibri" pitchFamily="34" charset="0"/>
                <a:ea typeface="Calibri" pitchFamily="34" charset="-122"/>
                <a:cs typeface="Calibri" pitchFamily="34" charset="-120"/>
              </a:rPr>
              <a:t>creer-une-skill-claude</a:t>
            </a:r>
            <a:endParaRPr lang="fr-FR" sz="2000" dirty="0"/>
          </a:p>
        </p:txBody>
      </p:sp>
      <p:sp>
        <p:nvSpPr>
          <p:cNvPr id="26" name="Text 17"/>
          <p:cNvSpPr txBox="1"/>
          <p:nvPr/>
        </p:nvSpPr>
        <p:spPr>
          <a:xfrm>
            <a:off x="6949440" y="5577840"/>
            <a:ext cx="4480560" cy="457200"/>
          </a:xfrm>
          <a:prstGeom prst="rect">
            <a:avLst/>
          </a:prstGeom>
          <a:noFill/>
          <a:ln/>
        </p:spPr>
        <p:txBody>
          <a:bodyPr wrap="square" lIns="0" tIns="0" rIns="0" bIns="0" rtlCol="0" anchor="ctr"/>
          <a:lstStyle/>
          <a:p>
            <a:pPr algn="ctr" indent="0" marL="0">
              <a:buNone/>
            </a:pPr>
            <a:r>
              <a:rPr lang="fr-FR" altLang="en-US" sz="1600" dirty="0">
                <a:solidFill>
                  <a:srgbClr val="566070"/>
                </a:solidFill>
                <a:latin typeface="Calibri" pitchFamily="34" charset="0"/>
                <a:ea typeface="Calibri" pitchFamily="34" charset="-122"/>
                <a:cs typeface="Calibri" pitchFamily="34" charset="-120"/>
              </a:rPr>
              <a:t>présentation · notes · sources</a:t>
            </a:r>
            <a:endParaRPr lang="fr-FR" sz="1600" dirty="0"/>
          </a:p>
        </p:txBody>
      </p:sp>
      <p:sp>
        <p:nvSpPr>
          <p:cNvPr id="27" name="Text 18"/>
          <p:cNvSpPr txBox="1"/>
          <p:nvPr/>
        </p:nvSpPr>
        <p:spPr>
          <a:xfrm>
            <a:off x="6675120" y="6355080"/>
            <a:ext cx="5029200" cy="365760"/>
          </a:xfrm>
          <a:prstGeom prst="rect">
            <a:avLst/>
          </a:prstGeom>
          <a:noFill/>
          <a:ln/>
        </p:spPr>
        <p:txBody>
          <a:bodyPr wrap="square" lIns="0" tIns="0" rIns="0" bIns="0" rtlCol="0" anchor="ctr"/>
          <a:lstStyle/>
          <a:p>
            <a:pPr algn="ctr" indent="0" marL="0">
              <a:buNone/>
            </a:pPr>
            <a:r>
              <a:rPr lang="fr-FR" altLang="en-US" sz="1400" dirty="0">
                <a:solidFill>
                  <a:srgbClr val="AEB5C2"/>
                </a:solidFill>
                <a:latin typeface="Calibri" pitchFamily="34" charset="0"/>
                <a:ea typeface="Calibri" pitchFamily="34" charset="-122"/>
                <a:cs typeface="Calibri" pitchFamily="34" charset="-120"/>
              </a:rPr>
              <a:t>Licence CC BY 4.0 · scripts sous MIT</a:t>
            </a:r>
            <a:endParaRPr lang="fr-FR"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Stéphane Bayle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Apprenez un savoir-faire à Claude : créer une skill</dc:title>
  <dc:subject>Présentation pour public non développeur, 30 minutes</dc:subject>
  <dc:creator>Stéphane Bayle</dc:creator>
  <cp:lastModifiedBy>Stéphane Bayle</cp:lastModifiedBy>
  <cp:revision>1</cp:revision>
  <dcterms:created xsi:type="dcterms:W3CDTF">2026-09-24T14:02:37Z</dcterms:created>
  <dcterms:modified xsi:type="dcterms:W3CDTF">2026-09-24T14:02:37Z</dcterms:modified>
</cp:coreProperties>
</file>